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Slides/notesSlide6.xml" ContentType="application/vnd.openxmlformats-officedocument.presentationml.notesSlide+xml"/>
  <Override PartName="/ppt/charts/chart4.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5.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71" r:id="rId3"/>
    <p:sldId id="264" r:id="rId4"/>
    <p:sldId id="257" r:id="rId5"/>
    <p:sldId id="258" r:id="rId6"/>
    <p:sldId id="259" r:id="rId7"/>
    <p:sldId id="260" r:id="rId8"/>
    <p:sldId id="261" r:id="rId9"/>
    <p:sldId id="262" r:id="rId10"/>
    <p:sldId id="263" r:id="rId11"/>
    <p:sldId id="265" r:id="rId12"/>
    <p:sldId id="266" r:id="rId13"/>
    <p:sldId id="267" r:id="rId14"/>
    <p:sldId id="268" r:id="rId15"/>
    <p:sldId id="269" r:id="rId16"/>
    <p:sldId id="270"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3" autoAdjust="0"/>
    <p:restoredTop sz="94610"/>
  </p:normalViewPr>
  <p:slideViewPr>
    <p:cSldViewPr snapToGrid="0" snapToObjects="1">
      <p:cViewPr varScale="1">
        <p:scale>
          <a:sx n="107" d="100"/>
          <a:sy n="107" d="100"/>
        </p:scale>
        <p:origin x="84" y="1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0"/>
        <c:ser>
          <c:idx val="0"/>
          <c:order val="0"/>
          <c:tx>
            <c:strRef>
              <c:f>Sheet1!$B$1</c:f>
              <c:strCache>
                <c:ptCount val="1"/>
                <c:pt idx="0">
                  <c:v>Anuncios</c:v>
                </c:pt>
              </c:strCache>
            </c:strRef>
          </c:tx>
          <c:spPr>
            <a:solidFill>
              <a:srgbClr val="176B70"/>
            </a:solidFill>
            <a:effectLst/>
          </c:spPr>
          <c:invertIfNegative val="0"/>
          <c:cat>
            <c:strRef>
              <c:f>Sheet1!$A$2:$A$36</c:f>
              <c:strCache>
                <c:ptCount val="35"/>
                <c:pt idx="0">
                  <c:v>2.3</c:v>
                </c:pt>
                <c:pt idx="1">
                  <c:v>5.0</c:v>
                </c:pt>
                <c:pt idx="2">
                  <c:v>7.6</c:v>
                </c:pt>
                <c:pt idx="3">
                  <c:v>10.3</c:v>
                </c:pt>
                <c:pt idx="4">
                  <c:v>12.9</c:v>
                </c:pt>
                <c:pt idx="5">
                  <c:v>15.5</c:v>
                </c:pt>
                <c:pt idx="6">
                  <c:v>18.2</c:v>
                </c:pt>
                <c:pt idx="7">
                  <c:v>20.8</c:v>
                </c:pt>
                <c:pt idx="8">
                  <c:v>23.5</c:v>
                </c:pt>
                <c:pt idx="9">
                  <c:v>26.1</c:v>
                </c:pt>
                <c:pt idx="10">
                  <c:v>28.7</c:v>
                </c:pt>
                <c:pt idx="11">
                  <c:v>31.4</c:v>
                </c:pt>
                <c:pt idx="12">
                  <c:v>34.0</c:v>
                </c:pt>
                <c:pt idx="13">
                  <c:v>36.7</c:v>
                </c:pt>
                <c:pt idx="14">
                  <c:v>39.3</c:v>
                </c:pt>
                <c:pt idx="15">
                  <c:v>41.9</c:v>
                </c:pt>
                <c:pt idx="16">
                  <c:v>44.6</c:v>
                </c:pt>
                <c:pt idx="17">
                  <c:v>47.2</c:v>
                </c:pt>
                <c:pt idx="18">
                  <c:v>49.9</c:v>
                </c:pt>
                <c:pt idx="19">
                  <c:v>52.5</c:v>
                </c:pt>
                <c:pt idx="20">
                  <c:v>55.1</c:v>
                </c:pt>
                <c:pt idx="21">
                  <c:v>57.8</c:v>
                </c:pt>
                <c:pt idx="22">
                  <c:v>60.4</c:v>
                </c:pt>
                <c:pt idx="23">
                  <c:v>63.1</c:v>
                </c:pt>
                <c:pt idx="24">
                  <c:v>65.7</c:v>
                </c:pt>
                <c:pt idx="25">
                  <c:v>68.4</c:v>
                </c:pt>
                <c:pt idx="26">
                  <c:v>71.0</c:v>
                </c:pt>
                <c:pt idx="27">
                  <c:v>73.6</c:v>
                </c:pt>
                <c:pt idx="28">
                  <c:v>76.3</c:v>
                </c:pt>
                <c:pt idx="29">
                  <c:v>78.9</c:v>
                </c:pt>
                <c:pt idx="30">
                  <c:v>81.6</c:v>
                </c:pt>
                <c:pt idx="31">
                  <c:v>84.2</c:v>
                </c:pt>
                <c:pt idx="32">
                  <c:v>86.8</c:v>
                </c:pt>
                <c:pt idx="33">
                  <c:v>89.5</c:v>
                </c:pt>
                <c:pt idx="34">
                  <c:v>92.1</c:v>
                </c:pt>
              </c:strCache>
            </c:strRef>
          </c:cat>
          <c:val>
            <c:numRef>
              <c:f>Sheet1!$B$2:$B$36</c:f>
              <c:numCache>
                <c:formatCode>General</c:formatCode>
                <c:ptCount val="35"/>
                <c:pt idx="0">
                  <c:v>2121</c:v>
                </c:pt>
                <c:pt idx="1">
                  <c:v>5248</c:v>
                </c:pt>
                <c:pt idx="2">
                  <c:v>7509</c:v>
                </c:pt>
                <c:pt idx="3">
                  <c:v>7072</c:v>
                </c:pt>
                <c:pt idx="4">
                  <c:v>5439</c:v>
                </c:pt>
                <c:pt idx="5">
                  <c:v>3815</c:v>
                </c:pt>
                <c:pt idx="6">
                  <c:v>2671</c:v>
                </c:pt>
                <c:pt idx="7">
                  <c:v>1691</c:v>
                </c:pt>
                <c:pt idx="8">
                  <c:v>1209</c:v>
                </c:pt>
                <c:pt idx="9">
                  <c:v>846</c:v>
                </c:pt>
                <c:pt idx="10">
                  <c:v>604</c:v>
                </c:pt>
                <c:pt idx="11">
                  <c:v>471</c:v>
                </c:pt>
                <c:pt idx="12">
                  <c:v>343</c:v>
                </c:pt>
                <c:pt idx="13">
                  <c:v>229</c:v>
                </c:pt>
                <c:pt idx="14">
                  <c:v>178</c:v>
                </c:pt>
                <c:pt idx="15">
                  <c:v>130</c:v>
                </c:pt>
                <c:pt idx="16">
                  <c:v>102</c:v>
                </c:pt>
                <c:pt idx="17">
                  <c:v>69</c:v>
                </c:pt>
                <c:pt idx="18">
                  <c:v>65</c:v>
                </c:pt>
                <c:pt idx="19">
                  <c:v>49</c:v>
                </c:pt>
                <c:pt idx="20">
                  <c:v>38</c:v>
                </c:pt>
                <c:pt idx="21">
                  <c:v>29</c:v>
                </c:pt>
                <c:pt idx="22">
                  <c:v>17</c:v>
                </c:pt>
                <c:pt idx="23">
                  <c:v>13</c:v>
                </c:pt>
                <c:pt idx="24">
                  <c:v>9</c:v>
                </c:pt>
                <c:pt idx="25">
                  <c:v>10</c:v>
                </c:pt>
                <c:pt idx="26">
                  <c:v>4</c:v>
                </c:pt>
                <c:pt idx="27">
                  <c:v>7</c:v>
                </c:pt>
                <c:pt idx="28">
                  <c:v>2</c:v>
                </c:pt>
                <c:pt idx="29">
                  <c:v>0</c:v>
                </c:pt>
                <c:pt idx="30">
                  <c:v>3</c:v>
                </c:pt>
                <c:pt idx="31">
                  <c:v>2</c:v>
                </c:pt>
                <c:pt idx="32">
                  <c:v>1</c:v>
                </c:pt>
                <c:pt idx="33">
                  <c:v>1</c:v>
                </c:pt>
                <c:pt idx="34">
                  <c:v>1</c:v>
                </c:pt>
              </c:numCache>
            </c:numRef>
          </c:val>
          <c:extLst>
            <c:ext xmlns:c16="http://schemas.microsoft.com/office/drawing/2014/chart" uri="{C3380CC4-5D6E-409C-BE32-E72D297353CC}">
              <c16:uniqueId val="{00000000-2391-48EF-884D-5199A5C747E5}"/>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DFE7E8"/>
            </a:solidFill>
            <a:prstDash val="solid"/>
            <a:round/>
          </a:ln>
        </c:spPr>
        <c:txPr>
          <a:bodyPr/>
          <a:lstStyle/>
          <a:p>
            <a:pPr>
              <a:defRPr sz="900" b="0" i="0" u="none" strike="noStrike">
                <a:solidFill>
                  <a:srgbClr val="667A80"/>
                </a:solidFill>
                <a:latin typeface="Arial"/>
              </a:defRPr>
            </a:pPr>
            <a:endParaRPr lang="en-US"/>
          </a:p>
        </c:txPr>
        <c:crossAx val="2094734552"/>
        <c:crosses val="autoZero"/>
        <c:auto val="1"/>
        <c:lblAlgn val="ctr"/>
        <c:lblOffset val="100"/>
        <c:tickLblSkip val="6"/>
        <c:noMultiLvlLbl val="1"/>
      </c:catAx>
      <c:valAx>
        <c:axId val="2094734552"/>
        <c:scaling>
          <c:orientation val="minMax"/>
        </c:scaling>
        <c:delete val="0"/>
        <c:axPos val="l"/>
        <c:majorGridlines>
          <c:spPr>
            <a:ln w="12700" cap="flat">
              <a:solidFill>
                <a:srgbClr val="DFE7E8"/>
              </a:solidFill>
              <a:prstDash val="solid"/>
              <a:round/>
            </a:ln>
          </c:spPr>
        </c:majorGridlines>
        <c:numFmt formatCode="General" sourceLinked="0"/>
        <c:majorTickMark val="out"/>
        <c:minorTickMark val="none"/>
        <c:tickLblPos val="nextTo"/>
        <c:spPr>
          <a:ln w="12700" cap="flat">
            <a:solidFill>
              <a:srgbClr val="DFE7E8"/>
            </a:solidFill>
            <a:prstDash val="solid"/>
            <a:round/>
          </a:ln>
        </c:spPr>
        <c:txPr>
          <a:bodyPr/>
          <a:lstStyle/>
          <a:p>
            <a:pPr>
              <a:defRPr sz="1100" b="0" i="0" u="none" strike="noStrike">
                <a:solidFill>
                  <a:srgbClr val="667A8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0"/>
        <c:ser>
          <c:idx val="0"/>
          <c:order val="0"/>
          <c:tx>
            <c:strRef>
              <c:f>Sheet1!$B$1</c:f>
              <c:strCache>
                <c:ptCount val="1"/>
                <c:pt idx="0">
                  <c:v>Anuncios</c:v>
                </c:pt>
              </c:strCache>
            </c:strRef>
          </c:tx>
          <c:spPr>
            <a:solidFill>
              <a:srgbClr val="176B70"/>
            </a:solidFill>
            <a:effectLst/>
          </c:spPr>
          <c:invertIfNegative val="0"/>
          <c:cat>
            <c:strRef>
              <c:f>Sheet1!$A$2:$A$31</c:f>
              <c:strCache>
                <c:ptCount val="30"/>
                <c:pt idx="0">
                  <c:v>22.8</c:v>
                </c:pt>
                <c:pt idx="1">
                  <c:v>26.6</c:v>
                </c:pt>
                <c:pt idx="2">
                  <c:v>30.3</c:v>
                </c:pt>
                <c:pt idx="3">
                  <c:v>34.1</c:v>
                </c:pt>
                <c:pt idx="4">
                  <c:v>37.9</c:v>
                </c:pt>
                <c:pt idx="5">
                  <c:v>41.7</c:v>
                </c:pt>
                <c:pt idx="6">
                  <c:v>45.5</c:v>
                </c:pt>
                <c:pt idx="7">
                  <c:v>49.2</c:v>
                </c:pt>
                <c:pt idx="8">
                  <c:v>53.0</c:v>
                </c:pt>
                <c:pt idx="9">
                  <c:v>56.8</c:v>
                </c:pt>
                <c:pt idx="10">
                  <c:v>60.6</c:v>
                </c:pt>
                <c:pt idx="11">
                  <c:v>64.4</c:v>
                </c:pt>
                <c:pt idx="12">
                  <c:v>68.1</c:v>
                </c:pt>
                <c:pt idx="13">
                  <c:v>71.9</c:v>
                </c:pt>
                <c:pt idx="14">
                  <c:v>75.7</c:v>
                </c:pt>
                <c:pt idx="15">
                  <c:v>79.5</c:v>
                </c:pt>
                <c:pt idx="16">
                  <c:v>83.3</c:v>
                </c:pt>
                <c:pt idx="17">
                  <c:v>87.0</c:v>
                </c:pt>
                <c:pt idx="18">
                  <c:v>90.8</c:v>
                </c:pt>
                <c:pt idx="19">
                  <c:v>94.6</c:v>
                </c:pt>
                <c:pt idx="20">
                  <c:v>98.4</c:v>
                </c:pt>
                <c:pt idx="21">
                  <c:v>102.2</c:v>
                </c:pt>
                <c:pt idx="22">
                  <c:v>106.0</c:v>
                </c:pt>
                <c:pt idx="23">
                  <c:v>109.7</c:v>
                </c:pt>
                <c:pt idx="24">
                  <c:v>113.5</c:v>
                </c:pt>
                <c:pt idx="25">
                  <c:v>117.3</c:v>
                </c:pt>
                <c:pt idx="26">
                  <c:v>121.1</c:v>
                </c:pt>
                <c:pt idx="27">
                  <c:v>124.9</c:v>
                </c:pt>
                <c:pt idx="28">
                  <c:v>128.6</c:v>
                </c:pt>
                <c:pt idx="29">
                  <c:v>132.4</c:v>
                </c:pt>
              </c:strCache>
            </c:strRef>
          </c:cat>
          <c:val>
            <c:numRef>
              <c:f>Sheet1!$B$2:$B$31</c:f>
              <c:numCache>
                <c:formatCode>General</c:formatCode>
                <c:ptCount val="30"/>
                <c:pt idx="0">
                  <c:v>3</c:v>
                </c:pt>
                <c:pt idx="1">
                  <c:v>42</c:v>
                </c:pt>
                <c:pt idx="2">
                  <c:v>112</c:v>
                </c:pt>
                <c:pt idx="3">
                  <c:v>336</c:v>
                </c:pt>
                <c:pt idx="4">
                  <c:v>696</c:v>
                </c:pt>
                <c:pt idx="5">
                  <c:v>1334</c:v>
                </c:pt>
                <c:pt idx="6">
                  <c:v>2085</c:v>
                </c:pt>
                <c:pt idx="7">
                  <c:v>2705</c:v>
                </c:pt>
                <c:pt idx="8">
                  <c:v>3099</c:v>
                </c:pt>
                <c:pt idx="9">
                  <c:v>3300</c:v>
                </c:pt>
                <c:pt idx="10">
                  <c:v>3620</c:v>
                </c:pt>
                <c:pt idx="11">
                  <c:v>3733</c:v>
                </c:pt>
                <c:pt idx="12">
                  <c:v>3433</c:v>
                </c:pt>
                <c:pt idx="13">
                  <c:v>3061</c:v>
                </c:pt>
                <c:pt idx="14">
                  <c:v>2427</c:v>
                </c:pt>
                <c:pt idx="15">
                  <c:v>2171</c:v>
                </c:pt>
                <c:pt idx="16">
                  <c:v>1875</c:v>
                </c:pt>
                <c:pt idx="17">
                  <c:v>1432</c:v>
                </c:pt>
                <c:pt idx="18">
                  <c:v>1137</c:v>
                </c:pt>
                <c:pt idx="19">
                  <c:v>868</c:v>
                </c:pt>
                <c:pt idx="20">
                  <c:v>650</c:v>
                </c:pt>
                <c:pt idx="21">
                  <c:v>540</c:v>
                </c:pt>
                <c:pt idx="22">
                  <c:v>414</c:v>
                </c:pt>
                <c:pt idx="23">
                  <c:v>356</c:v>
                </c:pt>
                <c:pt idx="24">
                  <c:v>238</c:v>
                </c:pt>
                <c:pt idx="25">
                  <c:v>160</c:v>
                </c:pt>
                <c:pt idx="26">
                  <c:v>100</c:v>
                </c:pt>
                <c:pt idx="27">
                  <c:v>45</c:v>
                </c:pt>
                <c:pt idx="28">
                  <c:v>24</c:v>
                </c:pt>
                <c:pt idx="29">
                  <c:v>2</c:v>
                </c:pt>
              </c:numCache>
            </c:numRef>
          </c:val>
          <c:extLst>
            <c:ext xmlns:c16="http://schemas.microsoft.com/office/drawing/2014/chart" uri="{C3380CC4-5D6E-409C-BE32-E72D297353CC}">
              <c16:uniqueId val="{00000000-3D86-47CE-B750-EA41E5901D6D}"/>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DFE7E8"/>
            </a:solidFill>
            <a:prstDash val="solid"/>
            <a:round/>
          </a:ln>
        </c:spPr>
        <c:txPr>
          <a:bodyPr/>
          <a:lstStyle/>
          <a:p>
            <a:pPr>
              <a:defRPr sz="900" b="0" i="0" u="none" strike="noStrike">
                <a:solidFill>
                  <a:srgbClr val="667A80"/>
                </a:solidFill>
                <a:latin typeface="Arial"/>
              </a:defRPr>
            </a:pPr>
            <a:endParaRPr lang="en-US"/>
          </a:p>
        </c:txPr>
        <c:crossAx val="2094734552"/>
        <c:crosses val="autoZero"/>
        <c:auto val="1"/>
        <c:lblAlgn val="ctr"/>
        <c:lblOffset val="100"/>
        <c:tickLblSkip val="6"/>
        <c:noMultiLvlLbl val="1"/>
      </c:catAx>
      <c:valAx>
        <c:axId val="2094734552"/>
        <c:scaling>
          <c:orientation val="minMax"/>
        </c:scaling>
        <c:delete val="0"/>
        <c:axPos val="l"/>
        <c:majorGridlines>
          <c:spPr>
            <a:ln w="12700" cap="flat">
              <a:solidFill>
                <a:srgbClr val="DFE7E8"/>
              </a:solidFill>
              <a:prstDash val="solid"/>
              <a:round/>
            </a:ln>
          </c:spPr>
        </c:majorGridlines>
        <c:numFmt formatCode="General" sourceLinked="0"/>
        <c:majorTickMark val="out"/>
        <c:minorTickMark val="none"/>
        <c:tickLblPos val="nextTo"/>
        <c:spPr>
          <a:ln w="12700" cap="flat">
            <a:solidFill>
              <a:srgbClr val="DFE7E8"/>
            </a:solidFill>
            <a:prstDash val="solid"/>
            <a:round/>
          </a:ln>
        </c:spPr>
        <c:txPr>
          <a:bodyPr/>
          <a:lstStyle/>
          <a:p>
            <a:pPr>
              <a:defRPr sz="1100" b="0" i="0" u="none" strike="noStrike">
                <a:solidFill>
                  <a:srgbClr val="667A8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bar"/>
        <c:grouping val="clustered"/>
        <c:varyColors val="0"/>
        <c:ser>
          <c:idx val="0"/>
          <c:order val="0"/>
          <c:tx>
            <c:strRef>
              <c:f>Sheet1!$B$1</c:f>
              <c:strCache>
                <c:ptCount val="1"/>
                <c:pt idx="0">
                  <c:v>Anuncios</c:v>
                </c:pt>
              </c:strCache>
            </c:strRef>
          </c:tx>
          <c:spPr>
            <a:solidFill>
              <a:srgbClr val="176B70"/>
            </a:solidFill>
            <a:effectLst/>
          </c:spPr>
          <c:invertIfNegative val="0"/>
          <c:cat>
            <c:strRef>
              <c:f>Sheet1!$A$2:$A$7</c:f>
              <c:strCache>
                <c:ptCount val="6"/>
                <c:pt idx="0">
                  <c:v>panel</c:v>
                </c:pt>
                <c:pt idx="1">
                  <c:v>modern_panel</c:v>
                </c:pt>
                <c:pt idx="2">
                  <c:v>monolith</c:v>
                </c:pt>
                <c:pt idx="3">
                  <c:v>brick</c:v>
                </c:pt>
                <c:pt idx="4">
                  <c:v>khrushchev</c:v>
                </c:pt>
                <c:pt idx="5">
                  <c:v>stalin</c:v>
                </c:pt>
              </c:strCache>
            </c:strRef>
          </c:cat>
          <c:val>
            <c:numRef>
              <c:f>Sheet1!$B$2:$B$7</c:f>
              <c:numCache>
                <c:formatCode>General</c:formatCode>
                <c:ptCount val="6"/>
                <c:pt idx="0">
                  <c:v>8141</c:v>
                </c:pt>
                <c:pt idx="1">
                  <c:v>8015</c:v>
                </c:pt>
                <c:pt idx="2">
                  <c:v>8012</c:v>
                </c:pt>
                <c:pt idx="3">
                  <c:v>7075</c:v>
                </c:pt>
                <c:pt idx="4">
                  <c:v>5952</c:v>
                </c:pt>
                <c:pt idx="5">
                  <c:v>2803</c:v>
                </c:pt>
              </c:numCache>
            </c:numRef>
          </c:val>
          <c:extLst>
            <c:ext xmlns:c16="http://schemas.microsoft.com/office/drawing/2014/chart" uri="{C3380CC4-5D6E-409C-BE32-E72D297353CC}">
              <c16:uniqueId val="{00000000-2380-44A9-B9B7-F1EA7CC5641F}"/>
            </c:ext>
          </c:extLst>
        </c:ser>
        <c:dLbls>
          <c:showLegendKey val="0"/>
          <c:showVal val="0"/>
          <c:showCatName val="0"/>
          <c:showSerName val="0"/>
          <c:showPercent val="0"/>
          <c:showBubbleSize val="0"/>
        </c:dLbls>
        <c:gapWidth val="1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DFE7E8"/>
            </a:solidFill>
            <a:prstDash val="solid"/>
            <a:round/>
          </a:ln>
        </c:spPr>
        <c:txPr>
          <a:bodyPr/>
          <a:lstStyle/>
          <a:p>
            <a:pPr>
              <a:defRPr sz="1050" b="0" i="0" u="none" strike="noStrike">
                <a:solidFill>
                  <a:srgbClr val="667A8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t"/>
        <c:majorGridlines>
          <c:spPr>
            <a:ln w="12700" cap="flat">
              <a:solidFill>
                <a:srgbClr val="DFE7E8"/>
              </a:solidFill>
              <a:prstDash val="solid"/>
              <a:round/>
            </a:ln>
          </c:spPr>
        </c:majorGridlines>
        <c:numFmt formatCode="General" sourceLinked="0"/>
        <c:majorTickMark val="out"/>
        <c:minorTickMark val="none"/>
        <c:tickLblPos val="low"/>
        <c:spPr>
          <a:ln w="12700" cap="flat">
            <a:solidFill>
              <a:srgbClr val="DFE7E8"/>
            </a:solidFill>
            <a:prstDash val="solid"/>
            <a:round/>
          </a:ln>
        </c:spPr>
        <c:txPr>
          <a:bodyPr/>
          <a:lstStyle/>
          <a:p>
            <a:pPr>
              <a:defRPr sz="1100" b="0" i="0" u="none" strike="noStrike">
                <a:solidFill>
                  <a:srgbClr val="667A80"/>
                </a:solidFill>
                <a:latin typeface="Arial"/>
              </a:defRPr>
            </a:pPr>
            <a:endParaRPr lang="en-US"/>
          </a:p>
        </c:txPr>
        <c:crossAx val="2094734554"/>
        <c:crosses val="autoZero"/>
        <c:crossBetween val="between"/>
        <c:majorUnit val="3000"/>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lineChart>
        <c:grouping val="standard"/>
        <c:varyColors val="0"/>
        <c:ser>
          <c:idx val="0"/>
          <c:order val="0"/>
          <c:tx>
            <c:strRef>
              <c:f>Sheet1!$B$1</c:f>
              <c:strCache>
                <c:ptCount val="1"/>
                <c:pt idx="0">
                  <c:v>Mediana mensual</c:v>
                </c:pt>
              </c:strCache>
            </c:strRef>
          </c:tx>
          <c:spPr>
            <a:ln w="25400" cap="flat">
              <a:solidFill>
                <a:srgbClr val="176B70"/>
              </a:solidFill>
              <a:prstDash val="solid"/>
              <a:round/>
            </a:ln>
            <a:effectLst/>
          </c:spPr>
          <c:marker>
            <c:symbol val="circle"/>
            <c:size val="6"/>
            <c:spPr>
              <a:solidFill>
                <a:srgbClr val="176B70"/>
              </a:solidFill>
              <a:ln w="9525" cap="flat">
                <a:solidFill>
                  <a:srgbClr val="176B70"/>
                </a:solidFill>
                <a:prstDash val="solid"/>
                <a:round/>
              </a:ln>
              <a:effectLst/>
            </c:spPr>
          </c:marker>
          <c:cat>
            <c:strRef>
              <c:f>Sheet1!$A$2:$A$62</c:f>
              <c:strCache>
                <c:ptCount val="61"/>
                <c:pt idx="0">
                  <c:v>2020-01</c:v>
                </c:pt>
                <c:pt idx="1">
                  <c:v>2020-02</c:v>
                </c:pt>
                <c:pt idx="2">
                  <c:v>2020-03</c:v>
                </c:pt>
                <c:pt idx="3">
                  <c:v>2020-04</c:v>
                </c:pt>
                <c:pt idx="4">
                  <c:v>2020-05</c:v>
                </c:pt>
                <c:pt idx="5">
                  <c:v>2020-06</c:v>
                </c:pt>
                <c:pt idx="6">
                  <c:v>2020-07</c:v>
                </c:pt>
                <c:pt idx="7">
                  <c:v>2020-08</c:v>
                </c:pt>
                <c:pt idx="8">
                  <c:v>2020-09</c:v>
                </c:pt>
                <c:pt idx="9">
                  <c:v>2020-10</c:v>
                </c:pt>
                <c:pt idx="10">
                  <c:v>2020-11</c:v>
                </c:pt>
                <c:pt idx="11">
                  <c:v>2020-12</c:v>
                </c:pt>
                <c:pt idx="12">
                  <c:v>2021-01</c:v>
                </c:pt>
                <c:pt idx="13">
                  <c:v>2021-02</c:v>
                </c:pt>
                <c:pt idx="14">
                  <c:v>2021-03</c:v>
                </c:pt>
                <c:pt idx="15">
                  <c:v>2021-04</c:v>
                </c:pt>
                <c:pt idx="16">
                  <c:v>2021-05</c:v>
                </c:pt>
                <c:pt idx="17">
                  <c:v>2021-06</c:v>
                </c:pt>
                <c:pt idx="18">
                  <c:v>2021-07</c:v>
                </c:pt>
                <c:pt idx="19">
                  <c:v>2021-08</c:v>
                </c:pt>
                <c:pt idx="20">
                  <c:v>2021-09</c:v>
                </c:pt>
                <c:pt idx="21">
                  <c:v>2021-10</c:v>
                </c:pt>
                <c:pt idx="22">
                  <c:v>2021-11</c:v>
                </c:pt>
                <c:pt idx="23">
                  <c:v>2021-12</c:v>
                </c:pt>
                <c:pt idx="24">
                  <c:v>2022-01</c:v>
                </c:pt>
                <c:pt idx="25">
                  <c:v>2022-02</c:v>
                </c:pt>
                <c:pt idx="26">
                  <c:v>2022-03</c:v>
                </c:pt>
                <c:pt idx="27">
                  <c:v>2022-04</c:v>
                </c:pt>
                <c:pt idx="28">
                  <c:v>2022-05</c:v>
                </c:pt>
                <c:pt idx="29">
                  <c:v>2022-06</c:v>
                </c:pt>
                <c:pt idx="30">
                  <c:v>2022-07</c:v>
                </c:pt>
                <c:pt idx="31">
                  <c:v>2022-08</c:v>
                </c:pt>
                <c:pt idx="32">
                  <c:v>2022-09</c:v>
                </c:pt>
                <c:pt idx="33">
                  <c:v>2022-10</c:v>
                </c:pt>
                <c:pt idx="34">
                  <c:v>2022-11</c:v>
                </c:pt>
                <c:pt idx="35">
                  <c:v>2022-12</c:v>
                </c:pt>
                <c:pt idx="36">
                  <c:v>2023-01</c:v>
                </c:pt>
                <c:pt idx="37">
                  <c:v>2023-02</c:v>
                </c:pt>
                <c:pt idx="38">
                  <c:v>2023-03</c:v>
                </c:pt>
                <c:pt idx="39">
                  <c:v>2023-04</c:v>
                </c:pt>
                <c:pt idx="40">
                  <c:v>2023-05</c:v>
                </c:pt>
                <c:pt idx="41">
                  <c:v>2023-06</c:v>
                </c:pt>
                <c:pt idx="42">
                  <c:v>2023-07</c:v>
                </c:pt>
                <c:pt idx="43">
                  <c:v>2023-08</c:v>
                </c:pt>
                <c:pt idx="44">
                  <c:v>2023-09</c:v>
                </c:pt>
                <c:pt idx="45">
                  <c:v>2023-10</c:v>
                </c:pt>
                <c:pt idx="46">
                  <c:v>2023-11</c:v>
                </c:pt>
                <c:pt idx="47">
                  <c:v>2023-12</c:v>
                </c:pt>
                <c:pt idx="48">
                  <c:v>2024-01</c:v>
                </c:pt>
                <c:pt idx="49">
                  <c:v>2024-02</c:v>
                </c:pt>
                <c:pt idx="50">
                  <c:v>2024-03</c:v>
                </c:pt>
                <c:pt idx="51">
                  <c:v>2024-04</c:v>
                </c:pt>
                <c:pt idx="52">
                  <c:v>2024-05</c:v>
                </c:pt>
                <c:pt idx="53">
                  <c:v>2024-06</c:v>
                </c:pt>
                <c:pt idx="54">
                  <c:v>2024-07</c:v>
                </c:pt>
                <c:pt idx="55">
                  <c:v>2024-08</c:v>
                </c:pt>
                <c:pt idx="56">
                  <c:v>2024-09</c:v>
                </c:pt>
                <c:pt idx="57">
                  <c:v>2024-10</c:v>
                </c:pt>
                <c:pt idx="58">
                  <c:v>2024-11</c:v>
                </c:pt>
                <c:pt idx="59">
                  <c:v>2024-12</c:v>
                </c:pt>
                <c:pt idx="60">
                  <c:v>2025-01</c:v>
                </c:pt>
              </c:strCache>
            </c:strRef>
          </c:cat>
          <c:val>
            <c:numRef>
              <c:f>Sheet1!$B$2:$B$62</c:f>
              <c:numCache>
                <c:formatCode>General</c:formatCode>
                <c:ptCount val="61"/>
                <c:pt idx="0">
                  <c:v>7.8540000000000001</c:v>
                </c:pt>
                <c:pt idx="1">
                  <c:v>8.1850000000000005</c:v>
                </c:pt>
                <c:pt idx="2">
                  <c:v>8.4764999999999997</c:v>
                </c:pt>
                <c:pt idx="3">
                  <c:v>8.7270000000000003</c:v>
                </c:pt>
                <c:pt idx="4">
                  <c:v>8.3260000000000005</c:v>
                </c:pt>
                <c:pt idx="5">
                  <c:v>8.7609999999999992</c:v>
                </c:pt>
                <c:pt idx="6">
                  <c:v>8.7379999999999995</c:v>
                </c:pt>
                <c:pt idx="7">
                  <c:v>8.59</c:v>
                </c:pt>
                <c:pt idx="8">
                  <c:v>9.3574999999999999</c:v>
                </c:pt>
                <c:pt idx="9">
                  <c:v>8.7234999999999996</c:v>
                </c:pt>
                <c:pt idx="10">
                  <c:v>9.5370000000000008</c:v>
                </c:pt>
                <c:pt idx="11">
                  <c:v>9.0980000000000008</c:v>
                </c:pt>
                <c:pt idx="12">
                  <c:v>9.5030000000000001</c:v>
                </c:pt>
                <c:pt idx="13">
                  <c:v>9.766</c:v>
                </c:pt>
                <c:pt idx="14">
                  <c:v>9.3439999999999994</c:v>
                </c:pt>
                <c:pt idx="15">
                  <c:v>9.8960000000000008</c:v>
                </c:pt>
                <c:pt idx="16">
                  <c:v>10.113</c:v>
                </c:pt>
                <c:pt idx="17">
                  <c:v>10.231999999999999</c:v>
                </c:pt>
                <c:pt idx="18">
                  <c:v>10.698499999999999</c:v>
                </c:pt>
                <c:pt idx="19">
                  <c:v>10.307</c:v>
                </c:pt>
                <c:pt idx="20">
                  <c:v>10.407500000000001</c:v>
                </c:pt>
                <c:pt idx="21">
                  <c:v>10.738</c:v>
                </c:pt>
                <c:pt idx="22">
                  <c:v>11.102</c:v>
                </c:pt>
                <c:pt idx="23">
                  <c:v>10.641</c:v>
                </c:pt>
                <c:pt idx="24">
                  <c:v>11.345000000000001</c:v>
                </c:pt>
                <c:pt idx="25">
                  <c:v>10.898</c:v>
                </c:pt>
                <c:pt idx="26">
                  <c:v>10.7</c:v>
                </c:pt>
                <c:pt idx="27">
                  <c:v>10.3985</c:v>
                </c:pt>
                <c:pt idx="28">
                  <c:v>10.8865</c:v>
                </c:pt>
                <c:pt idx="29">
                  <c:v>10.724</c:v>
                </c:pt>
                <c:pt idx="30">
                  <c:v>11.029500000000001</c:v>
                </c:pt>
                <c:pt idx="31">
                  <c:v>10.92</c:v>
                </c:pt>
                <c:pt idx="32">
                  <c:v>11.220499999999999</c:v>
                </c:pt>
                <c:pt idx="33">
                  <c:v>11.266</c:v>
                </c:pt>
                <c:pt idx="34">
                  <c:v>11.436</c:v>
                </c:pt>
                <c:pt idx="35">
                  <c:v>11.5275</c:v>
                </c:pt>
                <c:pt idx="36">
                  <c:v>11.4285</c:v>
                </c:pt>
                <c:pt idx="37">
                  <c:v>10.853999999999999</c:v>
                </c:pt>
                <c:pt idx="38">
                  <c:v>11.848000000000001</c:v>
                </c:pt>
                <c:pt idx="39">
                  <c:v>11.786</c:v>
                </c:pt>
                <c:pt idx="40">
                  <c:v>12.080500000000001</c:v>
                </c:pt>
                <c:pt idx="41">
                  <c:v>12.284000000000001</c:v>
                </c:pt>
                <c:pt idx="42">
                  <c:v>11.823499999999999</c:v>
                </c:pt>
                <c:pt idx="43">
                  <c:v>12.664</c:v>
                </c:pt>
                <c:pt idx="44">
                  <c:v>12.095000000000001</c:v>
                </c:pt>
                <c:pt idx="45">
                  <c:v>11.951000000000001</c:v>
                </c:pt>
                <c:pt idx="46">
                  <c:v>12.0525</c:v>
                </c:pt>
                <c:pt idx="47">
                  <c:v>12.534000000000001</c:v>
                </c:pt>
                <c:pt idx="48">
                  <c:v>12.881</c:v>
                </c:pt>
                <c:pt idx="49">
                  <c:v>12.023</c:v>
                </c:pt>
                <c:pt idx="50">
                  <c:v>12.583</c:v>
                </c:pt>
                <c:pt idx="51">
                  <c:v>13.097</c:v>
                </c:pt>
                <c:pt idx="52">
                  <c:v>12.366</c:v>
                </c:pt>
                <c:pt idx="53">
                  <c:v>12.279500000000001</c:v>
                </c:pt>
                <c:pt idx="54">
                  <c:v>12.262499999999999</c:v>
                </c:pt>
                <c:pt idx="55">
                  <c:v>12.518000000000001</c:v>
                </c:pt>
                <c:pt idx="56">
                  <c:v>12.756</c:v>
                </c:pt>
                <c:pt idx="57">
                  <c:v>12.3035</c:v>
                </c:pt>
                <c:pt idx="58">
                  <c:v>11.943</c:v>
                </c:pt>
                <c:pt idx="59">
                  <c:v>12.368</c:v>
                </c:pt>
                <c:pt idx="60">
                  <c:v>12.132999999999999</c:v>
                </c:pt>
              </c:numCache>
            </c:numRef>
          </c:val>
          <c:smooth val="0"/>
          <c:extLst>
            <c:ext xmlns:c16="http://schemas.microsoft.com/office/drawing/2014/chart" uri="{C3380CC4-5D6E-409C-BE32-E72D297353CC}">
              <c16:uniqueId val="{00000000-3595-4C24-9045-7461EE870DA4}"/>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DFE7E8"/>
            </a:solidFill>
            <a:prstDash val="solid"/>
            <a:round/>
          </a:ln>
        </c:spPr>
        <c:txPr>
          <a:bodyPr/>
          <a:lstStyle/>
          <a:p>
            <a:pPr>
              <a:defRPr sz="800" b="0" i="0" u="none" strike="noStrike">
                <a:solidFill>
                  <a:srgbClr val="667A80"/>
                </a:solidFill>
                <a:latin typeface="Arial"/>
              </a:defRPr>
            </a:pPr>
            <a:endParaRPr lang="en-US"/>
          </a:p>
        </c:txPr>
        <c:crossAx val="2094734552"/>
        <c:crosses val="autoZero"/>
        <c:auto val="1"/>
        <c:lblAlgn val="ctr"/>
        <c:lblOffset val="100"/>
        <c:tickLblSkip val="12"/>
        <c:noMultiLvlLbl val="1"/>
      </c:catAx>
      <c:valAx>
        <c:axId val="2094734552"/>
        <c:scaling>
          <c:orientation val="minMax"/>
        </c:scaling>
        <c:delete val="0"/>
        <c:axPos val="l"/>
        <c:majorGridlines>
          <c:spPr>
            <a:ln w="12700" cap="flat">
              <a:solidFill>
                <a:srgbClr val="DFE7E8"/>
              </a:solidFill>
              <a:prstDash val="solid"/>
              <a:round/>
            </a:ln>
          </c:spPr>
        </c:majorGridlines>
        <c:numFmt formatCode="General" sourceLinked="0"/>
        <c:majorTickMark val="out"/>
        <c:minorTickMark val="none"/>
        <c:tickLblPos val="nextTo"/>
        <c:spPr>
          <a:ln w="12700" cap="flat">
            <a:solidFill>
              <a:srgbClr val="DFE7E8"/>
            </a:solidFill>
            <a:prstDash val="solid"/>
            <a:round/>
          </a:ln>
        </c:spPr>
        <c:txPr>
          <a:bodyPr/>
          <a:lstStyle/>
          <a:p>
            <a:pPr>
              <a:defRPr sz="1100" b="0" i="0" u="none" strike="noStrike">
                <a:solidFill>
                  <a:srgbClr val="667A8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bar"/>
        <c:grouping val="clustered"/>
        <c:varyColors val="0"/>
        <c:ser>
          <c:idx val="0"/>
          <c:order val="0"/>
          <c:tx>
            <c:strRef>
              <c:f>Sheet1!$B$1</c:f>
              <c:strCache>
                <c:ptCount val="1"/>
                <c:pt idx="0">
                  <c:v>Aumento medio de RMSE</c:v>
                </c:pt>
              </c:strCache>
            </c:strRef>
          </c:tx>
          <c:spPr>
            <a:solidFill>
              <a:srgbClr val="176B70"/>
            </a:solidFill>
            <a:effectLst/>
          </c:spPr>
          <c:invertIfNegative val="0"/>
          <c:dLbls>
            <c:numFmt formatCode="0.00" sourceLinked="0"/>
            <c:spPr>
              <a:noFill/>
              <a:ln>
                <a:noFill/>
              </a:ln>
              <a:effectLst/>
            </c:spPr>
            <c:txPr>
              <a:bodyPr/>
              <a:lstStyle/>
              <a:p>
                <a:pPr>
                  <a:defRPr sz="1400" b="0" i="0" u="none" strike="noStrike">
                    <a:solidFill>
                      <a:srgbClr val="26363B"/>
                    </a:solidFill>
                    <a:latin typeface="Arial"/>
                  </a:defRPr>
                </a:pPr>
                <a:endParaRPr lang="es-A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district</c:v>
                </c:pt>
                <c:pt idx="1">
                  <c:v>total_area</c:v>
                </c:pt>
                <c:pt idx="2">
                  <c:v>renovation</c:v>
                </c:pt>
                <c:pt idx="3">
                  <c:v>date_posted_dt</c:v>
                </c:pt>
                <c:pt idx="4">
                  <c:v>building_type</c:v>
                </c:pt>
                <c:pt idx="5">
                  <c:v>metro_distance_type</c:v>
                </c:pt>
              </c:strCache>
            </c:strRef>
          </c:cat>
          <c:val>
            <c:numRef>
              <c:f>Sheet1!$B$2:$B$7</c:f>
              <c:numCache>
                <c:formatCode>General</c:formatCode>
                <c:ptCount val="6"/>
                <c:pt idx="0">
                  <c:v>7.2523684478613601</c:v>
                </c:pt>
                <c:pt idx="1">
                  <c:v>3.7595959404884995</c:v>
                </c:pt>
                <c:pt idx="2">
                  <c:v>1.3435765376778745</c:v>
                </c:pt>
                <c:pt idx="3">
                  <c:v>1.2933388939291506</c:v>
                </c:pt>
                <c:pt idx="4">
                  <c:v>0.95748587179538147</c:v>
                </c:pt>
                <c:pt idx="5">
                  <c:v>0.5092533749727931</c:v>
                </c:pt>
              </c:numCache>
            </c:numRef>
          </c:val>
          <c:extLst>
            <c:ext xmlns:c16="http://schemas.microsoft.com/office/drawing/2014/chart" uri="{C3380CC4-5D6E-409C-BE32-E72D297353CC}">
              <c16:uniqueId val="{00000000-3225-4769-B07F-49B3055FC661}"/>
            </c:ext>
          </c:extLst>
        </c:ser>
        <c:dLbls>
          <c:showLegendKey val="0"/>
          <c:showVal val="1"/>
          <c:showCatName val="0"/>
          <c:showSerName val="0"/>
          <c:showPercent val="0"/>
          <c:showBubbleSize val="0"/>
        </c:dLbls>
        <c:gapWidth val="1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DFE7E8"/>
            </a:solidFill>
            <a:prstDash val="solid"/>
            <a:round/>
          </a:ln>
        </c:spPr>
        <c:txPr>
          <a:bodyPr/>
          <a:lstStyle/>
          <a:p>
            <a:pPr>
              <a:defRPr sz="1400" b="0" i="0" u="none" strike="noStrike">
                <a:solidFill>
                  <a:srgbClr val="667A80"/>
                </a:solidFill>
                <a:latin typeface="Arial"/>
              </a:defRPr>
            </a:pPr>
            <a:endParaRPr lang="en-US"/>
          </a:p>
        </c:txPr>
        <c:crossAx val="2094734552"/>
        <c:crosses val="autoZero"/>
        <c:auto val="1"/>
        <c:lblAlgn val="ctr"/>
        <c:lblOffset val="100"/>
        <c:noMultiLvlLbl val="1"/>
      </c:catAx>
      <c:valAx>
        <c:axId val="2094734552"/>
        <c:scaling>
          <c:orientation val="minMax"/>
          <c:max val="8.1999999999999993"/>
        </c:scaling>
        <c:delete val="0"/>
        <c:axPos val="t"/>
        <c:majorGridlines>
          <c:spPr>
            <a:ln w="12700" cap="flat">
              <a:solidFill>
                <a:srgbClr val="DFE7E8"/>
              </a:solidFill>
              <a:prstDash val="solid"/>
              <a:round/>
            </a:ln>
          </c:spPr>
        </c:majorGridlines>
        <c:numFmt formatCode="General" sourceLinked="0"/>
        <c:majorTickMark val="out"/>
        <c:minorTickMark val="none"/>
        <c:tickLblPos val="low"/>
        <c:spPr>
          <a:ln w="12700" cap="flat">
            <a:solidFill>
              <a:srgbClr val="DFE7E8"/>
            </a:solidFill>
            <a:prstDash val="solid"/>
            <a:round/>
          </a:ln>
        </c:spPr>
        <c:txPr>
          <a:bodyPr/>
          <a:lstStyle/>
          <a:p>
            <a:pPr>
              <a:defRPr sz="1100" b="0" i="0" u="none" strike="noStrike">
                <a:solidFill>
                  <a:srgbClr val="667A8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98501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académica del recorrido real de propiedades usadas. Los precios corresponden a publicaciones sintéticas, no a transacciones verificadas. Fecha de presentación: 27 de octubre de 2026.
Fuentes: Proyecto Moscow-EDA · rama devLonghino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Actualización sobre el repositorio MatiasLonghino/Moscow-EDA, branch devLonghino, commit 1c07b1377dbb452cb66adb3a9e6a02b25bfdc0b4. OLS_02_Log_Target, BSS_06_Log_Union_177_Grupos_OLS y BSS_07_Log_Temporal_3F_1SE_OLS. Baseline OLS log (37.984 filas, Tukey): R2 ajustado 0.955487; MAE Train 1093408.724; RMSE Train 1575798.353; AIC -54582.348; BIC -53061.352; VIF max 102.584; condicion 19159.166; Breusch-Pagan p 1.196e-150; Jarque-Bera p 1.394e-40. BSS historico (37.984 filas): R2 ajustado 0.955228; MAE Train 1096985.003; RMSE Train 1581589.473; AIC -54393.951; BIC -53146.392; VIF max 102.537; condicion 17434.006; BP p 3.724e-117; JB p 1.253e-42; RMSE validacion interna 1581085.284. BSS temporal final k=6 (39.998 filas crudas): RMSE Train 2100612.472 documentado en la presentacion original (notas de importancia por permutacion), BP p 1.9959e-229; JB p 1.60661e-76 reconstruidos con ese mismo modelo y Train. R2 ajustado, MAE Train, AIC y BIC del modelo temporal de seis variables no aparecen como metricas en las salidas del notebook ni el modulo bss_temporal.py actuales. No se inventan. La CV temporal de tres folds obtuvo RMSE medio 2324850 RUB para k=12 y 2480192 RUB para k=6. Cada fold vuelve a seleccionar BSS; no confundir k=12 CV con BSS_06 historico fijo. Poblaciones y procesamiento son diferentes: no comparar como experimento homogeneo. Test no ha sido evaluado. </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Matriz construida dinámicamente desde params.selected_features de cuatro Runs históricos y resultados.json del Run final https://dagshub.com/matiasgastonlonghino/MOSCOW_IDA.mlflow/#/experiments/5/runs/4b3e5cf9cac24ccdbda3d3568e3fb0a5. Forward 8, Backward 12, Group Lasso 12 y BSS histórico 12. Unión de 13 características, con 7 comunes a los tres orígenes, 5 presentes en dos y 1 exclusiva. BSS histórico evaluó 8.192 combinaciones incluido el nulo, descartó living_area y coincidió con Backward. La última columna identifica la selección temporal final. Las tablas no incorporan selecciones manuales.
Fuentes: Fuente: selecciones registradas en MLflow · universos iniciales de 177 columnas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objetivo es estimar price_rub a partir de atributos físicos, geográficos y temporales. El dataset integrado comprende 50.000 anuncios y 40 columnas. Referencias geográficas y económicas reales conviven con anuncios generados mediante un modelo hedónico sintético. No representa precios de cierre. El criterio temporal busca reproducir el uso con publicaciones posteriores.
Fuentes: Fuente: 1_EDA_PropUsadas.ipynb; 4_Seleccion_Modelos.ipynb</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EDA completo documenta media de 13,12 M RUB, mediana 11,09 M y asimetría 2,00. 84,61% de anuncios hasta 20 M RUB y máximo 93,44 M. Los gráficos de esta diapositiva se regeneraron exclusivamente con Train crudo, manteniendo el alcance explícito. La normalidad marginal del precio no es requisito de OLS. El log se evaluó posteriormente por su comportamiento predictivo y residual. Los intervalos de los histogramas tienen ancho uniforme.
Fuentes: Fuente: EDA §3.6; visualizaciones reproducidas en Train crudo (n=39.998)</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notebook documenta asociaciones de precio con características físicas y localización, además de tendencia temporal. Las visualizaciones se reproducen sobre Train crudo sin filtrar outliers. La relación living_area/total_area fue 0,9631 en Train histórico y contribuyó a las pruebas de exclusión. El EDA temporal completo describe crecimiento inicial y moderación posterior, sin estacionalidad anual estable. Correlación no implica causalidad.
Fuentes: Fuente: EDA §§4–6; relaciones reproducidas en Train crudo (n=39.998)</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Corte cronológico por fechas: Train hasta 16/01/2025 y Test a partir del 17/01/2025. Se corrige total_area si es menor que living_area+kitchen_area. Mediana para numéricas, media para secondary_mom_change_pct, moda para binarias y categoría __FALTANTE__ para nominales. Pipeline histórico: 2.014 filas retiradas mediante Tukey sobre Train, 37.984 retenidas, OHE y variables temporales, filtro de constantes/duplicadas y estandarización de building_year. Histórico termina en 177 predictoras. Temporal: Train crudo de 39.998 filas sin Tukey global ni escalado global; imputación y origen de meses ajustados dentro del pasado de cada fold; OHE heredado fijo. Objetivo ln(price_rub), inversa exp sin corrección de sesgo.
Fuentes: Fuente: 2_Transformacion_PropUsadas.ipynb; scripts/bss_temporal.py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cinco experimentos conservan las mismas filas. MAE y RMSE están en RUB. Al pasar a log, se aplica exp sin corrección. R², R² ajustado, AIC y BIC nativos no son comparables entre precio RUB y ln(RUB). El retiro de to_center_km reduce VIF 102,584→17,431 con RMSE +0,323%. Retirar living_area lleva VIF a 10,636 con cambios mínimos de error; correlación con total_area=0,9631. Retirar rooms aumenta RMSE +0,375% y casi no cambia VIF. Fuentes MLflow: Baseline 43e383e9b91d43efbdeda5ec1ec28f71; Log 2dfd0a0d8d7a41818305f1137704b26e; sin centro 7dfbe14054724f099428fcda7fbe92b7; sin living 8e6d3b711105408ca2e54b01ad82915c; sin rooms f68265a7164742159c9807d91fa4f8e5.
Fuentes: Fuente: 3_Modelo_OLS.ipynb · Train histórico, n=37.984</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R² mide capacidad explicativa y R² ajustado penaliza el número de columnas. RMSE y MAE describen magnitud de error, AIC/BIC equilibran ajuste y complejidad en la misma respuesta y muestra. VIF y número de condición evalúan colinealidad/sensibilidad. Breusch–Pagan evalúa homocedasticidad y Jarque–Bera normalidad de errores. Los p-valores muy pequeños contradicen los supuestos correspondientes, con sensibilidad al tamaño muestral. Estos diagnósticos son de OLS históricos; no se atribuyen al modelo temporal final.
Fuentes: Fuente: 3_Modelo_OLS.ipynb · modelos log, mismas 37.984 filas de Train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característica original es una unidad de selección, incluidas todas sus columnas One-Hot. Se comparan los Runs con universo de 177 candidatas: Forward_04_Log_177_Grupos_OLS, Backward_03_Log_177_Grupos_OLS y GroupLasso_05_Log_177_Grupos_OLS. Forward agrega según RMSE interno, Backward elimina grupos y recorre tamaños, Group Lasso evalúa 40 lambdas y reajusta OLS sin penalización. BSS evalúa la unión de 13 grupos, elige menor RSS por tamaño en entrenamiento y compara ganadores por RMSE de validación. Validación histórica aleatoria 80/20 dentro de Train, semilla 42. Máximo final 12 grupos y mejora mínima 0,5% en el procedimiento histórico.
Fuentes: Fuente: 4_Seleccion_Modelos.ipynb §§2–8</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Métricas históricas recuperadas de MLflow: validación interna aleatoria 80/20 de Train, semilla 42, con Train filtrado (37.984 filas). La validación participó en la selección, no es Test. Backward y BSS histórico coinciden en subconjunto y RMSE para el criterio y universo considerados. Temporal: Train crudo 39.998 filas, tres folds expansivos. BSS vuelve a seleccionar dentro de cada entrenamiento y el RMSE se calcula en períodos posteriores. Mínimo de media k=12: 2.324.850 RUB. Regla 1-SE: umbral 2.531.404 RUB y k=6: 2.480.192 RUB; k=5 supera el umbral. Se acepta 6,68% más RMSE medio a cambio de mitad de grupos. La regla de parsimonia no garantiza eliminar overfitting ni superioridad en Test. Unión y vocabulario OHE heredados de todo Train, de modo que la validación es condicional a esa preselección. No comparar directamente ambas tablas.
Fuentes: Fuente: Runs históricos y BSS_07 temporal · ambos esquemas se presentan por separado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Modelo final: https://dagshub.com/matiasgastonlonghino/MOSCOW_IDA.mlflow/#/experiments/5/runs/4b3e5cf9cac24ccdbda3d3568e3fb0a5
Las seis características generan 139 columnas más intercepto: 1 total_area, 1 metro_distance_type (walk=0, transport=1), 5 building_type, 3 renovation, 128 district y 1 months_since_start derivada de date_posted_dt. Las categorías de referencia no llevan dummy propia. Parsimonia por grupos originales no equivale a pocas columnas. Transformación temporal como tendencia mensual, sin dummies estacionales en el modelo final.
Fuentes: Fuente: resultados.json y preparador.joblib · Run BSS_07 temporal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Modelo y preparador guardados en https://dagshub.com/matiasgastonlonghino/MOSCOW_IDA.mlflow/#/experiments/5/runs/4b3e5cf9cac24ccdbda3d3568e3fb0a5. Sin ajuste nuevo ni uso de Test. Importancia calculada como RMSE en RUB tras permutar conjuntamente las columnas del grupo menos RMSE base de Train (2.100.612,472 RUB). Para cada grupo se usa una permutación común a todo el bloque One-Hot. Media de 20 repeticiones, semilla 20261027. Media y desvío (RUB): district: 7252368.45 ± 35470.52; total_area: 3759595.94 ± 29931.83; renovation: 1343576.54 ± 16500.03; date_posted_dt: 1293338.89 ± 14565.47; building_type: 957485.87 ± 12595.90; metro_distance_type: 509253.37 ± 10321.20. Evaluación descriptiva in-sample del modelo final, no una nueva validación temporal. Alterar un grupo rompe sus asociaciones con el resto y las correlaciones pueden afectar el valor. No mide efectos causales ni significación estadística.
Fuentes: Fuente: modelo BSS_07 · permutación agrupada en Train (n=39.998), 20 repeticiones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Modelo definitivo recuperado de https://dagshub.com/matiasgastonlonghino/MOSCOW_IDA.mlflow/#/experiments/5/runs/4b3e5cf9cac24ccdbda3d3568e3fb0a5. Residuos e=ln(price_rub)-predict(X) reconstruidos en todas las filas del Train crudo mediante el preparador registrado. La forma coincide con una aproximación normal en el centro, con cola inferior más alejada y desviaciones en la cola superior. Recta de referencia escalada por media y desvío. Jarque–Bera calculado sobre esos mismos residuos: estadístico 349.044679690447, p=1.60661137085837e-76, asimetría -0.17870015940405223, curtosis 3.2858361275173547. El gran tamaño muestral hace sensible la prueba. La no normalidad limita inferencia clásica, sin implicar automáticamente falta de capacidad predictiva. No se usaron residuos del BSS_06 histórico.
Fuentes: Fuente: OLS definitivo BSS_07 · residuos de Train (n=39.998), escala ln(RUB)</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Modelo definitivo https://dagshub.com/matiasgastonlonghino/MOSCOW_IDA.mlflow/#/experiments/5/runs/4b3e5cf9cac24ccdbda3d3568e3fb0a5. Eje horizontal: valores ajustados ln(RUB). Vertical: sqrt(abs(residuo estandarizado)), con studentización interna e_i / sqrt((RSS/df_resid)*(1-h_ii)). LOWESS frac=0,3, it=3, delta=1% del rango de ajustados, sobre todas las filas, siguiendo scripts/diagnosticos_residuales.py. La curva baja ligeramente en la zona inicial y aumenta hacia los ajustados altos: 0.7757067236865423 a 0.9503729413307089 en los extremos; rango 0.7495305139970574–0.9503729413307089. Breusch–Pagan, misma respuesta y muestra: LM=1513.417982048807, p=1.995906976448566e-229; no mezclar con p históricos. Evidencia contra varianza constante. La interpretación no implica que todas las observaciones sigan una misma pauta ni invalida automáticamente la predicción.
Fuentes: Fuente: mismo OLS BSS_07 y mismo Train (n=39.998), escala ln(RUB)</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Conclusión y elección del modelo. Los valores proceden de los 3 folds expansivos de la validación temporal de BSS: el tamaño k=12 tiene el RMSE promedio más bajo (2.324.850 RUB); el tamaño k=6 obtiene 2.480.192 RUB, esto es, un RMSE 6,68% mayor. La regla 1-SE (one standard error) selecciona el tamaño de modelo más pequeño con RMSE medio menor o igual al RMSE mínimo más un error estándar calculado en el tamaño mínimo. El umbral fue 2.531.404 RUB, y el primer tamaño que lo cumplió fue k=6. Se eligió por parsimonia, no porque haya conseguido más precisión. De hecho, el RMSE temporal siguió bajando hasta 12, por lo que esta validación NO demuestra overfitting en el modelo de 12, ni que el de 6 generalice mejor. Además, 12 grupos corresponden a 145 columnas transformadas y 6 grupos a 139 columnas, dada la gran cantidad de dummies del distrito. Limitaciones: solo 3 folds correlacionados, unión preseleccionada utilizando todo Train, publicaciones sintéticas y violaciones de supuestos de OLS. No se evaluó Test. La elección de 6 es un compromiso metodológico entre complejidad y error; si el criterio primario fuera exclusivamente menor RMSE temporal, el tamaño apoyado por los datos sería 12.</a:t>
            </a:r>
          </a:p>
          <a:p>
            <a:endParaRPr/>
          </a:p>
          <a:p>
            <a:r>
              <a:t>Fuente: notebooks 1–4; BSS_07_Log_Temporal_3F_1SE_OLS · Test sin evaluar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chart" Target="../charts/chart3.xml"/><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chart" Target="../charts/chart4.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1064240" cy="685800"/>
          </a:xfrm>
          <a:prstGeom prst="rect">
            <a:avLst/>
          </a:prstGeom>
          <a:noFill/>
          <a:ln/>
        </p:spPr>
        <p:txBody>
          <a:bodyPr wrap="square" lIns="0" tIns="0" rIns="0" bIns="0" rtlCol="0" anchor="ctr"/>
          <a:lstStyle/>
          <a:p>
            <a:pPr marL="0" indent="0">
              <a:buNone/>
            </a:pPr>
            <a:endParaRPr lang="en-US" sz="3100" dirty="0"/>
          </a:p>
        </p:txBody>
      </p:sp>
      <p:sp>
        <p:nvSpPr>
          <p:cNvPr id="3" name="Text 1"/>
          <p:cNvSpPr/>
          <p:nvPr/>
        </p:nvSpPr>
        <p:spPr>
          <a:xfrm>
            <a:off x="502920" y="6419088"/>
            <a:ext cx="10789920" cy="201168"/>
          </a:xfrm>
          <a:prstGeom prst="rect">
            <a:avLst/>
          </a:prstGeom>
          <a:noFill/>
          <a:ln/>
        </p:spPr>
        <p:txBody>
          <a:bodyPr wrap="square" lIns="0" tIns="0" rIns="0" bIns="0" rtlCol="0" anchor="ctr"/>
          <a:lstStyle/>
          <a:p>
            <a:pPr marL="0" indent="0">
              <a:buNone/>
            </a:pPr>
            <a:r>
              <a:rPr lang="en-US" sz="950" dirty="0">
                <a:solidFill>
                  <a:srgbClr val="667A80"/>
                </a:solidFill>
                <a:latin typeface="Arial" pitchFamily="34" charset="0"/>
                <a:ea typeface="Arial" pitchFamily="34" charset="-122"/>
                <a:cs typeface="Arial" pitchFamily="34" charset="-120"/>
              </a:rPr>
              <a:t>Proyecto Moscow-EDA · rama devLonghino</a:t>
            </a:r>
            <a:endParaRPr lang="en-US" sz="950" dirty="0"/>
          </a:p>
        </p:txBody>
      </p:sp>
      <p:sp>
        <p:nvSpPr>
          <p:cNvPr id="4" name="Text 2"/>
          <p:cNvSpPr/>
          <p:nvPr/>
        </p:nvSpPr>
        <p:spPr>
          <a:xfrm>
            <a:off x="11292840" y="6400800"/>
            <a:ext cx="384048" cy="228600"/>
          </a:xfrm>
          <a:prstGeom prst="rect">
            <a:avLst/>
          </a:prstGeom>
          <a:noFill/>
          <a:ln/>
        </p:spPr>
        <p:txBody>
          <a:bodyPr wrap="square" lIns="0" tIns="0" rIns="0" bIns="0" rtlCol="0" anchor="ctr"/>
          <a:lstStyle/>
          <a:p>
            <a:pPr marL="0" indent="0" algn="r">
              <a:buNone/>
            </a:pPr>
            <a:r>
              <a:rPr lang="en-US" sz="1000" dirty="0">
                <a:solidFill>
                  <a:srgbClr val="667A80"/>
                </a:solidFill>
                <a:latin typeface="Arial" pitchFamily="34" charset="0"/>
                <a:ea typeface="Arial" pitchFamily="34" charset="-122"/>
                <a:cs typeface="Arial" pitchFamily="34" charset="-120"/>
              </a:rPr>
              <a:t>01</a:t>
            </a:r>
            <a:endParaRPr lang="en-US" sz="1000" dirty="0"/>
          </a:p>
        </p:txBody>
      </p:sp>
      <p:sp>
        <p:nvSpPr>
          <p:cNvPr id="6" name="Text 3"/>
          <p:cNvSpPr/>
          <p:nvPr/>
        </p:nvSpPr>
        <p:spPr>
          <a:xfrm>
            <a:off x="548640" y="502920"/>
            <a:ext cx="10058400" cy="822960"/>
          </a:xfrm>
          <a:prstGeom prst="rect">
            <a:avLst/>
          </a:prstGeom>
          <a:noFill/>
          <a:ln/>
        </p:spPr>
        <p:txBody>
          <a:bodyPr wrap="square" lIns="0" tIns="0" rIns="0" bIns="0" rtlCol="0" anchor="ctr"/>
          <a:lstStyle/>
          <a:p>
            <a:pPr marL="0" indent="0">
              <a:buNone/>
            </a:pPr>
            <a:r>
              <a:rPr lang="en-US" sz="6200" b="1" dirty="0">
                <a:solidFill>
                  <a:srgbClr val="176B70"/>
                </a:solidFill>
                <a:latin typeface="Arial" pitchFamily="34" charset="0"/>
                <a:ea typeface="Arial" pitchFamily="34" charset="-122"/>
                <a:cs typeface="Arial" pitchFamily="34" charset="-120"/>
              </a:rPr>
              <a:t>MOSCÚ</a:t>
            </a:r>
            <a:endParaRPr lang="en-US" sz="6200" dirty="0"/>
          </a:p>
        </p:txBody>
      </p:sp>
      <p:sp>
        <p:nvSpPr>
          <p:cNvPr id="7" name="Text 4"/>
          <p:cNvSpPr/>
          <p:nvPr/>
        </p:nvSpPr>
        <p:spPr>
          <a:xfrm>
            <a:off x="566928" y="1691640"/>
            <a:ext cx="10881360" cy="1874520"/>
          </a:xfrm>
          <a:prstGeom prst="rect">
            <a:avLst/>
          </a:prstGeom>
          <a:noFill/>
          <a:ln/>
        </p:spPr>
        <p:txBody>
          <a:bodyPr wrap="square" lIns="0" tIns="0" rIns="0" bIns="0" rtlCol="0" anchor="t"/>
          <a:lstStyle/>
          <a:p>
            <a:pPr marL="0" indent="0">
              <a:buNone/>
            </a:pPr>
            <a:r>
              <a:rPr lang="en-US" sz="3400" b="1" dirty="0">
                <a:solidFill>
                  <a:srgbClr val="26363B"/>
                </a:solidFill>
                <a:latin typeface="Arial" pitchFamily="34" charset="0"/>
                <a:ea typeface="Arial" pitchFamily="34" charset="-122"/>
                <a:cs typeface="Arial" pitchFamily="34" charset="-120"/>
              </a:rPr>
              <a:t>Predicción de precios inmobiliarios </a:t>
            </a:r>
            <a:r>
              <a:rPr lang="en-US" sz="3400" b="1" dirty="0" err="1">
                <a:solidFill>
                  <a:srgbClr val="26363B"/>
                </a:solidFill>
                <a:latin typeface="Arial" pitchFamily="34" charset="0"/>
                <a:ea typeface="Arial" pitchFamily="34" charset="-122"/>
                <a:cs typeface="Arial" pitchFamily="34" charset="-120"/>
              </a:rPr>
              <a:t>en</a:t>
            </a:r>
            <a:r>
              <a:rPr lang="en-US" sz="3400" b="1" dirty="0">
                <a:solidFill>
                  <a:srgbClr val="26363B"/>
                </a:solidFill>
                <a:latin typeface="Arial" pitchFamily="34" charset="0"/>
                <a:ea typeface="Arial" pitchFamily="34" charset="-122"/>
                <a:cs typeface="Arial" pitchFamily="34" charset="-120"/>
              </a:rPr>
              <a:t> </a:t>
            </a:r>
            <a:r>
              <a:rPr lang="en-US" sz="3400" b="1" dirty="0" err="1">
                <a:solidFill>
                  <a:srgbClr val="26363B"/>
                </a:solidFill>
                <a:latin typeface="Arial" pitchFamily="34" charset="0"/>
                <a:ea typeface="Arial" pitchFamily="34" charset="-122"/>
                <a:cs typeface="Arial" pitchFamily="34" charset="-120"/>
              </a:rPr>
              <a:t>Moscú</a:t>
            </a:r>
            <a:endParaRPr lang="en-US" sz="3400" dirty="0"/>
          </a:p>
        </p:txBody>
      </p:sp>
      <p:sp>
        <p:nvSpPr>
          <p:cNvPr id="8" name="Text 5"/>
          <p:cNvSpPr/>
          <p:nvPr/>
        </p:nvSpPr>
        <p:spPr>
          <a:xfrm>
            <a:off x="594360" y="4297680"/>
            <a:ext cx="6400800" cy="1280160"/>
          </a:xfrm>
          <a:prstGeom prst="rect">
            <a:avLst/>
          </a:prstGeom>
          <a:noFill/>
          <a:ln/>
        </p:spPr>
        <p:txBody>
          <a:bodyPr wrap="square" lIns="0" tIns="0" rIns="0" bIns="0" rtlCol="0" anchor="t"/>
          <a:lstStyle/>
          <a:p>
            <a:pPr marL="0" indent="0">
              <a:buNone/>
            </a:pPr>
            <a:r>
              <a:rPr lang="en-US" sz="1900" dirty="0">
                <a:solidFill>
                  <a:srgbClr val="26363B"/>
                </a:solidFill>
                <a:latin typeface="Arial" pitchFamily="34" charset="0"/>
                <a:ea typeface="Arial" pitchFamily="34" charset="-122"/>
                <a:cs typeface="Arial" pitchFamily="34" charset="-120"/>
              </a:rPr>
              <a:t>Introducción al análisis de datos</a:t>
            </a:r>
            <a:endParaRPr lang="en-US" sz="1900" dirty="0"/>
          </a:p>
          <a:p>
            <a:pPr marL="0" indent="0">
              <a:buNone/>
            </a:pPr>
            <a:r>
              <a:rPr lang="en-US" sz="1900" dirty="0">
                <a:solidFill>
                  <a:srgbClr val="26363B"/>
                </a:solidFill>
                <a:latin typeface="Arial" pitchFamily="34" charset="0"/>
                <a:ea typeface="Arial" pitchFamily="34" charset="-122"/>
                <a:cs typeface="Arial" pitchFamily="34" charset="-120"/>
              </a:rPr>
              <a:t>Matias Longhino y Tomas Montilla</a:t>
            </a:r>
            <a:endParaRPr lang="en-US" sz="1900" dirty="0"/>
          </a:p>
          <a:p>
            <a:pPr marL="0" indent="0">
              <a:buNone/>
            </a:pPr>
            <a:r>
              <a:rPr lang="en-US" sz="1900" dirty="0">
                <a:solidFill>
                  <a:srgbClr val="26363B"/>
                </a:solidFill>
                <a:latin typeface="Arial" pitchFamily="34" charset="0"/>
                <a:ea typeface="Arial" pitchFamily="34" charset="-122"/>
                <a:cs typeface="Arial" pitchFamily="34" charset="-120"/>
              </a:rPr>
              <a:t>27 de octubre de 2026</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84048"/>
            <a:ext cx="11064240" cy="685800"/>
          </a:xfrm>
          <a:prstGeom prst="rect">
            <a:avLst/>
          </a:prstGeom>
          <a:noFill/>
          <a:ln/>
        </p:spPr>
        <p:txBody>
          <a:bodyPr wrap="square" lIns="0" tIns="0" rIns="0" bIns="0" rtlCol="0" anchor="ctr"/>
          <a:lstStyle/>
          <a:p>
            <a:r>
              <a:rPr sz="2900" b="1">
                <a:solidFill>
                  <a:srgbClr val="26363B"/>
                </a:solidFill>
                <a:latin typeface="Arial"/>
              </a:rPr>
              <a:t>Comparación final: tres modelos OLS</a:t>
            </a:r>
          </a:p>
        </p:txBody>
      </p:sp>
      <p:sp>
        <p:nvSpPr>
          <p:cNvPr id="3" name="Text 1"/>
          <p:cNvSpPr/>
          <p:nvPr/>
        </p:nvSpPr>
        <p:spPr>
          <a:xfrm>
            <a:off x="502920" y="6419088"/>
            <a:ext cx="10789920" cy="201168"/>
          </a:xfrm>
          <a:prstGeom prst="rect">
            <a:avLst/>
          </a:prstGeom>
          <a:noFill/>
          <a:ln/>
        </p:spPr>
        <p:txBody>
          <a:bodyPr wrap="square" lIns="0" tIns="0" rIns="0" bIns="0" rtlCol="0" anchor="ctr"/>
          <a:lstStyle/>
          <a:p>
            <a:r>
              <a:rPr sz="919">
                <a:solidFill>
                  <a:srgbClr val="667A80"/>
                </a:solidFill>
                <a:latin typeface="Arial"/>
              </a:rPr>
              <a:t>Fuentes: OLS_02_Log_Target · BSS_06 · BSS_07 · diagnósticos del OLS final</a:t>
            </a:r>
          </a:p>
        </p:txBody>
      </p:sp>
      <p:sp>
        <p:nvSpPr>
          <p:cNvPr id="4" name="Text 2"/>
          <p:cNvSpPr/>
          <p:nvPr/>
        </p:nvSpPr>
        <p:spPr>
          <a:xfrm>
            <a:off x="11292840" y="6400800"/>
            <a:ext cx="384048" cy="228600"/>
          </a:xfrm>
          <a:prstGeom prst="rect">
            <a:avLst/>
          </a:prstGeom>
          <a:noFill/>
          <a:ln/>
        </p:spPr>
        <p:txBody>
          <a:bodyPr wrap="square" lIns="0" tIns="0" rIns="0" bIns="0" rtlCol="0" anchor="ctr"/>
          <a:lstStyle/>
          <a:p>
            <a:r>
              <a:rPr sz="919">
                <a:solidFill>
                  <a:srgbClr val="667A80"/>
                </a:solidFill>
                <a:latin typeface="Arial"/>
              </a:rPr>
              <a:t>15</a:t>
            </a:r>
          </a:p>
        </p:txBody>
      </p:sp>
      <p:sp>
        <p:nvSpPr>
          <p:cNvPr id="5" name="TextBox 4"/>
          <p:cNvSpPr txBox="1"/>
          <p:nvPr/>
        </p:nvSpPr>
        <p:spPr>
          <a:xfrm>
            <a:off x="566928" y="1069848"/>
            <a:ext cx="11064240" cy="274320"/>
          </a:xfrm>
          <a:prstGeom prst="rect">
            <a:avLst/>
          </a:prstGeom>
          <a:noFill/>
        </p:spPr>
        <p:txBody>
          <a:bodyPr wrap="none" lIns="0" tIns="0" rIns="0" bIns="0">
            <a:spAutoFit/>
          </a:bodyPr>
          <a:lstStyle/>
          <a:p>
            <a:r>
              <a:rPr sz="1320">
                <a:solidFill>
                  <a:srgbClr val="667A80"/>
                </a:solidFill>
                <a:latin typeface="Arial"/>
              </a:rPr>
              <a:t>El BSS temporal usa un Train distinto: los errores históricos y temporales NO son directamente equivalentes.</a:t>
            </a:r>
          </a:p>
        </p:txBody>
      </p:sp>
      <p:graphicFrame>
        <p:nvGraphicFramePr>
          <p:cNvPr id="6" name="Table 5"/>
          <p:cNvGraphicFramePr>
            <a:graphicFrameLocks noGrp="1"/>
          </p:cNvGraphicFramePr>
          <p:nvPr>
            <p:extLst>
              <p:ext uri="{D42A27DB-BD31-4B8C-83A1-F6EECF244321}">
                <p14:modId xmlns:p14="http://schemas.microsoft.com/office/powerpoint/2010/main" val="992297961"/>
              </p:ext>
            </p:extLst>
          </p:nvPr>
        </p:nvGraphicFramePr>
        <p:xfrm>
          <a:off x="548640" y="1380744"/>
          <a:ext cx="11082528" cy="4207144"/>
        </p:xfrm>
        <a:graphic>
          <a:graphicData uri="http://schemas.openxmlformats.org/drawingml/2006/table">
            <a:tbl>
              <a:tblPr firstRow="1" bandRow="1">
                <a:tableStyleId>{5C22544A-7EE6-4342-B048-85BDC9FD1C3A}</a:tableStyleId>
              </a:tblPr>
              <a:tblGrid>
                <a:gridCol w="3419856">
                  <a:extLst>
                    <a:ext uri="{9D8B030D-6E8A-4147-A177-3AD203B41FA5}">
                      <a16:colId xmlns:a16="http://schemas.microsoft.com/office/drawing/2014/main" val="20000"/>
                    </a:ext>
                  </a:extLst>
                </a:gridCol>
                <a:gridCol w="2313432">
                  <a:extLst>
                    <a:ext uri="{9D8B030D-6E8A-4147-A177-3AD203B41FA5}">
                      <a16:colId xmlns:a16="http://schemas.microsoft.com/office/drawing/2014/main" val="20001"/>
                    </a:ext>
                  </a:extLst>
                </a:gridCol>
                <a:gridCol w="2423160">
                  <a:extLst>
                    <a:ext uri="{9D8B030D-6E8A-4147-A177-3AD203B41FA5}">
                      <a16:colId xmlns:a16="http://schemas.microsoft.com/office/drawing/2014/main" val="20002"/>
                    </a:ext>
                  </a:extLst>
                </a:gridCol>
                <a:gridCol w="2926080">
                  <a:extLst>
                    <a:ext uri="{9D8B030D-6E8A-4147-A177-3AD203B41FA5}">
                      <a16:colId xmlns:a16="http://schemas.microsoft.com/office/drawing/2014/main" val="20003"/>
                    </a:ext>
                  </a:extLst>
                </a:gridCol>
              </a:tblGrid>
              <a:tr h="557784">
                <a:tc>
                  <a:txBody>
                    <a:bodyPr/>
                    <a:lstStyle/>
                    <a:p>
                      <a:pPr algn="l">
                        <a:lnSpc>
                          <a:spcPct val="100000"/>
                        </a:lnSpc>
                        <a:spcBef>
                          <a:spcPts val="0"/>
                        </a:spcBef>
                        <a:spcAft>
                          <a:spcPts val="0"/>
                        </a:spcAft>
                      </a:pPr>
                      <a:r>
                        <a:rPr sz="1280" b="1">
                          <a:solidFill>
                            <a:srgbClr val="FFFFFF"/>
                          </a:solidFill>
                          <a:latin typeface="Arial"/>
                        </a:rPr>
                        <a:t>Métrica</a:t>
                      </a:r>
                    </a:p>
                  </a:txBody>
                  <a:tcPr marL="100584" marR="54864" marT="9144" marB="9144" anchor="ctr">
                    <a:solidFill>
                      <a:srgbClr val="176B70"/>
                    </a:solidFill>
                  </a:tcPr>
                </a:tc>
                <a:tc>
                  <a:txBody>
                    <a:bodyPr/>
                    <a:lstStyle/>
                    <a:p>
                      <a:pPr algn="ctr">
                        <a:lnSpc>
                          <a:spcPct val="100000"/>
                        </a:lnSpc>
                        <a:spcBef>
                          <a:spcPts val="0"/>
                        </a:spcBef>
                        <a:spcAft>
                          <a:spcPts val="0"/>
                        </a:spcAft>
                      </a:pPr>
                      <a:r>
                        <a:rPr sz="1280" b="1">
                          <a:solidFill>
                            <a:srgbClr val="FFFFFF"/>
                          </a:solidFill>
                          <a:latin typeface="Arial"/>
                        </a:rPr>
                        <a:t>OLS log · 177</a:t>
                      </a:r>
                    </a:p>
                    <a:p>
                      <a:pPr algn="ctr">
                        <a:lnSpc>
                          <a:spcPct val="100000"/>
                        </a:lnSpc>
                        <a:spcBef>
                          <a:spcPts val="0"/>
                        </a:spcBef>
                        <a:spcAft>
                          <a:spcPts val="0"/>
                        </a:spcAft>
                      </a:pPr>
                      <a:r>
                        <a:rPr sz="1240" b="1">
                          <a:solidFill>
                            <a:srgbClr val="FFFFFF"/>
                          </a:solidFill>
                          <a:latin typeface="Arial"/>
                        </a:rPr>
                        <a:t>(baseline)</a:t>
                      </a:r>
                    </a:p>
                  </a:txBody>
                  <a:tcPr marL="100584" marR="54864" marT="9144" marB="9144" anchor="ctr">
                    <a:solidFill>
                      <a:srgbClr val="176B70"/>
                    </a:solidFill>
                  </a:tcPr>
                </a:tc>
                <a:tc>
                  <a:txBody>
                    <a:bodyPr/>
                    <a:lstStyle/>
                    <a:p>
                      <a:pPr algn="ctr">
                        <a:lnSpc>
                          <a:spcPct val="100000"/>
                        </a:lnSpc>
                        <a:spcBef>
                          <a:spcPts val="0"/>
                        </a:spcBef>
                        <a:spcAft>
                          <a:spcPts val="0"/>
                        </a:spcAft>
                      </a:pPr>
                      <a:r>
                        <a:rPr sz="1280" b="1">
                          <a:solidFill>
                            <a:srgbClr val="FFFFFF"/>
                          </a:solidFill>
                          <a:latin typeface="Arial"/>
                        </a:rPr>
                        <a:t>BSS </a:t>
                      </a:r>
                      <a:endParaRPr sz="1280" b="1" dirty="0">
                        <a:solidFill>
                          <a:srgbClr val="FFFFFF"/>
                        </a:solidFill>
                        <a:latin typeface="Arial"/>
                      </a:endParaRPr>
                    </a:p>
                  </a:txBody>
                  <a:tcPr marL="100584" marR="54864" marT="9144" marB="9144" anchor="ctr">
                    <a:solidFill>
                      <a:srgbClr val="176B70"/>
                    </a:solidFill>
                  </a:tcPr>
                </a:tc>
                <a:tc>
                  <a:txBody>
                    <a:bodyPr/>
                    <a:lstStyle/>
                    <a:p>
                      <a:pPr algn="ctr">
                        <a:lnSpc>
                          <a:spcPct val="100000"/>
                        </a:lnSpc>
                        <a:spcBef>
                          <a:spcPts val="0"/>
                        </a:spcBef>
                        <a:spcAft>
                          <a:spcPts val="0"/>
                        </a:spcAft>
                      </a:pPr>
                      <a:r>
                        <a:rPr sz="1280" b="1" dirty="0">
                          <a:solidFill>
                            <a:srgbClr val="FFFFFF"/>
                          </a:solidFill>
                          <a:latin typeface="Arial"/>
                        </a:rPr>
                        <a:t>BSS </a:t>
                      </a:r>
                      <a:r>
                        <a:rPr lang="en-US" sz="1280" b="1" dirty="0">
                          <a:solidFill>
                            <a:srgbClr val="FFFFFF"/>
                          </a:solidFill>
                          <a:latin typeface="Arial"/>
                        </a:rPr>
                        <a:t>con</a:t>
                      </a:r>
                      <a:r>
                        <a:rPr sz="1280" b="1" dirty="0">
                          <a:solidFill>
                            <a:srgbClr val="FFFFFF"/>
                          </a:solidFill>
                          <a:latin typeface="Arial"/>
                        </a:rPr>
                        <a:t> · 1-SE</a:t>
                      </a:r>
                    </a:p>
                    <a:p>
                      <a:pPr algn="ctr">
                        <a:lnSpc>
                          <a:spcPct val="100000"/>
                        </a:lnSpc>
                        <a:spcBef>
                          <a:spcPts val="0"/>
                        </a:spcBef>
                        <a:spcAft>
                          <a:spcPts val="0"/>
                        </a:spcAft>
                      </a:pPr>
                      <a:r>
                        <a:rPr sz="1240" b="1" dirty="0">
                          <a:solidFill>
                            <a:srgbClr val="FFFFFF"/>
                          </a:solidFill>
                          <a:latin typeface="Arial"/>
                        </a:rPr>
                        <a:t>(6 </a:t>
                      </a:r>
                      <a:r>
                        <a:rPr sz="1240" b="1" dirty="0" err="1">
                          <a:solidFill>
                            <a:srgbClr val="FFFFFF"/>
                          </a:solidFill>
                          <a:latin typeface="Arial"/>
                        </a:rPr>
                        <a:t>grupos</a:t>
                      </a:r>
                      <a:r>
                        <a:rPr sz="1240" b="1" dirty="0">
                          <a:solidFill>
                            <a:srgbClr val="FFFFFF"/>
                          </a:solidFill>
                          <a:latin typeface="Arial"/>
                        </a:rPr>
                        <a:t>, </a:t>
                      </a:r>
                      <a:r>
                        <a:rPr sz="1240" b="1" dirty="0" err="1">
                          <a:solidFill>
                            <a:srgbClr val="FFFFFF"/>
                          </a:solidFill>
                          <a:latin typeface="Arial"/>
                        </a:rPr>
                        <a:t>elegido</a:t>
                      </a:r>
                      <a:r>
                        <a:rPr sz="1240" b="1" dirty="0">
                          <a:solidFill>
                            <a:srgbClr val="FFFFFF"/>
                          </a:solidFill>
                          <a:latin typeface="Arial"/>
                        </a:rPr>
                        <a:t>)</a:t>
                      </a:r>
                    </a:p>
                  </a:txBody>
                  <a:tcPr marL="100584" marR="54864" marT="9144" marB="9144" anchor="ctr">
                    <a:solidFill>
                      <a:srgbClr val="176B70"/>
                    </a:solidFill>
                  </a:tcPr>
                </a:tc>
                <a:extLst>
                  <a:ext uri="{0D108BD9-81ED-4DB2-BD59-A6C34878D82A}">
                    <a16:rowId xmlns:a16="http://schemas.microsoft.com/office/drawing/2014/main" val="10000"/>
                  </a:ext>
                </a:extLst>
              </a:tr>
              <a:tr h="280720">
                <a:tc>
                  <a:txBody>
                    <a:bodyPr/>
                    <a:lstStyle/>
                    <a:p>
                      <a:pPr algn="l">
                        <a:lnSpc>
                          <a:spcPct val="100000"/>
                        </a:lnSpc>
                        <a:spcBef>
                          <a:spcPts val="0"/>
                        </a:spcBef>
                        <a:spcAft>
                          <a:spcPts val="0"/>
                        </a:spcAft>
                      </a:pPr>
                      <a:r>
                        <a:rPr sz="1165" b="0">
                          <a:solidFill>
                            <a:srgbClr val="26363B"/>
                          </a:solidFill>
                          <a:latin typeface="Arial"/>
                        </a:rPr>
                        <a:t>Características originales</a:t>
                      </a:r>
                    </a:p>
                  </a:txBody>
                  <a:tcPr marL="100584" marR="54864" marT="9144" marB="9144" anchor="ctr">
                    <a:solidFill>
                      <a:srgbClr val="FFFFFF"/>
                    </a:solidFill>
                  </a:tcPr>
                </a:tc>
                <a:tc>
                  <a:txBody>
                    <a:bodyPr/>
                    <a:lstStyle/>
                    <a:p>
                      <a:pPr algn="ctr">
                        <a:lnSpc>
                          <a:spcPct val="100000"/>
                        </a:lnSpc>
                        <a:spcBef>
                          <a:spcPts val="0"/>
                        </a:spcBef>
                        <a:spcAft>
                          <a:spcPts val="0"/>
                        </a:spcAft>
                      </a:pPr>
                      <a:r>
                        <a:rPr sz="1175" b="0">
                          <a:solidFill>
                            <a:srgbClr val="26363B"/>
                          </a:solidFill>
                          <a:latin typeface="Arial"/>
                        </a:rPr>
                        <a:t>23</a:t>
                      </a:r>
                    </a:p>
                  </a:txBody>
                  <a:tcPr marL="100584" marR="54864" marT="9144" marB="9144" anchor="ctr">
                    <a:solidFill>
                      <a:srgbClr val="FFFFFF"/>
                    </a:solidFill>
                  </a:tcPr>
                </a:tc>
                <a:tc>
                  <a:txBody>
                    <a:bodyPr/>
                    <a:lstStyle/>
                    <a:p>
                      <a:pPr algn="ctr">
                        <a:lnSpc>
                          <a:spcPct val="100000"/>
                        </a:lnSpc>
                        <a:spcBef>
                          <a:spcPts val="0"/>
                        </a:spcBef>
                        <a:spcAft>
                          <a:spcPts val="0"/>
                        </a:spcAft>
                      </a:pPr>
                      <a:r>
                        <a:rPr sz="1175" b="0">
                          <a:solidFill>
                            <a:srgbClr val="26363B"/>
                          </a:solidFill>
                          <a:latin typeface="Arial"/>
                        </a:rPr>
                        <a:t>12</a:t>
                      </a:r>
                    </a:p>
                  </a:txBody>
                  <a:tcPr marL="100584" marR="54864" marT="9144" marB="9144" anchor="ctr">
                    <a:solidFill>
                      <a:srgbClr val="FFFFFF"/>
                    </a:solidFill>
                  </a:tcPr>
                </a:tc>
                <a:tc>
                  <a:txBody>
                    <a:bodyPr/>
                    <a:lstStyle/>
                    <a:p>
                      <a:pPr algn="ctr">
                        <a:lnSpc>
                          <a:spcPct val="100000"/>
                        </a:lnSpc>
                        <a:spcBef>
                          <a:spcPts val="0"/>
                        </a:spcBef>
                        <a:spcAft>
                          <a:spcPts val="0"/>
                        </a:spcAft>
                      </a:pPr>
                      <a:r>
                        <a:rPr sz="1175" b="1">
                          <a:solidFill>
                            <a:srgbClr val="176B70"/>
                          </a:solidFill>
                          <a:latin typeface="Arial"/>
                        </a:rPr>
                        <a:t>6</a:t>
                      </a:r>
                    </a:p>
                  </a:txBody>
                  <a:tcPr marL="100584" marR="54864" marT="9144" marB="9144" anchor="ctr">
                    <a:solidFill>
                      <a:srgbClr val="EFF7F7"/>
                    </a:solidFill>
                  </a:tcPr>
                </a:tc>
                <a:extLst>
                  <a:ext uri="{0D108BD9-81ED-4DB2-BD59-A6C34878D82A}">
                    <a16:rowId xmlns:a16="http://schemas.microsoft.com/office/drawing/2014/main" val="10001"/>
                  </a:ext>
                </a:extLst>
              </a:tr>
              <a:tr h="280720">
                <a:tc>
                  <a:txBody>
                    <a:bodyPr/>
                    <a:lstStyle/>
                    <a:p>
                      <a:pPr algn="l">
                        <a:lnSpc>
                          <a:spcPct val="100000"/>
                        </a:lnSpc>
                        <a:spcBef>
                          <a:spcPts val="0"/>
                        </a:spcBef>
                        <a:spcAft>
                          <a:spcPts val="0"/>
                        </a:spcAft>
                      </a:pPr>
                      <a:r>
                        <a:rPr sz="1165" b="0">
                          <a:solidFill>
                            <a:srgbClr val="26363B"/>
                          </a:solidFill>
                          <a:latin typeface="Arial"/>
                        </a:rPr>
                        <a:t>Columnas predictoras</a:t>
                      </a:r>
                    </a:p>
                  </a:txBody>
                  <a:tcPr marL="100584" marR="54864" marT="9144" marB="9144" anchor="ctr">
                    <a:solidFill>
                      <a:srgbClr val="F7F9FA"/>
                    </a:solidFill>
                  </a:tcPr>
                </a:tc>
                <a:tc>
                  <a:txBody>
                    <a:bodyPr/>
                    <a:lstStyle/>
                    <a:p>
                      <a:pPr algn="ctr">
                        <a:lnSpc>
                          <a:spcPct val="100000"/>
                        </a:lnSpc>
                        <a:spcBef>
                          <a:spcPts val="0"/>
                        </a:spcBef>
                        <a:spcAft>
                          <a:spcPts val="0"/>
                        </a:spcAft>
                      </a:pPr>
                      <a:r>
                        <a:rPr sz="1175" b="0">
                          <a:solidFill>
                            <a:srgbClr val="26363B"/>
                          </a:solidFill>
                          <a:latin typeface="Arial"/>
                        </a:rPr>
                        <a:t>177</a:t>
                      </a:r>
                    </a:p>
                  </a:txBody>
                  <a:tcPr marL="100584" marR="54864" marT="9144" marB="9144" anchor="ctr">
                    <a:solidFill>
                      <a:srgbClr val="F7F9FA"/>
                    </a:solidFill>
                  </a:tcPr>
                </a:tc>
                <a:tc>
                  <a:txBody>
                    <a:bodyPr/>
                    <a:lstStyle/>
                    <a:p>
                      <a:pPr algn="ctr">
                        <a:lnSpc>
                          <a:spcPct val="100000"/>
                        </a:lnSpc>
                        <a:spcBef>
                          <a:spcPts val="0"/>
                        </a:spcBef>
                        <a:spcAft>
                          <a:spcPts val="0"/>
                        </a:spcAft>
                      </a:pPr>
                      <a:r>
                        <a:rPr sz="1175" b="0">
                          <a:solidFill>
                            <a:srgbClr val="26363B"/>
                          </a:solidFill>
                          <a:latin typeface="Arial"/>
                        </a:rPr>
                        <a:t>145</a:t>
                      </a:r>
                    </a:p>
                  </a:txBody>
                  <a:tcPr marL="100584" marR="54864" marT="9144" marB="9144" anchor="ctr">
                    <a:solidFill>
                      <a:srgbClr val="F7F9FA"/>
                    </a:solidFill>
                  </a:tcPr>
                </a:tc>
                <a:tc>
                  <a:txBody>
                    <a:bodyPr/>
                    <a:lstStyle/>
                    <a:p>
                      <a:pPr algn="ctr">
                        <a:lnSpc>
                          <a:spcPct val="100000"/>
                        </a:lnSpc>
                        <a:spcBef>
                          <a:spcPts val="0"/>
                        </a:spcBef>
                        <a:spcAft>
                          <a:spcPts val="0"/>
                        </a:spcAft>
                      </a:pPr>
                      <a:r>
                        <a:rPr sz="1175" b="1">
                          <a:solidFill>
                            <a:srgbClr val="176B70"/>
                          </a:solidFill>
                          <a:latin typeface="Arial"/>
                        </a:rPr>
                        <a:t>139</a:t>
                      </a:r>
                    </a:p>
                  </a:txBody>
                  <a:tcPr marL="100584" marR="54864" marT="9144" marB="9144" anchor="ctr">
                    <a:solidFill>
                      <a:srgbClr val="EFF7F7"/>
                    </a:solidFill>
                  </a:tcPr>
                </a:tc>
                <a:extLst>
                  <a:ext uri="{0D108BD9-81ED-4DB2-BD59-A6C34878D82A}">
                    <a16:rowId xmlns:a16="http://schemas.microsoft.com/office/drawing/2014/main" val="10002"/>
                  </a:ext>
                </a:extLst>
              </a:tr>
              <a:tr h="280720">
                <a:tc>
                  <a:txBody>
                    <a:bodyPr/>
                    <a:lstStyle/>
                    <a:p>
                      <a:pPr algn="l">
                        <a:lnSpc>
                          <a:spcPct val="100000"/>
                        </a:lnSpc>
                        <a:spcBef>
                          <a:spcPts val="0"/>
                        </a:spcBef>
                        <a:spcAft>
                          <a:spcPts val="0"/>
                        </a:spcAft>
                      </a:pPr>
                      <a:r>
                        <a:rPr sz="1165" b="0">
                          <a:solidFill>
                            <a:srgbClr val="26363B"/>
                          </a:solidFill>
                          <a:latin typeface="Arial"/>
                        </a:rPr>
                        <a:t>Observaciones de Train</a:t>
                      </a:r>
                    </a:p>
                  </a:txBody>
                  <a:tcPr marL="100584" marR="54864" marT="9144" marB="9144" anchor="ctr">
                    <a:solidFill>
                      <a:srgbClr val="FFFFFF"/>
                    </a:solidFill>
                  </a:tcPr>
                </a:tc>
                <a:tc>
                  <a:txBody>
                    <a:bodyPr/>
                    <a:lstStyle/>
                    <a:p>
                      <a:pPr algn="ctr">
                        <a:lnSpc>
                          <a:spcPct val="100000"/>
                        </a:lnSpc>
                        <a:spcBef>
                          <a:spcPts val="0"/>
                        </a:spcBef>
                        <a:spcAft>
                          <a:spcPts val="0"/>
                        </a:spcAft>
                      </a:pPr>
                      <a:r>
                        <a:rPr sz="1175" b="0">
                          <a:solidFill>
                            <a:srgbClr val="26363B"/>
                          </a:solidFill>
                          <a:latin typeface="Arial"/>
                        </a:rPr>
                        <a:t>37.984</a:t>
                      </a:r>
                    </a:p>
                  </a:txBody>
                  <a:tcPr marL="100584" marR="54864" marT="9144" marB="9144" anchor="ctr">
                    <a:solidFill>
                      <a:srgbClr val="FFFFFF"/>
                    </a:solidFill>
                  </a:tcPr>
                </a:tc>
                <a:tc>
                  <a:txBody>
                    <a:bodyPr/>
                    <a:lstStyle/>
                    <a:p>
                      <a:pPr algn="ctr">
                        <a:lnSpc>
                          <a:spcPct val="100000"/>
                        </a:lnSpc>
                        <a:spcBef>
                          <a:spcPts val="0"/>
                        </a:spcBef>
                        <a:spcAft>
                          <a:spcPts val="0"/>
                        </a:spcAft>
                      </a:pPr>
                      <a:r>
                        <a:rPr sz="1175" b="0">
                          <a:solidFill>
                            <a:srgbClr val="26363B"/>
                          </a:solidFill>
                          <a:latin typeface="Arial"/>
                        </a:rPr>
                        <a:t>37.984</a:t>
                      </a:r>
                    </a:p>
                  </a:txBody>
                  <a:tcPr marL="100584" marR="54864" marT="9144" marB="9144" anchor="ctr">
                    <a:solidFill>
                      <a:srgbClr val="FFFFFF"/>
                    </a:solidFill>
                  </a:tcPr>
                </a:tc>
                <a:tc>
                  <a:txBody>
                    <a:bodyPr/>
                    <a:lstStyle/>
                    <a:p>
                      <a:pPr algn="ctr">
                        <a:lnSpc>
                          <a:spcPct val="100000"/>
                        </a:lnSpc>
                        <a:spcBef>
                          <a:spcPts val="0"/>
                        </a:spcBef>
                        <a:spcAft>
                          <a:spcPts val="0"/>
                        </a:spcAft>
                      </a:pPr>
                      <a:r>
                        <a:rPr sz="1175" b="1">
                          <a:solidFill>
                            <a:srgbClr val="176B70"/>
                          </a:solidFill>
                          <a:latin typeface="Arial"/>
                        </a:rPr>
                        <a:t>39.998</a:t>
                      </a:r>
                    </a:p>
                  </a:txBody>
                  <a:tcPr marL="100584" marR="54864" marT="9144" marB="9144" anchor="ctr">
                    <a:solidFill>
                      <a:srgbClr val="EFF7F7"/>
                    </a:solidFill>
                  </a:tcPr>
                </a:tc>
                <a:extLst>
                  <a:ext uri="{0D108BD9-81ED-4DB2-BD59-A6C34878D82A}">
                    <a16:rowId xmlns:a16="http://schemas.microsoft.com/office/drawing/2014/main" val="10003"/>
                  </a:ext>
                </a:extLst>
              </a:tr>
              <a:tr h="280720">
                <a:tc>
                  <a:txBody>
                    <a:bodyPr/>
                    <a:lstStyle/>
                    <a:p>
                      <a:pPr algn="l">
                        <a:lnSpc>
                          <a:spcPct val="100000"/>
                        </a:lnSpc>
                        <a:spcBef>
                          <a:spcPts val="0"/>
                        </a:spcBef>
                        <a:spcAft>
                          <a:spcPts val="0"/>
                        </a:spcAft>
                      </a:pPr>
                      <a:r>
                        <a:rPr sz="1165" b="0">
                          <a:solidFill>
                            <a:srgbClr val="26363B"/>
                          </a:solidFill>
                          <a:latin typeface="Arial"/>
                        </a:rPr>
                        <a:t>R² ajustado · Train [log]</a:t>
                      </a:r>
                    </a:p>
                  </a:txBody>
                  <a:tcPr marL="100584" marR="54864" marT="9144" marB="9144" anchor="ctr">
                    <a:solidFill>
                      <a:srgbClr val="F7F9FA"/>
                    </a:solidFill>
                  </a:tcPr>
                </a:tc>
                <a:tc>
                  <a:txBody>
                    <a:bodyPr/>
                    <a:lstStyle/>
                    <a:p>
                      <a:pPr algn="ctr">
                        <a:lnSpc>
                          <a:spcPct val="100000"/>
                        </a:lnSpc>
                        <a:spcBef>
                          <a:spcPts val="0"/>
                        </a:spcBef>
                        <a:spcAft>
                          <a:spcPts val="0"/>
                        </a:spcAft>
                      </a:pPr>
                      <a:r>
                        <a:rPr sz="1175" b="0">
                          <a:solidFill>
                            <a:srgbClr val="26363B"/>
                          </a:solidFill>
                          <a:latin typeface="Arial"/>
                        </a:rPr>
                        <a:t>0,955487</a:t>
                      </a:r>
                    </a:p>
                  </a:txBody>
                  <a:tcPr marL="100584" marR="54864" marT="9144" marB="9144" anchor="ctr">
                    <a:solidFill>
                      <a:srgbClr val="F7F9FA"/>
                    </a:solidFill>
                  </a:tcPr>
                </a:tc>
                <a:tc>
                  <a:txBody>
                    <a:bodyPr/>
                    <a:lstStyle/>
                    <a:p>
                      <a:pPr algn="ctr">
                        <a:lnSpc>
                          <a:spcPct val="100000"/>
                        </a:lnSpc>
                        <a:spcBef>
                          <a:spcPts val="0"/>
                        </a:spcBef>
                        <a:spcAft>
                          <a:spcPts val="0"/>
                        </a:spcAft>
                      </a:pPr>
                      <a:r>
                        <a:rPr sz="1175" b="0">
                          <a:solidFill>
                            <a:srgbClr val="26363B"/>
                          </a:solidFill>
                          <a:latin typeface="Arial"/>
                        </a:rPr>
                        <a:t>0,955228</a:t>
                      </a:r>
                    </a:p>
                  </a:txBody>
                  <a:tcPr marL="100584" marR="54864" marT="9144" marB="9144" anchor="ctr">
                    <a:solidFill>
                      <a:srgbClr val="F7F9FA"/>
                    </a:solidFill>
                  </a:tcPr>
                </a:tc>
                <a:tc>
                  <a:txBody>
                    <a:bodyPr/>
                    <a:lstStyle/>
                    <a:p>
                      <a:pPr algn="ctr">
                        <a:lnSpc>
                          <a:spcPct val="100000"/>
                        </a:lnSpc>
                        <a:spcBef>
                          <a:spcPts val="0"/>
                        </a:spcBef>
                        <a:spcAft>
                          <a:spcPts val="0"/>
                        </a:spcAft>
                      </a:pPr>
                      <a:r>
                        <a:rPr lang="es-AR" sz="1175" b="1" dirty="0">
                          <a:solidFill>
                            <a:srgbClr val="176B70"/>
                          </a:solidFill>
                          <a:latin typeface="Arial"/>
                        </a:rPr>
                        <a:t>n/d</a:t>
                      </a:r>
                      <a:endParaRPr sz="1175" b="1" dirty="0">
                        <a:solidFill>
                          <a:srgbClr val="176B70"/>
                        </a:solidFill>
                        <a:latin typeface="Arial"/>
                      </a:endParaRPr>
                    </a:p>
                  </a:txBody>
                  <a:tcPr marL="100584" marR="54864" marT="9144" marB="9144" anchor="ctr">
                    <a:solidFill>
                      <a:srgbClr val="EFF7F7"/>
                    </a:solidFill>
                  </a:tcPr>
                </a:tc>
                <a:extLst>
                  <a:ext uri="{0D108BD9-81ED-4DB2-BD59-A6C34878D82A}">
                    <a16:rowId xmlns:a16="http://schemas.microsoft.com/office/drawing/2014/main" val="10004"/>
                  </a:ext>
                </a:extLst>
              </a:tr>
              <a:tr h="280720">
                <a:tc>
                  <a:txBody>
                    <a:bodyPr/>
                    <a:lstStyle/>
                    <a:p>
                      <a:pPr algn="l">
                        <a:lnSpc>
                          <a:spcPct val="100000"/>
                        </a:lnSpc>
                        <a:spcBef>
                          <a:spcPts val="0"/>
                        </a:spcBef>
                        <a:spcAft>
                          <a:spcPts val="0"/>
                        </a:spcAft>
                      </a:pPr>
                      <a:r>
                        <a:rPr sz="1165" b="0">
                          <a:solidFill>
                            <a:srgbClr val="26363B"/>
                          </a:solidFill>
                          <a:latin typeface="Arial"/>
                        </a:rPr>
                        <a:t>MAE · Train [RUB]</a:t>
                      </a:r>
                    </a:p>
                  </a:txBody>
                  <a:tcPr marL="100584" marR="54864" marT="9144" marB="9144" anchor="ctr">
                    <a:solidFill>
                      <a:srgbClr val="FFFFFF"/>
                    </a:solidFill>
                  </a:tcPr>
                </a:tc>
                <a:tc>
                  <a:txBody>
                    <a:bodyPr/>
                    <a:lstStyle/>
                    <a:p>
                      <a:pPr algn="ctr">
                        <a:lnSpc>
                          <a:spcPct val="100000"/>
                        </a:lnSpc>
                        <a:spcBef>
                          <a:spcPts val="0"/>
                        </a:spcBef>
                        <a:spcAft>
                          <a:spcPts val="0"/>
                        </a:spcAft>
                      </a:pPr>
                      <a:r>
                        <a:rPr sz="1175" b="0">
                          <a:solidFill>
                            <a:srgbClr val="26363B"/>
                          </a:solidFill>
                          <a:latin typeface="Arial"/>
                        </a:rPr>
                        <a:t>1.093.409</a:t>
                      </a:r>
                    </a:p>
                  </a:txBody>
                  <a:tcPr marL="100584" marR="54864" marT="9144" marB="9144" anchor="ctr">
                    <a:solidFill>
                      <a:srgbClr val="FFFFFF"/>
                    </a:solidFill>
                  </a:tcPr>
                </a:tc>
                <a:tc>
                  <a:txBody>
                    <a:bodyPr/>
                    <a:lstStyle/>
                    <a:p>
                      <a:pPr algn="ctr">
                        <a:lnSpc>
                          <a:spcPct val="100000"/>
                        </a:lnSpc>
                        <a:spcBef>
                          <a:spcPts val="0"/>
                        </a:spcBef>
                        <a:spcAft>
                          <a:spcPts val="0"/>
                        </a:spcAft>
                      </a:pPr>
                      <a:r>
                        <a:rPr sz="1175" b="0">
                          <a:solidFill>
                            <a:srgbClr val="26363B"/>
                          </a:solidFill>
                          <a:latin typeface="Arial"/>
                        </a:rPr>
                        <a:t>1.096.985</a:t>
                      </a:r>
                    </a:p>
                  </a:txBody>
                  <a:tcPr marL="100584" marR="54864" marT="9144" marB="9144" anchor="ctr">
                    <a:solidFill>
                      <a:srgbClr val="FFFFFF"/>
                    </a:solidFill>
                  </a:tcPr>
                </a:tc>
                <a:tc>
                  <a:txBody>
                    <a:bodyPr/>
                    <a:lstStyle/>
                    <a:p>
                      <a:pPr algn="ctr">
                        <a:lnSpc>
                          <a:spcPct val="100000"/>
                        </a:lnSpc>
                        <a:spcBef>
                          <a:spcPts val="0"/>
                        </a:spcBef>
                        <a:spcAft>
                          <a:spcPts val="0"/>
                        </a:spcAft>
                      </a:pPr>
                      <a:r>
                        <a:rPr sz="1175" b="1" dirty="0">
                          <a:solidFill>
                            <a:srgbClr val="176B70"/>
                          </a:solidFill>
                          <a:latin typeface="Arial"/>
                        </a:rPr>
                        <a:t>n</a:t>
                      </a:r>
                      <a:r>
                        <a:rPr lang="es-AR" sz="1175" b="1" dirty="0">
                          <a:solidFill>
                            <a:srgbClr val="176B70"/>
                          </a:solidFill>
                          <a:latin typeface="Arial"/>
                        </a:rPr>
                        <a:t>/d</a:t>
                      </a:r>
                      <a:endParaRPr sz="1175" b="1" dirty="0">
                        <a:solidFill>
                          <a:srgbClr val="176B70"/>
                        </a:solidFill>
                        <a:latin typeface="Arial"/>
                      </a:endParaRPr>
                    </a:p>
                  </a:txBody>
                  <a:tcPr marL="100584" marR="54864" marT="9144" marB="9144" anchor="ctr">
                    <a:solidFill>
                      <a:srgbClr val="EFF7F7"/>
                    </a:solidFill>
                  </a:tcPr>
                </a:tc>
                <a:extLst>
                  <a:ext uri="{0D108BD9-81ED-4DB2-BD59-A6C34878D82A}">
                    <a16:rowId xmlns:a16="http://schemas.microsoft.com/office/drawing/2014/main" val="10005"/>
                  </a:ext>
                </a:extLst>
              </a:tr>
              <a:tr h="280720">
                <a:tc>
                  <a:txBody>
                    <a:bodyPr/>
                    <a:lstStyle/>
                    <a:p>
                      <a:pPr algn="l">
                        <a:lnSpc>
                          <a:spcPct val="100000"/>
                        </a:lnSpc>
                        <a:spcBef>
                          <a:spcPts val="0"/>
                        </a:spcBef>
                        <a:spcAft>
                          <a:spcPts val="0"/>
                        </a:spcAft>
                      </a:pPr>
                      <a:r>
                        <a:rPr sz="1165" b="0">
                          <a:solidFill>
                            <a:srgbClr val="26363B"/>
                          </a:solidFill>
                          <a:latin typeface="Arial"/>
                        </a:rPr>
                        <a:t>RMSE · Train [RUB]</a:t>
                      </a:r>
                    </a:p>
                  </a:txBody>
                  <a:tcPr marL="100584" marR="54864" marT="9144" marB="9144" anchor="ctr">
                    <a:solidFill>
                      <a:srgbClr val="F7F9FA"/>
                    </a:solidFill>
                  </a:tcPr>
                </a:tc>
                <a:tc>
                  <a:txBody>
                    <a:bodyPr/>
                    <a:lstStyle/>
                    <a:p>
                      <a:pPr algn="ctr">
                        <a:lnSpc>
                          <a:spcPct val="100000"/>
                        </a:lnSpc>
                        <a:spcBef>
                          <a:spcPts val="0"/>
                        </a:spcBef>
                        <a:spcAft>
                          <a:spcPts val="0"/>
                        </a:spcAft>
                      </a:pPr>
                      <a:r>
                        <a:rPr sz="1175" b="0">
                          <a:solidFill>
                            <a:srgbClr val="26363B"/>
                          </a:solidFill>
                          <a:latin typeface="Arial"/>
                        </a:rPr>
                        <a:t>1.575.798</a:t>
                      </a:r>
                    </a:p>
                  </a:txBody>
                  <a:tcPr marL="100584" marR="54864" marT="9144" marB="9144" anchor="ctr">
                    <a:solidFill>
                      <a:srgbClr val="F7F9FA"/>
                    </a:solidFill>
                  </a:tcPr>
                </a:tc>
                <a:tc>
                  <a:txBody>
                    <a:bodyPr/>
                    <a:lstStyle/>
                    <a:p>
                      <a:pPr algn="ctr">
                        <a:lnSpc>
                          <a:spcPct val="100000"/>
                        </a:lnSpc>
                        <a:spcBef>
                          <a:spcPts val="0"/>
                        </a:spcBef>
                        <a:spcAft>
                          <a:spcPts val="0"/>
                        </a:spcAft>
                      </a:pPr>
                      <a:r>
                        <a:rPr sz="1175" b="0">
                          <a:solidFill>
                            <a:srgbClr val="26363B"/>
                          </a:solidFill>
                          <a:latin typeface="Arial"/>
                        </a:rPr>
                        <a:t>1.581.589</a:t>
                      </a:r>
                    </a:p>
                  </a:txBody>
                  <a:tcPr marL="100584" marR="54864" marT="9144" marB="9144" anchor="ctr">
                    <a:solidFill>
                      <a:srgbClr val="F7F9FA"/>
                    </a:solidFill>
                  </a:tcPr>
                </a:tc>
                <a:tc>
                  <a:txBody>
                    <a:bodyPr/>
                    <a:lstStyle/>
                    <a:p>
                      <a:pPr algn="ctr">
                        <a:lnSpc>
                          <a:spcPct val="100000"/>
                        </a:lnSpc>
                        <a:spcBef>
                          <a:spcPts val="0"/>
                        </a:spcBef>
                        <a:spcAft>
                          <a:spcPts val="0"/>
                        </a:spcAft>
                      </a:pPr>
                      <a:r>
                        <a:rPr lang="en-US" sz="1175" b="1" dirty="0">
                          <a:solidFill>
                            <a:srgbClr val="176B70"/>
                          </a:solidFill>
                          <a:latin typeface="Arial"/>
                        </a:rPr>
                        <a:t>n/d</a:t>
                      </a:r>
                      <a:endParaRPr sz="1175" b="1" dirty="0">
                        <a:solidFill>
                          <a:srgbClr val="176B70"/>
                        </a:solidFill>
                        <a:latin typeface="Arial"/>
                      </a:endParaRPr>
                    </a:p>
                  </a:txBody>
                  <a:tcPr marL="100584" marR="54864" marT="9144" marB="9144" anchor="ctr">
                    <a:solidFill>
                      <a:srgbClr val="EFF7F7"/>
                    </a:solidFill>
                  </a:tcPr>
                </a:tc>
                <a:extLst>
                  <a:ext uri="{0D108BD9-81ED-4DB2-BD59-A6C34878D82A}">
                    <a16:rowId xmlns:a16="http://schemas.microsoft.com/office/drawing/2014/main" val="10006"/>
                  </a:ext>
                </a:extLst>
              </a:tr>
              <a:tr h="280720">
                <a:tc>
                  <a:txBody>
                    <a:bodyPr/>
                    <a:lstStyle/>
                    <a:p>
                      <a:pPr algn="l">
                        <a:lnSpc>
                          <a:spcPct val="100000"/>
                        </a:lnSpc>
                        <a:spcBef>
                          <a:spcPts val="0"/>
                        </a:spcBef>
                        <a:spcAft>
                          <a:spcPts val="0"/>
                        </a:spcAft>
                      </a:pPr>
                      <a:r>
                        <a:rPr sz="1165" b="0">
                          <a:solidFill>
                            <a:srgbClr val="26363B"/>
                          </a:solidFill>
                          <a:latin typeface="Arial"/>
                        </a:rPr>
                        <a:t>AIC · Train [log]</a:t>
                      </a:r>
                    </a:p>
                  </a:txBody>
                  <a:tcPr marL="100584" marR="54864" marT="9144" marB="9144" anchor="ctr">
                    <a:solidFill>
                      <a:srgbClr val="FFFFFF"/>
                    </a:solidFill>
                  </a:tcPr>
                </a:tc>
                <a:tc>
                  <a:txBody>
                    <a:bodyPr/>
                    <a:lstStyle/>
                    <a:p>
                      <a:pPr algn="ctr">
                        <a:lnSpc>
                          <a:spcPct val="100000"/>
                        </a:lnSpc>
                        <a:spcBef>
                          <a:spcPts val="0"/>
                        </a:spcBef>
                        <a:spcAft>
                          <a:spcPts val="0"/>
                        </a:spcAft>
                      </a:pPr>
                      <a:r>
                        <a:rPr sz="1175" b="0">
                          <a:solidFill>
                            <a:srgbClr val="26363B"/>
                          </a:solidFill>
                          <a:latin typeface="Arial"/>
                        </a:rPr>
                        <a:t>−54.582</a:t>
                      </a:r>
                    </a:p>
                  </a:txBody>
                  <a:tcPr marL="100584" marR="54864" marT="9144" marB="9144" anchor="ctr">
                    <a:solidFill>
                      <a:srgbClr val="FFFFFF"/>
                    </a:solidFill>
                  </a:tcPr>
                </a:tc>
                <a:tc>
                  <a:txBody>
                    <a:bodyPr/>
                    <a:lstStyle/>
                    <a:p>
                      <a:pPr algn="ctr">
                        <a:lnSpc>
                          <a:spcPct val="100000"/>
                        </a:lnSpc>
                        <a:spcBef>
                          <a:spcPts val="0"/>
                        </a:spcBef>
                        <a:spcAft>
                          <a:spcPts val="0"/>
                        </a:spcAft>
                      </a:pPr>
                      <a:r>
                        <a:rPr sz="1175" b="0">
                          <a:solidFill>
                            <a:srgbClr val="26363B"/>
                          </a:solidFill>
                          <a:latin typeface="Arial"/>
                        </a:rPr>
                        <a:t>−54.394</a:t>
                      </a:r>
                    </a:p>
                  </a:txBody>
                  <a:tcPr marL="100584" marR="54864" marT="9144" marB="9144" anchor="ctr">
                    <a:solidFill>
                      <a:srgbClr val="FFFFFF"/>
                    </a:solidFill>
                  </a:tcPr>
                </a:tc>
                <a:tc>
                  <a:txBody>
                    <a:bodyPr/>
                    <a:lstStyle/>
                    <a:p>
                      <a:pPr algn="ctr">
                        <a:lnSpc>
                          <a:spcPct val="100000"/>
                        </a:lnSpc>
                        <a:spcBef>
                          <a:spcPts val="0"/>
                        </a:spcBef>
                        <a:spcAft>
                          <a:spcPts val="0"/>
                        </a:spcAft>
                      </a:pPr>
                      <a:r>
                        <a:rPr sz="1175" b="1" dirty="0">
                          <a:solidFill>
                            <a:srgbClr val="176B70"/>
                          </a:solidFill>
                          <a:latin typeface="Arial"/>
                        </a:rPr>
                        <a:t>n/d</a:t>
                      </a:r>
                    </a:p>
                  </a:txBody>
                  <a:tcPr marL="100584" marR="54864" marT="9144" marB="9144" anchor="ctr">
                    <a:solidFill>
                      <a:srgbClr val="EFF7F7"/>
                    </a:solidFill>
                  </a:tcPr>
                </a:tc>
                <a:extLst>
                  <a:ext uri="{0D108BD9-81ED-4DB2-BD59-A6C34878D82A}">
                    <a16:rowId xmlns:a16="http://schemas.microsoft.com/office/drawing/2014/main" val="10007"/>
                  </a:ext>
                </a:extLst>
              </a:tr>
              <a:tr h="280720">
                <a:tc>
                  <a:txBody>
                    <a:bodyPr/>
                    <a:lstStyle/>
                    <a:p>
                      <a:pPr algn="l">
                        <a:lnSpc>
                          <a:spcPct val="100000"/>
                        </a:lnSpc>
                        <a:spcBef>
                          <a:spcPts val="0"/>
                        </a:spcBef>
                        <a:spcAft>
                          <a:spcPts val="0"/>
                        </a:spcAft>
                      </a:pPr>
                      <a:r>
                        <a:rPr sz="1165" b="0">
                          <a:solidFill>
                            <a:srgbClr val="26363B"/>
                          </a:solidFill>
                          <a:latin typeface="Arial"/>
                        </a:rPr>
                        <a:t>BIC · Train [log]</a:t>
                      </a:r>
                    </a:p>
                  </a:txBody>
                  <a:tcPr marL="100584" marR="54864" marT="9144" marB="9144" anchor="ctr">
                    <a:solidFill>
                      <a:srgbClr val="F7F9FA"/>
                    </a:solidFill>
                  </a:tcPr>
                </a:tc>
                <a:tc>
                  <a:txBody>
                    <a:bodyPr/>
                    <a:lstStyle/>
                    <a:p>
                      <a:pPr algn="ctr">
                        <a:lnSpc>
                          <a:spcPct val="100000"/>
                        </a:lnSpc>
                        <a:spcBef>
                          <a:spcPts val="0"/>
                        </a:spcBef>
                        <a:spcAft>
                          <a:spcPts val="0"/>
                        </a:spcAft>
                      </a:pPr>
                      <a:r>
                        <a:rPr sz="1175" b="0">
                          <a:solidFill>
                            <a:srgbClr val="26363B"/>
                          </a:solidFill>
                          <a:latin typeface="Arial"/>
                        </a:rPr>
                        <a:t>−53.061</a:t>
                      </a:r>
                    </a:p>
                  </a:txBody>
                  <a:tcPr marL="100584" marR="54864" marT="9144" marB="9144" anchor="ctr">
                    <a:solidFill>
                      <a:srgbClr val="F7F9FA"/>
                    </a:solidFill>
                  </a:tcPr>
                </a:tc>
                <a:tc>
                  <a:txBody>
                    <a:bodyPr/>
                    <a:lstStyle/>
                    <a:p>
                      <a:pPr algn="ctr">
                        <a:lnSpc>
                          <a:spcPct val="100000"/>
                        </a:lnSpc>
                        <a:spcBef>
                          <a:spcPts val="0"/>
                        </a:spcBef>
                        <a:spcAft>
                          <a:spcPts val="0"/>
                        </a:spcAft>
                      </a:pPr>
                      <a:r>
                        <a:rPr sz="1175" b="0">
                          <a:solidFill>
                            <a:srgbClr val="26363B"/>
                          </a:solidFill>
                          <a:latin typeface="Arial"/>
                        </a:rPr>
                        <a:t>−53.146</a:t>
                      </a:r>
                    </a:p>
                  </a:txBody>
                  <a:tcPr marL="100584" marR="54864" marT="9144" marB="9144" anchor="ctr">
                    <a:solidFill>
                      <a:srgbClr val="F7F9FA"/>
                    </a:solidFill>
                  </a:tcPr>
                </a:tc>
                <a:tc>
                  <a:txBody>
                    <a:bodyPr/>
                    <a:lstStyle/>
                    <a:p>
                      <a:pPr algn="ctr">
                        <a:lnSpc>
                          <a:spcPct val="100000"/>
                        </a:lnSpc>
                        <a:spcBef>
                          <a:spcPts val="0"/>
                        </a:spcBef>
                        <a:spcAft>
                          <a:spcPts val="0"/>
                        </a:spcAft>
                      </a:pPr>
                      <a:r>
                        <a:rPr sz="1175" b="1">
                          <a:solidFill>
                            <a:srgbClr val="176B70"/>
                          </a:solidFill>
                          <a:latin typeface="Arial"/>
                        </a:rPr>
                        <a:t>n/d</a:t>
                      </a:r>
                    </a:p>
                  </a:txBody>
                  <a:tcPr marL="100584" marR="54864" marT="9144" marB="9144" anchor="ctr">
                    <a:solidFill>
                      <a:srgbClr val="EFF7F7"/>
                    </a:solidFill>
                  </a:tcPr>
                </a:tc>
                <a:extLst>
                  <a:ext uri="{0D108BD9-81ED-4DB2-BD59-A6C34878D82A}">
                    <a16:rowId xmlns:a16="http://schemas.microsoft.com/office/drawing/2014/main" val="10008"/>
                  </a:ext>
                </a:extLst>
              </a:tr>
              <a:tr h="280720">
                <a:tc>
                  <a:txBody>
                    <a:bodyPr/>
                    <a:lstStyle/>
                    <a:p>
                      <a:pPr algn="l">
                        <a:lnSpc>
                          <a:spcPct val="100000"/>
                        </a:lnSpc>
                        <a:spcBef>
                          <a:spcPts val="0"/>
                        </a:spcBef>
                        <a:spcAft>
                          <a:spcPts val="0"/>
                        </a:spcAft>
                      </a:pPr>
                      <a:r>
                        <a:rPr sz="1165" b="0">
                          <a:solidFill>
                            <a:srgbClr val="26363B"/>
                          </a:solidFill>
                          <a:latin typeface="Arial"/>
                        </a:rPr>
                        <a:t>VIF máximo / condición</a:t>
                      </a:r>
                    </a:p>
                  </a:txBody>
                  <a:tcPr marL="100584" marR="54864" marT="9144" marB="9144" anchor="ctr">
                    <a:solidFill>
                      <a:srgbClr val="FFFFFF"/>
                    </a:solidFill>
                  </a:tcPr>
                </a:tc>
                <a:tc>
                  <a:txBody>
                    <a:bodyPr/>
                    <a:lstStyle/>
                    <a:p>
                      <a:pPr algn="ctr">
                        <a:lnSpc>
                          <a:spcPct val="100000"/>
                        </a:lnSpc>
                        <a:spcBef>
                          <a:spcPts val="0"/>
                        </a:spcBef>
                        <a:spcAft>
                          <a:spcPts val="0"/>
                        </a:spcAft>
                      </a:pPr>
                      <a:r>
                        <a:rPr sz="1175" b="0">
                          <a:solidFill>
                            <a:srgbClr val="26363B"/>
                          </a:solidFill>
                          <a:latin typeface="Arial"/>
                        </a:rPr>
                        <a:t>102,584 / 19.159</a:t>
                      </a:r>
                    </a:p>
                  </a:txBody>
                  <a:tcPr marL="100584" marR="54864" marT="9144" marB="9144" anchor="ctr">
                    <a:solidFill>
                      <a:srgbClr val="FFFFFF"/>
                    </a:solidFill>
                  </a:tcPr>
                </a:tc>
                <a:tc>
                  <a:txBody>
                    <a:bodyPr/>
                    <a:lstStyle/>
                    <a:p>
                      <a:pPr algn="ctr">
                        <a:lnSpc>
                          <a:spcPct val="100000"/>
                        </a:lnSpc>
                        <a:spcBef>
                          <a:spcPts val="0"/>
                        </a:spcBef>
                        <a:spcAft>
                          <a:spcPts val="0"/>
                        </a:spcAft>
                      </a:pPr>
                      <a:r>
                        <a:rPr sz="1175" b="0">
                          <a:solidFill>
                            <a:srgbClr val="26363B"/>
                          </a:solidFill>
                          <a:latin typeface="Arial"/>
                        </a:rPr>
                        <a:t>102,537 / 17.434</a:t>
                      </a:r>
                    </a:p>
                  </a:txBody>
                  <a:tcPr marL="100584" marR="54864" marT="9144" marB="9144" anchor="ctr">
                    <a:solidFill>
                      <a:srgbClr val="FFFFFF"/>
                    </a:solidFill>
                  </a:tcPr>
                </a:tc>
                <a:tc>
                  <a:txBody>
                    <a:bodyPr/>
                    <a:lstStyle/>
                    <a:p>
                      <a:pPr algn="ctr">
                        <a:lnSpc>
                          <a:spcPct val="100000"/>
                        </a:lnSpc>
                        <a:spcBef>
                          <a:spcPts val="0"/>
                        </a:spcBef>
                        <a:spcAft>
                          <a:spcPts val="0"/>
                        </a:spcAft>
                      </a:pPr>
                      <a:r>
                        <a:rPr lang="en-US" sz="1175" b="1" dirty="0">
                          <a:solidFill>
                            <a:srgbClr val="176B70"/>
                          </a:solidFill>
                          <a:latin typeface="Arial"/>
                        </a:rPr>
                        <a:t>2.141</a:t>
                      </a:r>
                      <a:endParaRPr sz="1175" b="1" dirty="0">
                        <a:solidFill>
                          <a:srgbClr val="176B70"/>
                        </a:solidFill>
                        <a:latin typeface="Arial"/>
                      </a:endParaRPr>
                    </a:p>
                  </a:txBody>
                  <a:tcPr marL="100584" marR="54864" marT="9144" marB="9144" anchor="ctr">
                    <a:solidFill>
                      <a:srgbClr val="EFF7F7"/>
                    </a:solidFill>
                  </a:tcPr>
                </a:tc>
                <a:extLst>
                  <a:ext uri="{0D108BD9-81ED-4DB2-BD59-A6C34878D82A}">
                    <a16:rowId xmlns:a16="http://schemas.microsoft.com/office/drawing/2014/main" val="10009"/>
                  </a:ext>
                </a:extLst>
              </a:tr>
              <a:tr h="280720">
                <a:tc>
                  <a:txBody>
                    <a:bodyPr/>
                    <a:lstStyle/>
                    <a:p>
                      <a:pPr algn="l">
                        <a:lnSpc>
                          <a:spcPct val="100000"/>
                        </a:lnSpc>
                        <a:spcBef>
                          <a:spcPts val="0"/>
                        </a:spcBef>
                        <a:spcAft>
                          <a:spcPts val="0"/>
                        </a:spcAft>
                      </a:pPr>
                      <a:r>
                        <a:rPr sz="1165" b="0">
                          <a:solidFill>
                            <a:srgbClr val="26363B"/>
                          </a:solidFill>
                          <a:latin typeface="Arial"/>
                        </a:rPr>
                        <a:t>Breusch–Pagan · p [log]</a:t>
                      </a:r>
                    </a:p>
                  </a:txBody>
                  <a:tcPr marL="100584" marR="54864" marT="9144" marB="9144" anchor="ctr">
                    <a:solidFill>
                      <a:srgbClr val="F7F9FA"/>
                    </a:solidFill>
                  </a:tcPr>
                </a:tc>
                <a:tc>
                  <a:txBody>
                    <a:bodyPr/>
                    <a:lstStyle/>
                    <a:p>
                      <a:pPr algn="ctr">
                        <a:lnSpc>
                          <a:spcPct val="100000"/>
                        </a:lnSpc>
                        <a:spcBef>
                          <a:spcPts val="0"/>
                        </a:spcBef>
                        <a:spcAft>
                          <a:spcPts val="0"/>
                        </a:spcAft>
                      </a:pPr>
                      <a:r>
                        <a:rPr sz="1120" b="0">
                          <a:solidFill>
                            <a:srgbClr val="26363B"/>
                          </a:solidFill>
                          <a:latin typeface="Arial"/>
                        </a:rPr>
                        <a:t>1,20 × 10⁻¹⁵⁰</a:t>
                      </a:r>
                    </a:p>
                  </a:txBody>
                  <a:tcPr marL="100584" marR="54864" marT="9144" marB="9144" anchor="ctr">
                    <a:solidFill>
                      <a:srgbClr val="F7F9FA"/>
                    </a:solidFill>
                  </a:tcPr>
                </a:tc>
                <a:tc>
                  <a:txBody>
                    <a:bodyPr/>
                    <a:lstStyle/>
                    <a:p>
                      <a:pPr algn="ctr">
                        <a:lnSpc>
                          <a:spcPct val="100000"/>
                        </a:lnSpc>
                        <a:spcBef>
                          <a:spcPts val="0"/>
                        </a:spcBef>
                        <a:spcAft>
                          <a:spcPts val="0"/>
                        </a:spcAft>
                      </a:pPr>
                      <a:r>
                        <a:rPr sz="1120" b="0">
                          <a:solidFill>
                            <a:srgbClr val="26363B"/>
                          </a:solidFill>
                          <a:latin typeface="Arial"/>
                        </a:rPr>
                        <a:t>3,72 × 10⁻¹¹⁷</a:t>
                      </a:r>
                    </a:p>
                  </a:txBody>
                  <a:tcPr marL="100584" marR="54864" marT="9144" marB="9144" anchor="ctr">
                    <a:solidFill>
                      <a:srgbClr val="F7F9FA"/>
                    </a:solidFill>
                  </a:tcPr>
                </a:tc>
                <a:tc>
                  <a:txBody>
                    <a:bodyPr/>
                    <a:lstStyle/>
                    <a:p>
                      <a:pPr algn="ctr">
                        <a:lnSpc>
                          <a:spcPct val="100000"/>
                        </a:lnSpc>
                        <a:spcBef>
                          <a:spcPts val="0"/>
                        </a:spcBef>
                        <a:spcAft>
                          <a:spcPts val="0"/>
                        </a:spcAft>
                      </a:pPr>
                      <a:r>
                        <a:rPr sz="1120" b="1">
                          <a:solidFill>
                            <a:srgbClr val="176B70"/>
                          </a:solidFill>
                          <a:latin typeface="Arial"/>
                        </a:rPr>
                        <a:t>2,00 × 10⁻²²⁹</a:t>
                      </a:r>
                    </a:p>
                  </a:txBody>
                  <a:tcPr marL="100584" marR="54864" marT="9144" marB="9144" anchor="ctr">
                    <a:solidFill>
                      <a:srgbClr val="EFF7F7"/>
                    </a:solidFill>
                  </a:tcPr>
                </a:tc>
                <a:extLst>
                  <a:ext uri="{0D108BD9-81ED-4DB2-BD59-A6C34878D82A}">
                    <a16:rowId xmlns:a16="http://schemas.microsoft.com/office/drawing/2014/main" val="10010"/>
                  </a:ext>
                </a:extLst>
              </a:tr>
              <a:tr h="280720">
                <a:tc>
                  <a:txBody>
                    <a:bodyPr/>
                    <a:lstStyle/>
                    <a:p>
                      <a:pPr algn="l">
                        <a:lnSpc>
                          <a:spcPct val="100000"/>
                        </a:lnSpc>
                        <a:spcBef>
                          <a:spcPts val="0"/>
                        </a:spcBef>
                        <a:spcAft>
                          <a:spcPts val="0"/>
                        </a:spcAft>
                      </a:pPr>
                      <a:r>
                        <a:rPr sz="1165" b="0">
                          <a:solidFill>
                            <a:srgbClr val="26363B"/>
                          </a:solidFill>
                          <a:latin typeface="Arial"/>
                        </a:rPr>
                        <a:t>Jarque–Bera · p [log]</a:t>
                      </a:r>
                    </a:p>
                  </a:txBody>
                  <a:tcPr marL="100584" marR="54864" marT="9144" marB="9144" anchor="ctr">
                    <a:solidFill>
                      <a:srgbClr val="FFFFFF"/>
                    </a:solidFill>
                  </a:tcPr>
                </a:tc>
                <a:tc>
                  <a:txBody>
                    <a:bodyPr/>
                    <a:lstStyle/>
                    <a:p>
                      <a:pPr algn="ctr">
                        <a:lnSpc>
                          <a:spcPct val="100000"/>
                        </a:lnSpc>
                        <a:spcBef>
                          <a:spcPts val="0"/>
                        </a:spcBef>
                        <a:spcAft>
                          <a:spcPts val="0"/>
                        </a:spcAft>
                      </a:pPr>
                      <a:r>
                        <a:rPr sz="1120" b="0">
                          <a:solidFill>
                            <a:srgbClr val="26363B"/>
                          </a:solidFill>
                          <a:latin typeface="Arial"/>
                        </a:rPr>
                        <a:t>1,39 × 10⁻⁴⁰</a:t>
                      </a:r>
                    </a:p>
                  </a:txBody>
                  <a:tcPr marL="100584" marR="54864" marT="9144" marB="9144" anchor="ctr">
                    <a:solidFill>
                      <a:srgbClr val="FFFFFF"/>
                    </a:solidFill>
                  </a:tcPr>
                </a:tc>
                <a:tc>
                  <a:txBody>
                    <a:bodyPr/>
                    <a:lstStyle/>
                    <a:p>
                      <a:pPr algn="ctr">
                        <a:lnSpc>
                          <a:spcPct val="100000"/>
                        </a:lnSpc>
                        <a:spcBef>
                          <a:spcPts val="0"/>
                        </a:spcBef>
                        <a:spcAft>
                          <a:spcPts val="0"/>
                        </a:spcAft>
                      </a:pPr>
                      <a:r>
                        <a:rPr sz="1120" b="0">
                          <a:solidFill>
                            <a:srgbClr val="26363B"/>
                          </a:solidFill>
                          <a:latin typeface="Arial"/>
                        </a:rPr>
                        <a:t>1,25 × 10⁻⁴²</a:t>
                      </a:r>
                    </a:p>
                  </a:txBody>
                  <a:tcPr marL="100584" marR="54864" marT="9144" marB="9144" anchor="ctr">
                    <a:solidFill>
                      <a:srgbClr val="FFFFFF"/>
                    </a:solidFill>
                  </a:tcPr>
                </a:tc>
                <a:tc>
                  <a:txBody>
                    <a:bodyPr/>
                    <a:lstStyle/>
                    <a:p>
                      <a:pPr algn="ctr">
                        <a:lnSpc>
                          <a:spcPct val="100000"/>
                        </a:lnSpc>
                        <a:spcBef>
                          <a:spcPts val="0"/>
                        </a:spcBef>
                        <a:spcAft>
                          <a:spcPts val="0"/>
                        </a:spcAft>
                      </a:pPr>
                      <a:r>
                        <a:rPr sz="1120" b="1">
                          <a:solidFill>
                            <a:srgbClr val="176B70"/>
                          </a:solidFill>
                          <a:latin typeface="Arial"/>
                        </a:rPr>
                        <a:t>1,61 × 10⁻⁷⁶</a:t>
                      </a:r>
                    </a:p>
                  </a:txBody>
                  <a:tcPr marL="100584" marR="54864" marT="9144" marB="9144" anchor="ctr">
                    <a:solidFill>
                      <a:srgbClr val="EFF7F7"/>
                    </a:solidFill>
                  </a:tcPr>
                </a:tc>
                <a:extLst>
                  <a:ext uri="{0D108BD9-81ED-4DB2-BD59-A6C34878D82A}">
                    <a16:rowId xmlns:a16="http://schemas.microsoft.com/office/drawing/2014/main" val="10011"/>
                  </a:ext>
                </a:extLst>
              </a:tr>
              <a:tr h="280720">
                <a:tc>
                  <a:txBody>
                    <a:bodyPr/>
                    <a:lstStyle/>
                    <a:p>
                      <a:pPr algn="l">
                        <a:lnSpc>
                          <a:spcPct val="100000"/>
                        </a:lnSpc>
                        <a:spcBef>
                          <a:spcPts val="0"/>
                        </a:spcBef>
                        <a:spcAft>
                          <a:spcPts val="0"/>
                        </a:spcAft>
                      </a:pPr>
                      <a:r>
                        <a:rPr sz="1165" b="0">
                          <a:solidFill>
                            <a:srgbClr val="26363B"/>
                          </a:solidFill>
                          <a:latin typeface="Arial"/>
                        </a:rPr>
                        <a:t>RMSE · validación interna [RUB]</a:t>
                      </a:r>
                    </a:p>
                  </a:txBody>
                  <a:tcPr marL="100584" marR="54864" marT="9144" marB="9144" anchor="ctr">
                    <a:solidFill>
                      <a:srgbClr val="F7F9FA"/>
                    </a:solidFill>
                  </a:tcPr>
                </a:tc>
                <a:tc>
                  <a:txBody>
                    <a:bodyPr/>
                    <a:lstStyle/>
                    <a:p>
                      <a:pPr algn="ctr">
                        <a:lnSpc>
                          <a:spcPct val="100000"/>
                        </a:lnSpc>
                        <a:spcBef>
                          <a:spcPts val="0"/>
                        </a:spcBef>
                        <a:spcAft>
                          <a:spcPts val="0"/>
                        </a:spcAft>
                      </a:pPr>
                      <a:r>
                        <a:rPr sz="1175" b="0">
                          <a:solidFill>
                            <a:srgbClr val="26363B"/>
                          </a:solidFill>
                          <a:latin typeface="Arial"/>
                        </a:rPr>
                        <a:t>—</a:t>
                      </a:r>
                    </a:p>
                  </a:txBody>
                  <a:tcPr marL="100584" marR="54864" marT="9144" marB="9144" anchor="ctr">
                    <a:solidFill>
                      <a:srgbClr val="F7F9FA"/>
                    </a:solidFill>
                  </a:tcPr>
                </a:tc>
                <a:tc>
                  <a:txBody>
                    <a:bodyPr/>
                    <a:lstStyle/>
                    <a:p>
                      <a:pPr algn="ctr">
                        <a:lnSpc>
                          <a:spcPct val="100000"/>
                        </a:lnSpc>
                        <a:spcBef>
                          <a:spcPts val="0"/>
                        </a:spcBef>
                        <a:spcAft>
                          <a:spcPts val="0"/>
                        </a:spcAft>
                      </a:pPr>
                      <a:r>
                        <a:rPr sz="1175" b="0">
                          <a:solidFill>
                            <a:srgbClr val="26363B"/>
                          </a:solidFill>
                          <a:latin typeface="Arial"/>
                        </a:rPr>
                        <a:t>1.581.085</a:t>
                      </a:r>
                    </a:p>
                  </a:txBody>
                  <a:tcPr marL="100584" marR="54864" marT="9144" marB="9144" anchor="ctr">
                    <a:solidFill>
                      <a:srgbClr val="F7F9FA"/>
                    </a:solidFill>
                  </a:tcPr>
                </a:tc>
                <a:tc>
                  <a:txBody>
                    <a:bodyPr/>
                    <a:lstStyle/>
                    <a:p>
                      <a:pPr algn="ctr">
                        <a:lnSpc>
                          <a:spcPct val="100000"/>
                        </a:lnSpc>
                        <a:spcBef>
                          <a:spcPts val="0"/>
                        </a:spcBef>
                        <a:spcAft>
                          <a:spcPts val="0"/>
                        </a:spcAft>
                      </a:pPr>
                      <a:r>
                        <a:rPr sz="1175" b="1">
                          <a:solidFill>
                            <a:srgbClr val="176B70"/>
                          </a:solidFill>
                          <a:latin typeface="Arial"/>
                        </a:rPr>
                        <a:t>—</a:t>
                      </a:r>
                    </a:p>
                  </a:txBody>
                  <a:tcPr marL="100584" marR="54864" marT="9144" marB="9144" anchor="ctr">
                    <a:solidFill>
                      <a:srgbClr val="EFF7F7"/>
                    </a:solidFill>
                  </a:tcPr>
                </a:tc>
                <a:extLst>
                  <a:ext uri="{0D108BD9-81ED-4DB2-BD59-A6C34878D82A}">
                    <a16:rowId xmlns:a16="http://schemas.microsoft.com/office/drawing/2014/main" val="10012"/>
                  </a:ext>
                </a:extLst>
              </a:tr>
              <a:tr h="280720">
                <a:tc>
                  <a:txBody>
                    <a:bodyPr/>
                    <a:lstStyle/>
                    <a:p>
                      <a:pPr algn="l">
                        <a:lnSpc>
                          <a:spcPct val="100000"/>
                        </a:lnSpc>
                        <a:spcBef>
                          <a:spcPts val="0"/>
                        </a:spcBef>
                        <a:spcAft>
                          <a:spcPts val="0"/>
                        </a:spcAft>
                      </a:pPr>
                      <a:r>
                        <a:rPr sz="1165" b="0">
                          <a:solidFill>
                            <a:srgbClr val="26363B"/>
                          </a:solidFill>
                          <a:latin typeface="Arial"/>
                        </a:rPr>
                        <a:t>RMSE · validación temporal [RUB]¹</a:t>
                      </a:r>
                    </a:p>
                  </a:txBody>
                  <a:tcPr marL="100584" marR="54864" marT="9144" marB="9144" anchor="ctr">
                    <a:solidFill>
                      <a:srgbClr val="FFFFFF"/>
                    </a:solidFill>
                  </a:tcPr>
                </a:tc>
                <a:tc>
                  <a:txBody>
                    <a:bodyPr/>
                    <a:lstStyle/>
                    <a:p>
                      <a:pPr algn="ctr">
                        <a:lnSpc>
                          <a:spcPct val="100000"/>
                        </a:lnSpc>
                        <a:spcBef>
                          <a:spcPts val="0"/>
                        </a:spcBef>
                        <a:spcAft>
                          <a:spcPts val="0"/>
                        </a:spcAft>
                      </a:pPr>
                      <a:r>
                        <a:rPr sz="1175" b="0">
                          <a:solidFill>
                            <a:srgbClr val="26363B"/>
                          </a:solidFill>
                          <a:latin typeface="Arial"/>
                        </a:rPr>
                        <a:t>—</a:t>
                      </a:r>
                    </a:p>
                  </a:txBody>
                  <a:tcPr marL="100584" marR="54864" marT="9144" marB="9144" anchor="ctr">
                    <a:solidFill>
                      <a:srgbClr val="FFFFFF"/>
                    </a:solidFill>
                  </a:tcPr>
                </a:tc>
                <a:tc>
                  <a:txBody>
                    <a:bodyPr/>
                    <a:lstStyle/>
                    <a:p>
                      <a:pPr algn="ctr">
                        <a:lnSpc>
                          <a:spcPct val="100000"/>
                        </a:lnSpc>
                        <a:spcBef>
                          <a:spcPts val="0"/>
                        </a:spcBef>
                        <a:spcAft>
                          <a:spcPts val="0"/>
                        </a:spcAft>
                      </a:pPr>
                      <a:r>
                        <a:rPr sz="1175" b="1">
                          <a:solidFill>
                            <a:srgbClr val="26363B"/>
                          </a:solidFill>
                          <a:latin typeface="Arial"/>
                        </a:rPr>
                        <a:t>2.324.850¹</a:t>
                      </a:r>
                    </a:p>
                  </a:txBody>
                  <a:tcPr marL="100584" marR="54864" marT="9144" marB="9144" anchor="ctr">
                    <a:solidFill>
                      <a:srgbClr val="FFFFFF"/>
                    </a:solidFill>
                  </a:tcPr>
                </a:tc>
                <a:tc>
                  <a:txBody>
                    <a:bodyPr/>
                    <a:lstStyle/>
                    <a:p>
                      <a:pPr algn="ctr">
                        <a:lnSpc>
                          <a:spcPct val="100000"/>
                        </a:lnSpc>
                        <a:spcBef>
                          <a:spcPts val="0"/>
                        </a:spcBef>
                        <a:spcAft>
                          <a:spcPts val="0"/>
                        </a:spcAft>
                      </a:pPr>
                      <a:r>
                        <a:rPr sz="1175" b="1" dirty="0">
                          <a:solidFill>
                            <a:srgbClr val="176B70"/>
                          </a:solidFill>
                          <a:latin typeface="Arial"/>
                        </a:rPr>
                        <a:t>2.480.192¹</a:t>
                      </a:r>
                    </a:p>
                  </a:txBody>
                  <a:tcPr marL="100584" marR="54864" marT="9144" marB="9144" anchor="ctr">
                    <a:solidFill>
                      <a:srgbClr val="EFF7F7"/>
                    </a:solidFill>
                  </a:tcPr>
                </a:tc>
                <a:extLst>
                  <a:ext uri="{0D108BD9-81ED-4DB2-BD59-A6C34878D82A}">
                    <a16:rowId xmlns:a16="http://schemas.microsoft.com/office/drawing/2014/main" val="10013"/>
                  </a:ext>
                </a:extLst>
              </a:tr>
            </a:tbl>
          </a:graphicData>
        </a:graphic>
      </p:graphicFrame>
      <p:sp>
        <p:nvSpPr>
          <p:cNvPr id="7" name="TextBox 6"/>
          <p:cNvSpPr txBox="1"/>
          <p:nvPr/>
        </p:nvSpPr>
        <p:spPr>
          <a:xfrm>
            <a:off x="576072" y="5797296"/>
            <a:ext cx="10972800" cy="153888"/>
          </a:xfrm>
          <a:prstGeom prst="rect">
            <a:avLst/>
          </a:prstGeom>
          <a:noFill/>
        </p:spPr>
        <p:txBody>
          <a:bodyPr wrap="square" lIns="0" tIns="0" rIns="0" bIns="0">
            <a:spAutoFit/>
          </a:bodyPr>
          <a:lstStyle/>
          <a:p>
            <a:pPr>
              <a:spcBef>
                <a:spcPts val="100"/>
              </a:spcBef>
              <a:spcAft>
                <a:spcPts val="0"/>
              </a:spcAft>
            </a:pPr>
            <a:r>
              <a:rPr lang="en-US" sz="1000" dirty="0">
                <a:solidFill>
                  <a:srgbClr val="667A80"/>
                </a:solidFill>
                <a:latin typeface="Arial"/>
              </a:rPr>
              <a:t>BSS Temporal </a:t>
            </a:r>
            <a:r>
              <a:rPr lang="en-US" sz="1000" dirty="0" err="1">
                <a:solidFill>
                  <a:srgbClr val="667A80"/>
                </a:solidFill>
                <a:latin typeface="Arial"/>
              </a:rPr>
              <a:t>tiene</a:t>
            </a:r>
            <a:r>
              <a:rPr lang="en-US" sz="1000" dirty="0">
                <a:solidFill>
                  <a:srgbClr val="667A80"/>
                </a:solidFill>
                <a:latin typeface="Arial"/>
              </a:rPr>
              <a:t> un R2 de 0.958453 </a:t>
            </a:r>
            <a:r>
              <a:rPr lang="en-US" sz="1000" dirty="0" err="1">
                <a:solidFill>
                  <a:srgbClr val="667A80"/>
                </a:solidFill>
                <a:latin typeface="Arial"/>
              </a:rPr>
              <a:t>testeado</a:t>
            </a:r>
            <a:endParaRPr lang="en-US" sz="1000" dirty="0">
              <a:solidFill>
                <a:srgbClr val="667A80"/>
              </a:solidFill>
              <a:latin typeface="Arial"/>
            </a:endParaRPr>
          </a:p>
        </p:txBody>
      </p:sp>
      <p:sp>
        <p:nvSpPr>
          <p:cNvPr id="9" name="Text 7">
            <a:extLst>
              <a:ext uri="{FF2B5EF4-FFF2-40B4-BE49-F238E27FC236}">
                <a16:creationId xmlns:a16="http://schemas.microsoft.com/office/drawing/2014/main" id="{AEE8C242-36DD-2674-9742-A5993B51D1ED}"/>
              </a:ext>
            </a:extLst>
          </p:cNvPr>
          <p:cNvSpPr/>
          <p:nvPr/>
        </p:nvSpPr>
        <p:spPr>
          <a:xfrm>
            <a:off x="8288977" y="5990880"/>
            <a:ext cx="2549632" cy="638520"/>
          </a:xfrm>
          <a:prstGeom prst="rect">
            <a:avLst/>
          </a:prstGeom>
          <a:noFill/>
          <a:ln/>
        </p:spPr>
        <p:txBody>
          <a:bodyPr wrap="square" lIns="0" tIns="0" rIns="0" bIns="0" rtlCol="0" anchor="t">
            <a:noAutofit/>
          </a:bodyPr>
          <a:lstStyle/>
          <a:p>
            <a:pPr>
              <a:lnSpc>
                <a:spcPct val="100000"/>
              </a:lnSpc>
              <a:spcAft>
                <a:spcPts val="0"/>
              </a:spcAft>
            </a:pPr>
            <a:r>
              <a:rPr sz="900" dirty="0">
                <a:solidFill>
                  <a:srgbClr val="26363B"/>
                </a:solidFill>
                <a:latin typeface="Arial"/>
              </a:rPr>
              <a:t>Regla 1-SE: </a:t>
            </a:r>
            <a:r>
              <a:rPr sz="900" dirty="0" err="1">
                <a:solidFill>
                  <a:srgbClr val="26363B"/>
                </a:solidFill>
                <a:latin typeface="Arial"/>
              </a:rPr>
              <a:t>elegir</a:t>
            </a:r>
            <a:r>
              <a:rPr sz="900" dirty="0">
                <a:solidFill>
                  <a:srgbClr val="26363B"/>
                </a:solidFill>
                <a:latin typeface="Arial"/>
              </a:rPr>
              <a:t> el </a:t>
            </a:r>
            <a:r>
              <a:rPr sz="900" dirty="0" err="1">
                <a:solidFill>
                  <a:srgbClr val="26363B"/>
                </a:solidFill>
                <a:latin typeface="Arial"/>
              </a:rPr>
              <a:t>modelo</a:t>
            </a:r>
            <a:r>
              <a:rPr sz="900" dirty="0">
                <a:solidFill>
                  <a:srgbClr val="26363B"/>
                </a:solidFill>
                <a:latin typeface="Arial"/>
              </a:rPr>
              <a:t> </a:t>
            </a:r>
            <a:r>
              <a:rPr sz="900" dirty="0" err="1">
                <a:solidFill>
                  <a:srgbClr val="26363B"/>
                </a:solidFill>
                <a:latin typeface="Arial"/>
              </a:rPr>
              <a:t>más</a:t>
            </a:r>
            <a:r>
              <a:rPr sz="900" dirty="0">
                <a:solidFill>
                  <a:srgbClr val="26363B"/>
                </a:solidFill>
                <a:latin typeface="Arial"/>
              </a:rPr>
              <a:t> simple </a:t>
            </a:r>
            <a:r>
              <a:rPr sz="900" dirty="0" err="1">
                <a:solidFill>
                  <a:srgbClr val="26363B"/>
                </a:solidFill>
                <a:latin typeface="Arial"/>
              </a:rPr>
              <a:t>cuyo</a:t>
            </a:r>
            <a:r>
              <a:rPr sz="900" dirty="0">
                <a:solidFill>
                  <a:srgbClr val="26363B"/>
                </a:solidFill>
                <a:latin typeface="Arial"/>
              </a:rPr>
              <a:t> RMSE </a:t>
            </a:r>
            <a:r>
              <a:rPr sz="900" dirty="0" err="1">
                <a:solidFill>
                  <a:srgbClr val="26363B"/>
                </a:solidFill>
                <a:latin typeface="Arial"/>
              </a:rPr>
              <a:t>quede</a:t>
            </a:r>
            <a:r>
              <a:rPr sz="900" dirty="0">
                <a:solidFill>
                  <a:srgbClr val="26363B"/>
                </a:solidFill>
                <a:latin typeface="Arial"/>
              </a:rPr>
              <a:t> a ≤1 error </a:t>
            </a:r>
            <a:r>
              <a:rPr sz="900" dirty="0" err="1">
                <a:solidFill>
                  <a:srgbClr val="26363B"/>
                </a:solidFill>
                <a:latin typeface="Arial"/>
              </a:rPr>
              <a:t>estándar</a:t>
            </a:r>
            <a:r>
              <a:rPr sz="900" dirty="0">
                <a:solidFill>
                  <a:srgbClr val="26363B"/>
                </a:solidFill>
                <a:latin typeface="Arial"/>
              </a:rPr>
              <a:t> del </a:t>
            </a:r>
            <a:r>
              <a:rPr sz="900" dirty="0" err="1">
                <a:solidFill>
                  <a:srgbClr val="26363B"/>
                </a:solidFill>
                <a:latin typeface="Arial"/>
              </a:rPr>
              <a:t>mínimo</a:t>
            </a:r>
            <a:r>
              <a:rPr sz="900" dirty="0">
                <a:solidFill>
                  <a:srgbClr val="26363B"/>
                </a:solidFill>
                <a:latin typeface="Arial"/>
              </a:rPr>
              <a:t>.</a:t>
            </a:r>
          </a:p>
          <a:p>
            <a:pPr>
              <a:lnSpc>
                <a:spcPct val="100000"/>
              </a:lnSpc>
              <a:spcAft>
                <a:spcPts val="0"/>
              </a:spcAft>
            </a:pPr>
            <a:r>
              <a:rPr sz="900" dirty="0">
                <a:solidFill>
                  <a:srgbClr val="26363B"/>
                </a:solidFill>
                <a:latin typeface="Arial"/>
              </a:rPr>
              <a:t>Umbral: 2.531.404 RUB; RMSE +6,68 % y 6 </a:t>
            </a:r>
            <a:r>
              <a:rPr sz="900" dirty="0" err="1">
                <a:solidFill>
                  <a:srgbClr val="26363B"/>
                </a:solidFill>
                <a:latin typeface="Arial"/>
              </a:rPr>
              <a:t>grupos</a:t>
            </a:r>
            <a:r>
              <a:rPr sz="900" dirty="0">
                <a:solidFill>
                  <a:srgbClr val="26363B"/>
                </a:solidFill>
                <a:latin typeface="Arial"/>
              </a:rPr>
              <a:t> </a:t>
            </a:r>
            <a:r>
              <a:rPr sz="900" dirty="0" err="1">
                <a:solidFill>
                  <a:srgbClr val="26363B"/>
                </a:solidFill>
                <a:latin typeface="Arial"/>
              </a:rPr>
              <a:t>menos</a:t>
            </a:r>
            <a:r>
              <a:rPr sz="900" dirty="0">
                <a:solidFill>
                  <a:srgbClr val="26363B"/>
                </a:solidFill>
                <a:latin typeface="Arial"/>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1064240" cy="685800"/>
          </a:xfrm>
          <a:prstGeom prst="rect">
            <a:avLst/>
          </a:prstGeom>
          <a:noFill/>
          <a:ln/>
        </p:spPr>
        <p:txBody>
          <a:bodyPr wrap="square" lIns="0" tIns="0" rIns="0" bIns="0" rtlCol="0" anchor="ctr"/>
          <a:lstStyle/>
          <a:p>
            <a:pPr marL="0" indent="0">
              <a:buNone/>
            </a:pPr>
            <a:r>
              <a:rPr lang="en-US" sz="3100" b="1" dirty="0">
                <a:solidFill>
                  <a:srgbClr val="26363B"/>
                </a:solidFill>
                <a:latin typeface="Arial" pitchFamily="34" charset="0"/>
                <a:ea typeface="Arial" pitchFamily="34" charset="-122"/>
                <a:cs typeface="Arial" pitchFamily="34" charset="-120"/>
              </a:rPr>
              <a:t>Características seleccionadas por cada modelo</a:t>
            </a:r>
            <a:endParaRPr lang="en-US" sz="3100" dirty="0"/>
          </a:p>
        </p:txBody>
      </p:sp>
      <p:sp>
        <p:nvSpPr>
          <p:cNvPr id="3" name="Text 1"/>
          <p:cNvSpPr/>
          <p:nvPr/>
        </p:nvSpPr>
        <p:spPr>
          <a:xfrm>
            <a:off x="502920" y="6419088"/>
            <a:ext cx="10789920" cy="201168"/>
          </a:xfrm>
          <a:prstGeom prst="rect">
            <a:avLst/>
          </a:prstGeom>
          <a:noFill/>
          <a:ln/>
        </p:spPr>
        <p:txBody>
          <a:bodyPr wrap="square" lIns="0" tIns="0" rIns="0" bIns="0" rtlCol="0" anchor="ctr"/>
          <a:lstStyle/>
          <a:p>
            <a:pPr marL="0" indent="0">
              <a:buNone/>
            </a:pPr>
            <a:r>
              <a:rPr lang="en-US" sz="950" dirty="0">
                <a:solidFill>
                  <a:srgbClr val="667A80"/>
                </a:solidFill>
                <a:latin typeface="Arial" pitchFamily="34" charset="0"/>
                <a:ea typeface="Arial" pitchFamily="34" charset="-122"/>
                <a:cs typeface="Arial" pitchFamily="34" charset="-120"/>
              </a:rPr>
              <a:t>Fuente: selecciones registradas en MLflow · universos iniciales de 177 columnas</a:t>
            </a:r>
            <a:endParaRPr lang="en-US" sz="950" dirty="0"/>
          </a:p>
        </p:txBody>
      </p:sp>
      <p:sp>
        <p:nvSpPr>
          <p:cNvPr id="4" name="Text 2"/>
          <p:cNvSpPr/>
          <p:nvPr/>
        </p:nvSpPr>
        <p:spPr>
          <a:xfrm>
            <a:off x="11292840" y="6400800"/>
            <a:ext cx="384048" cy="228600"/>
          </a:xfrm>
          <a:prstGeom prst="rect">
            <a:avLst/>
          </a:prstGeom>
          <a:noFill/>
          <a:ln/>
        </p:spPr>
        <p:txBody>
          <a:bodyPr wrap="square" lIns="0" tIns="0" rIns="0" bIns="0" rtlCol="0" anchor="ctr"/>
          <a:lstStyle/>
          <a:p>
            <a:pPr marL="0" indent="0" algn="r">
              <a:buNone/>
            </a:pPr>
            <a:r>
              <a:rPr lang="en-US" sz="1000" dirty="0">
                <a:solidFill>
                  <a:srgbClr val="667A80"/>
                </a:solidFill>
                <a:latin typeface="Arial" pitchFamily="34" charset="0"/>
                <a:ea typeface="Arial" pitchFamily="34" charset="-122"/>
                <a:cs typeface="Arial" pitchFamily="34" charset="-120"/>
              </a:rPr>
              <a:t>09</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3898392"/>
        </p:xfrm>
        <a:graphic>
          <a:graphicData uri="http://schemas.openxmlformats.org/drawingml/2006/table">
            <a:tbl>
              <a:tblPr/>
              <a:tblGrid>
                <a:gridCol w="3337560">
                  <a:extLst>
                    <a:ext uri="{9D8B030D-6E8A-4147-A177-3AD203B41FA5}">
                      <a16:colId xmlns:a16="http://schemas.microsoft.com/office/drawing/2014/main" val="20000"/>
                    </a:ext>
                  </a:extLst>
                </a:gridCol>
                <a:gridCol w="1508760">
                  <a:extLst>
                    <a:ext uri="{9D8B030D-6E8A-4147-A177-3AD203B41FA5}">
                      <a16:colId xmlns:a16="http://schemas.microsoft.com/office/drawing/2014/main" val="20001"/>
                    </a:ext>
                  </a:extLst>
                </a:gridCol>
                <a:gridCol w="150876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tblGrid>
              <a:tr h="246888">
                <a:tc>
                  <a:txBody>
                    <a:bodyPr/>
                    <a:lstStyle/>
                    <a:p>
                      <a:pPr marL="0" indent="0" algn="l">
                        <a:buNone/>
                      </a:pPr>
                      <a:r>
                        <a:rPr lang="en-US" sz="1300" b="1" dirty="0">
                          <a:solidFill>
                            <a:srgbClr val="FFFFFF"/>
                          </a:solidFill>
                          <a:latin typeface="Arial" pitchFamily="34" charset="0"/>
                          <a:ea typeface="Arial" pitchFamily="34" charset="-122"/>
                          <a:cs typeface="Arial" pitchFamily="34" charset="-120"/>
                        </a:rPr>
                        <a:t>Característica</a:t>
                      </a:r>
                      <a:endParaRPr lang="en-US" sz="1300" dirty="0">
                        <a:latin typeface="Arial" charset="0"/>
                        <a:ea typeface="Arial" charset="0"/>
                        <a:cs typeface="Aria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176B70"/>
                    </a:solidFill>
                  </a:tcPr>
                </a:tc>
                <a:tc>
                  <a:txBody>
                    <a:bodyPr/>
                    <a:lstStyle/>
                    <a:p>
                      <a:pPr marL="0" indent="0" algn="ctr">
                        <a:buNone/>
                      </a:pPr>
                      <a:r>
                        <a:rPr lang="en-US" sz="1300" b="1" dirty="0">
                          <a:solidFill>
                            <a:srgbClr val="FFFFFF"/>
                          </a:solidFill>
                          <a:latin typeface="Arial" pitchFamily="34" charset="0"/>
                          <a:ea typeface="Arial" pitchFamily="34" charset="-122"/>
                          <a:cs typeface="Arial" pitchFamily="34" charset="-120"/>
                        </a:rPr>
                        <a:t>Forward</a:t>
                      </a:r>
                      <a:endParaRPr lang="en-US" sz="1300" dirty="0">
                        <a:latin typeface="Arial" charset="0"/>
                        <a:ea typeface="Arial" charset="0"/>
                        <a:cs typeface="Arial" charset="0"/>
                      </a:endParaRPr>
                    </a:p>
                    <a:p>
                      <a:pPr marL="0" indent="0" algn="ctr">
                        <a:buNone/>
                      </a:pPr>
                      <a:r>
                        <a:rPr lang="en-US" sz="1300" b="1" dirty="0">
                          <a:solidFill>
                            <a:srgbClr val="FFFFFF"/>
                          </a:solidFill>
                          <a:latin typeface="Arial" pitchFamily="34" charset="0"/>
                          <a:ea typeface="Arial" pitchFamily="34" charset="-122"/>
                          <a:cs typeface="Arial" pitchFamily="34" charset="-120"/>
                        </a:rPr>
                        <a:t>177</a:t>
                      </a:r>
                      <a:endParaRPr lang="en-US" sz="1300" dirty="0">
                        <a:latin typeface="Arial" charset="0"/>
                        <a:ea typeface="Arial" charset="0"/>
                        <a:cs typeface="Aria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176B70"/>
                    </a:solidFill>
                  </a:tcPr>
                </a:tc>
                <a:tc>
                  <a:txBody>
                    <a:bodyPr/>
                    <a:lstStyle/>
                    <a:p>
                      <a:pPr marL="0" indent="0" algn="ctr">
                        <a:buNone/>
                      </a:pPr>
                      <a:r>
                        <a:rPr lang="en-US" sz="1300" b="1" dirty="0">
                          <a:solidFill>
                            <a:srgbClr val="FFFFFF"/>
                          </a:solidFill>
                          <a:latin typeface="Arial" pitchFamily="34" charset="0"/>
                          <a:ea typeface="Arial" pitchFamily="34" charset="-122"/>
                          <a:cs typeface="Arial" pitchFamily="34" charset="-120"/>
                        </a:rPr>
                        <a:t>Backward</a:t>
                      </a:r>
                      <a:endParaRPr lang="en-US" sz="1300" dirty="0">
                        <a:latin typeface="Arial" charset="0"/>
                        <a:ea typeface="Arial" charset="0"/>
                        <a:cs typeface="Arial" charset="0"/>
                      </a:endParaRPr>
                    </a:p>
                    <a:p>
                      <a:pPr marL="0" indent="0" algn="ctr">
                        <a:buNone/>
                      </a:pPr>
                      <a:r>
                        <a:rPr lang="en-US" sz="1300" b="1" dirty="0">
                          <a:solidFill>
                            <a:srgbClr val="FFFFFF"/>
                          </a:solidFill>
                          <a:latin typeface="Arial" pitchFamily="34" charset="0"/>
                          <a:ea typeface="Arial" pitchFamily="34" charset="-122"/>
                          <a:cs typeface="Arial" pitchFamily="34" charset="-120"/>
                        </a:rPr>
                        <a:t>177</a:t>
                      </a:r>
                      <a:endParaRPr lang="en-US" sz="1300" dirty="0">
                        <a:latin typeface="Arial" charset="0"/>
                        <a:ea typeface="Arial" charset="0"/>
                        <a:cs typeface="Aria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176B70"/>
                    </a:solidFill>
                  </a:tcPr>
                </a:tc>
                <a:tc>
                  <a:txBody>
                    <a:bodyPr/>
                    <a:lstStyle/>
                    <a:p>
                      <a:pPr marL="0" indent="0" algn="ctr">
                        <a:buNone/>
                      </a:pPr>
                      <a:r>
                        <a:rPr lang="en-US" sz="1300" b="1" dirty="0">
                          <a:solidFill>
                            <a:srgbClr val="FFFFFF"/>
                          </a:solidFill>
                          <a:latin typeface="Arial" pitchFamily="34" charset="0"/>
                          <a:ea typeface="Arial" pitchFamily="34" charset="-122"/>
                          <a:cs typeface="Arial" pitchFamily="34" charset="-120"/>
                        </a:rPr>
                        <a:t>Group Lasso</a:t>
                      </a:r>
                      <a:endParaRPr lang="en-US" sz="1300" dirty="0">
                        <a:latin typeface="Arial" charset="0"/>
                        <a:ea typeface="Arial" charset="0"/>
                        <a:cs typeface="Arial" charset="0"/>
                      </a:endParaRPr>
                    </a:p>
                    <a:p>
                      <a:pPr marL="0" indent="0" algn="ctr">
                        <a:buNone/>
                      </a:pPr>
                      <a:r>
                        <a:rPr lang="en-US" sz="1300" b="1" dirty="0">
                          <a:solidFill>
                            <a:srgbClr val="FFFFFF"/>
                          </a:solidFill>
                          <a:latin typeface="Arial" pitchFamily="34" charset="0"/>
                          <a:ea typeface="Arial" pitchFamily="34" charset="-122"/>
                          <a:cs typeface="Arial" pitchFamily="34" charset="-120"/>
                        </a:rPr>
                        <a:t>177</a:t>
                      </a:r>
                      <a:endParaRPr lang="en-US" sz="1300" dirty="0">
                        <a:latin typeface="Arial" charset="0"/>
                        <a:ea typeface="Arial" charset="0"/>
                        <a:cs typeface="Aria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176B70"/>
                    </a:solidFill>
                  </a:tcPr>
                </a:tc>
                <a:tc>
                  <a:txBody>
                    <a:bodyPr/>
                    <a:lstStyle/>
                    <a:p>
                      <a:pPr marL="0" indent="0" algn="ctr">
                        <a:buNone/>
                      </a:pPr>
                      <a:r>
                        <a:rPr lang="en-US" sz="1300" b="1" dirty="0">
                          <a:solidFill>
                            <a:srgbClr val="FFFFFF"/>
                          </a:solidFill>
                          <a:latin typeface="Arial" pitchFamily="34" charset="0"/>
                          <a:ea typeface="Arial" pitchFamily="34" charset="-122"/>
                          <a:cs typeface="Arial" pitchFamily="34" charset="-120"/>
                        </a:rPr>
                        <a:t>BSS</a:t>
                      </a:r>
                      <a:endParaRPr lang="en-US" sz="1300" dirty="0">
                        <a:latin typeface="Arial" charset="0"/>
                        <a:ea typeface="Arial" charset="0"/>
                        <a:cs typeface="Arial" charset="0"/>
                      </a:endParaRPr>
                    </a:p>
                    <a:p>
                      <a:pPr marL="0" indent="0" algn="ctr">
                        <a:buNone/>
                      </a:pPr>
                      <a:r>
                        <a:rPr lang="en-US" sz="1300" b="1" dirty="0">
                          <a:solidFill>
                            <a:srgbClr val="FFFFFF"/>
                          </a:solidFill>
                          <a:latin typeface="Arial" pitchFamily="34" charset="0"/>
                          <a:ea typeface="Arial" pitchFamily="34" charset="-122"/>
                          <a:cs typeface="Arial" pitchFamily="34" charset="-120"/>
                        </a:rPr>
                        <a:t>histórico</a:t>
                      </a:r>
                      <a:endParaRPr lang="en-US" sz="1300" dirty="0">
                        <a:latin typeface="Arial" charset="0"/>
                        <a:ea typeface="Arial" charset="0"/>
                        <a:cs typeface="Aria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176B70"/>
                    </a:solidFill>
                  </a:tcPr>
                </a:tc>
                <a:tc>
                  <a:txBody>
                    <a:bodyPr/>
                    <a:lstStyle/>
                    <a:p>
                      <a:pPr marL="0" indent="0" algn="ctr">
                        <a:buNone/>
                      </a:pPr>
                      <a:r>
                        <a:rPr lang="en-US" sz="1300" b="1" dirty="0">
                          <a:solidFill>
                            <a:srgbClr val="FFFFFF"/>
                          </a:solidFill>
                          <a:latin typeface="Arial" pitchFamily="34" charset="0"/>
                          <a:ea typeface="Arial" pitchFamily="34" charset="-122"/>
                          <a:cs typeface="Arial" pitchFamily="34" charset="-120"/>
                        </a:rPr>
                        <a:t>BSS final</a:t>
                      </a:r>
                      <a:endParaRPr lang="en-US" sz="1300" dirty="0">
                        <a:latin typeface="Arial" charset="0"/>
                        <a:ea typeface="Arial" charset="0"/>
                        <a:cs typeface="Arial" charset="0"/>
                      </a:endParaRPr>
                    </a:p>
                    <a:p>
                      <a:pPr marL="0" indent="0" algn="ctr">
                        <a:buNone/>
                      </a:pPr>
                      <a:r>
                        <a:rPr lang="en-US" sz="1300" b="1" dirty="0">
                          <a:solidFill>
                            <a:srgbClr val="FFFFFF"/>
                          </a:solidFill>
                          <a:latin typeface="Arial" pitchFamily="34" charset="0"/>
                          <a:ea typeface="Arial" pitchFamily="34" charset="-122"/>
                          <a:cs typeface="Arial" pitchFamily="34" charset="-120"/>
                        </a:rPr>
                        <a:t>temporal</a:t>
                      </a:r>
                      <a:endParaRPr lang="en-US" sz="1300" dirty="0">
                        <a:latin typeface="Arial" charset="0"/>
                        <a:ea typeface="Arial" charset="0"/>
                        <a:cs typeface="Aria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176B70"/>
                    </a:solidFill>
                  </a:tcPr>
                </a:tc>
                <a:extLst>
                  <a:ext uri="{0D108BD9-81ED-4DB2-BD59-A6C34878D82A}">
                    <a16:rowId xmlns:a16="http://schemas.microsoft.com/office/drawing/2014/main" val="10000"/>
                  </a:ext>
                </a:extLst>
              </a:tr>
              <a:tr h="246888">
                <a:tc>
                  <a:txBody>
                    <a:bodyPr/>
                    <a:lstStyle/>
                    <a:p>
                      <a:pPr marL="0" indent="0" algn="l">
                        <a:buNone/>
                      </a:pPr>
                      <a:r>
                        <a:rPr lang="en-US" sz="1300" dirty="0">
                          <a:solidFill>
                            <a:srgbClr val="26363B"/>
                          </a:solidFill>
                          <a:latin typeface="Arial" pitchFamily="34" charset="0"/>
                          <a:ea typeface="Arial" pitchFamily="34" charset="-122"/>
                          <a:cs typeface="Arial" pitchFamily="34" charset="-120"/>
                        </a:rPr>
                        <a:t>building_type</a:t>
                      </a:r>
                      <a:endParaRPr lang="en-US" sz="1300" dirty="0">
                        <a:latin typeface="Arial" charset="0"/>
                        <a:ea typeface="Arial" charset="0"/>
                        <a:cs typeface="Aria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76B70"/>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EDF4F4"/>
                    </a:solidFill>
                  </a:tcPr>
                </a:tc>
                <a:extLst>
                  <a:ext uri="{0D108BD9-81ED-4DB2-BD59-A6C34878D82A}">
                    <a16:rowId xmlns:a16="http://schemas.microsoft.com/office/drawing/2014/main" val="10001"/>
                  </a:ext>
                </a:extLst>
              </a:tr>
              <a:tr h="246888">
                <a:tc>
                  <a:txBody>
                    <a:bodyPr/>
                    <a:lstStyle/>
                    <a:p>
                      <a:pPr marL="0" indent="0" algn="l">
                        <a:buNone/>
                      </a:pPr>
                      <a:r>
                        <a:rPr lang="en-US" sz="1300" dirty="0">
                          <a:solidFill>
                            <a:srgbClr val="26363B"/>
                          </a:solidFill>
                          <a:latin typeface="Arial" pitchFamily="34" charset="0"/>
                          <a:ea typeface="Arial" pitchFamily="34" charset="-122"/>
                          <a:cs typeface="Arial" pitchFamily="34" charset="-120"/>
                        </a:rPr>
                        <a:t>date_posted_dt</a:t>
                      </a:r>
                      <a:endParaRPr lang="en-US" sz="1300" dirty="0">
                        <a:latin typeface="Arial" charset="0"/>
                        <a:ea typeface="Arial" charset="0"/>
                        <a:cs typeface="Aria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76B70"/>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EDF4F4"/>
                    </a:solidFill>
                  </a:tcPr>
                </a:tc>
                <a:extLst>
                  <a:ext uri="{0D108BD9-81ED-4DB2-BD59-A6C34878D82A}">
                    <a16:rowId xmlns:a16="http://schemas.microsoft.com/office/drawing/2014/main" val="10002"/>
                  </a:ext>
                </a:extLst>
              </a:tr>
              <a:tr h="246888">
                <a:tc>
                  <a:txBody>
                    <a:bodyPr/>
                    <a:lstStyle/>
                    <a:p>
                      <a:pPr marL="0" indent="0" algn="l">
                        <a:buNone/>
                      </a:pPr>
                      <a:r>
                        <a:rPr lang="en-US" sz="1300" dirty="0">
                          <a:solidFill>
                            <a:srgbClr val="26363B"/>
                          </a:solidFill>
                          <a:latin typeface="Arial" pitchFamily="34" charset="0"/>
                          <a:ea typeface="Arial" pitchFamily="34" charset="-122"/>
                          <a:cs typeface="Arial" pitchFamily="34" charset="-120"/>
                        </a:rPr>
                        <a:t>district</a:t>
                      </a:r>
                      <a:endParaRPr lang="en-US" sz="1300" dirty="0">
                        <a:latin typeface="Arial" charset="0"/>
                        <a:ea typeface="Arial" charset="0"/>
                        <a:cs typeface="Aria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76B70"/>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EDF4F4"/>
                    </a:solidFill>
                  </a:tcPr>
                </a:tc>
                <a:extLst>
                  <a:ext uri="{0D108BD9-81ED-4DB2-BD59-A6C34878D82A}">
                    <a16:rowId xmlns:a16="http://schemas.microsoft.com/office/drawing/2014/main" val="10003"/>
                  </a:ext>
                </a:extLst>
              </a:tr>
              <a:tr h="246888">
                <a:tc>
                  <a:txBody>
                    <a:bodyPr/>
                    <a:lstStyle/>
                    <a:p>
                      <a:pPr marL="0" indent="0" algn="l">
                        <a:buNone/>
                      </a:pPr>
                      <a:r>
                        <a:rPr lang="en-US" sz="1300" dirty="0">
                          <a:solidFill>
                            <a:srgbClr val="26363B"/>
                          </a:solidFill>
                          <a:latin typeface="Arial" pitchFamily="34" charset="0"/>
                          <a:ea typeface="Arial" pitchFamily="34" charset="-122"/>
                          <a:cs typeface="Arial" pitchFamily="34" charset="-120"/>
                        </a:rPr>
                        <a:t>metro_distance_min</a:t>
                      </a:r>
                      <a:endParaRPr lang="en-US" sz="1300" dirty="0">
                        <a:latin typeface="Arial" charset="0"/>
                        <a:ea typeface="Arial" charset="0"/>
                        <a:cs typeface="Aria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76B70"/>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EDF4F4"/>
                    </a:solidFill>
                  </a:tcPr>
                </a:tc>
                <a:extLst>
                  <a:ext uri="{0D108BD9-81ED-4DB2-BD59-A6C34878D82A}">
                    <a16:rowId xmlns:a16="http://schemas.microsoft.com/office/drawing/2014/main" val="10004"/>
                  </a:ext>
                </a:extLst>
              </a:tr>
              <a:tr h="246888">
                <a:tc>
                  <a:txBody>
                    <a:bodyPr/>
                    <a:lstStyle/>
                    <a:p>
                      <a:pPr marL="0" indent="0" algn="l">
                        <a:buNone/>
                      </a:pPr>
                      <a:r>
                        <a:rPr lang="en-US" sz="1300" dirty="0">
                          <a:solidFill>
                            <a:srgbClr val="26363B"/>
                          </a:solidFill>
                          <a:latin typeface="Arial" pitchFamily="34" charset="0"/>
                          <a:ea typeface="Arial" pitchFamily="34" charset="-122"/>
                          <a:cs typeface="Arial" pitchFamily="34" charset="-120"/>
                        </a:rPr>
                        <a:t>metro_distance_type</a:t>
                      </a:r>
                      <a:endParaRPr lang="en-US" sz="1300" dirty="0">
                        <a:latin typeface="Arial" charset="0"/>
                        <a:ea typeface="Arial" charset="0"/>
                        <a:cs typeface="Aria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76B70"/>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EDF4F4"/>
                    </a:solidFill>
                  </a:tcPr>
                </a:tc>
                <a:extLst>
                  <a:ext uri="{0D108BD9-81ED-4DB2-BD59-A6C34878D82A}">
                    <a16:rowId xmlns:a16="http://schemas.microsoft.com/office/drawing/2014/main" val="10005"/>
                  </a:ext>
                </a:extLst>
              </a:tr>
              <a:tr h="246888">
                <a:tc>
                  <a:txBody>
                    <a:bodyPr/>
                    <a:lstStyle/>
                    <a:p>
                      <a:pPr marL="0" indent="0" algn="l">
                        <a:buNone/>
                      </a:pPr>
                      <a:r>
                        <a:rPr lang="en-US" sz="1300" dirty="0">
                          <a:solidFill>
                            <a:srgbClr val="26363B"/>
                          </a:solidFill>
                          <a:latin typeface="Arial" pitchFamily="34" charset="0"/>
                          <a:ea typeface="Arial" pitchFamily="34" charset="-122"/>
                          <a:cs typeface="Arial" pitchFamily="34" charset="-120"/>
                        </a:rPr>
                        <a:t>renovation</a:t>
                      </a:r>
                      <a:endParaRPr lang="en-US" sz="1300" dirty="0">
                        <a:latin typeface="Arial" charset="0"/>
                        <a:ea typeface="Arial" charset="0"/>
                        <a:cs typeface="Aria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76B70"/>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EDF4F4"/>
                    </a:solidFill>
                  </a:tcPr>
                </a:tc>
                <a:extLst>
                  <a:ext uri="{0D108BD9-81ED-4DB2-BD59-A6C34878D82A}">
                    <a16:rowId xmlns:a16="http://schemas.microsoft.com/office/drawing/2014/main" val="10006"/>
                  </a:ext>
                </a:extLst>
              </a:tr>
              <a:tr h="246888">
                <a:tc>
                  <a:txBody>
                    <a:bodyPr/>
                    <a:lstStyle/>
                    <a:p>
                      <a:pPr marL="0" indent="0" algn="l">
                        <a:buNone/>
                      </a:pPr>
                      <a:r>
                        <a:rPr lang="en-US" sz="1300" dirty="0">
                          <a:solidFill>
                            <a:srgbClr val="26363B"/>
                          </a:solidFill>
                          <a:latin typeface="Arial" pitchFamily="34" charset="0"/>
                          <a:ea typeface="Arial" pitchFamily="34" charset="-122"/>
                          <a:cs typeface="Arial" pitchFamily="34" charset="-120"/>
                        </a:rPr>
                        <a:t>total_area</a:t>
                      </a:r>
                      <a:endParaRPr lang="en-US" sz="1300" dirty="0">
                        <a:latin typeface="Arial" charset="0"/>
                        <a:ea typeface="Arial" charset="0"/>
                        <a:cs typeface="Aria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76B70"/>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EDF4F4"/>
                    </a:solidFill>
                  </a:tcPr>
                </a:tc>
                <a:extLst>
                  <a:ext uri="{0D108BD9-81ED-4DB2-BD59-A6C34878D82A}">
                    <a16:rowId xmlns:a16="http://schemas.microsoft.com/office/drawing/2014/main" val="10007"/>
                  </a:ext>
                </a:extLst>
              </a:tr>
              <a:tr h="246888">
                <a:tc>
                  <a:txBody>
                    <a:bodyPr/>
                    <a:lstStyle/>
                    <a:p>
                      <a:pPr marL="0" indent="0" algn="l">
                        <a:buNone/>
                      </a:pPr>
                      <a:r>
                        <a:rPr lang="en-US" sz="1300" dirty="0">
                          <a:solidFill>
                            <a:srgbClr val="26363B"/>
                          </a:solidFill>
                          <a:latin typeface="Arial" pitchFamily="34" charset="0"/>
                          <a:ea typeface="Arial" pitchFamily="34" charset="-122"/>
                          <a:cs typeface="Arial" pitchFamily="34" charset="-120"/>
                        </a:rPr>
                        <a:t>ceiling_height</a:t>
                      </a:r>
                      <a:endParaRPr lang="en-US" sz="1300" dirty="0">
                        <a:latin typeface="Arial" charset="0"/>
                        <a:ea typeface="Arial" charset="0"/>
                        <a:cs typeface="Aria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76B70"/>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EDF4F4"/>
                    </a:solidFill>
                  </a:tcPr>
                </a:tc>
                <a:extLst>
                  <a:ext uri="{0D108BD9-81ED-4DB2-BD59-A6C34878D82A}">
                    <a16:rowId xmlns:a16="http://schemas.microsoft.com/office/drawing/2014/main" val="10008"/>
                  </a:ext>
                </a:extLst>
              </a:tr>
              <a:tr h="246888">
                <a:tc>
                  <a:txBody>
                    <a:bodyPr/>
                    <a:lstStyle/>
                    <a:p>
                      <a:pPr marL="0" indent="0" algn="l">
                        <a:buNone/>
                      </a:pPr>
                      <a:r>
                        <a:rPr lang="en-US" sz="1300" dirty="0">
                          <a:solidFill>
                            <a:srgbClr val="26363B"/>
                          </a:solidFill>
                          <a:latin typeface="Arial" pitchFamily="34" charset="0"/>
                          <a:ea typeface="Arial" pitchFamily="34" charset="-122"/>
                          <a:cs typeface="Arial" pitchFamily="34" charset="-120"/>
                        </a:rPr>
                        <a:t>has_balcony</a:t>
                      </a:r>
                      <a:endParaRPr lang="en-US" sz="1300" dirty="0">
                        <a:latin typeface="Arial" charset="0"/>
                        <a:ea typeface="Arial" charset="0"/>
                        <a:cs typeface="Aria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76B70"/>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EDF4F4"/>
                    </a:solidFill>
                  </a:tcPr>
                </a:tc>
                <a:extLst>
                  <a:ext uri="{0D108BD9-81ED-4DB2-BD59-A6C34878D82A}">
                    <a16:rowId xmlns:a16="http://schemas.microsoft.com/office/drawing/2014/main" val="10009"/>
                  </a:ext>
                </a:extLst>
              </a:tr>
              <a:tr h="246888">
                <a:tc>
                  <a:txBody>
                    <a:bodyPr/>
                    <a:lstStyle/>
                    <a:p>
                      <a:pPr marL="0" indent="0" algn="l">
                        <a:buNone/>
                      </a:pPr>
                      <a:r>
                        <a:rPr lang="en-US" sz="1300" dirty="0">
                          <a:solidFill>
                            <a:srgbClr val="26363B"/>
                          </a:solidFill>
                          <a:latin typeface="Arial" pitchFamily="34" charset="0"/>
                          <a:ea typeface="Arial" pitchFamily="34" charset="-122"/>
                          <a:cs typeface="Arial" pitchFamily="34" charset="-120"/>
                        </a:rPr>
                        <a:t>rooms</a:t>
                      </a:r>
                      <a:endParaRPr lang="en-US" sz="1300" dirty="0">
                        <a:latin typeface="Arial" charset="0"/>
                        <a:ea typeface="Arial" charset="0"/>
                        <a:cs typeface="Aria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76B70"/>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EDF4F4"/>
                    </a:solidFill>
                  </a:tcPr>
                </a:tc>
                <a:extLst>
                  <a:ext uri="{0D108BD9-81ED-4DB2-BD59-A6C34878D82A}">
                    <a16:rowId xmlns:a16="http://schemas.microsoft.com/office/drawing/2014/main" val="10010"/>
                  </a:ext>
                </a:extLst>
              </a:tr>
              <a:tr h="246888">
                <a:tc>
                  <a:txBody>
                    <a:bodyPr/>
                    <a:lstStyle/>
                    <a:p>
                      <a:pPr marL="0" indent="0" algn="l">
                        <a:buNone/>
                      </a:pPr>
                      <a:r>
                        <a:rPr lang="en-US" sz="1300" dirty="0">
                          <a:solidFill>
                            <a:srgbClr val="26363B"/>
                          </a:solidFill>
                          <a:latin typeface="Arial" pitchFamily="34" charset="0"/>
                          <a:ea typeface="Arial" pitchFamily="34" charset="-122"/>
                          <a:cs typeface="Arial" pitchFamily="34" charset="-120"/>
                        </a:rPr>
                        <a:t>surface_corrected</a:t>
                      </a:r>
                      <a:endParaRPr lang="en-US" sz="1300" dirty="0">
                        <a:latin typeface="Arial" charset="0"/>
                        <a:ea typeface="Arial" charset="0"/>
                        <a:cs typeface="Aria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76B70"/>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EDF4F4"/>
                    </a:solidFill>
                  </a:tcPr>
                </a:tc>
                <a:extLst>
                  <a:ext uri="{0D108BD9-81ED-4DB2-BD59-A6C34878D82A}">
                    <a16:rowId xmlns:a16="http://schemas.microsoft.com/office/drawing/2014/main" val="10011"/>
                  </a:ext>
                </a:extLst>
              </a:tr>
              <a:tr h="246888">
                <a:tc>
                  <a:txBody>
                    <a:bodyPr/>
                    <a:lstStyle/>
                    <a:p>
                      <a:pPr marL="0" indent="0" algn="l">
                        <a:buNone/>
                      </a:pPr>
                      <a:r>
                        <a:rPr lang="en-US" sz="1300" dirty="0">
                          <a:solidFill>
                            <a:srgbClr val="26363B"/>
                          </a:solidFill>
                          <a:latin typeface="Arial" pitchFamily="34" charset="0"/>
                          <a:ea typeface="Arial" pitchFamily="34" charset="-122"/>
                          <a:cs typeface="Arial" pitchFamily="34" charset="-120"/>
                        </a:rPr>
                        <a:t>to_center_km</a:t>
                      </a:r>
                      <a:endParaRPr lang="en-US" sz="1300" dirty="0">
                        <a:latin typeface="Arial" charset="0"/>
                        <a:ea typeface="Arial" charset="0"/>
                        <a:cs typeface="Aria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76B70"/>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EDF4F4"/>
                    </a:solidFill>
                  </a:tcPr>
                </a:tc>
                <a:extLst>
                  <a:ext uri="{0D108BD9-81ED-4DB2-BD59-A6C34878D82A}">
                    <a16:rowId xmlns:a16="http://schemas.microsoft.com/office/drawing/2014/main" val="10012"/>
                  </a:ext>
                </a:extLst>
              </a:tr>
              <a:tr h="246888">
                <a:tc>
                  <a:txBody>
                    <a:bodyPr/>
                    <a:lstStyle/>
                    <a:p>
                      <a:pPr marL="0" indent="0" algn="l">
                        <a:buNone/>
                      </a:pPr>
                      <a:r>
                        <a:rPr lang="en-US" sz="1300" dirty="0">
                          <a:solidFill>
                            <a:srgbClr val="26363B"/>
                          </a:solidFill>
                          <a:latin typeface="Arial" pitchFamily="34" charset="0"/>
                          <a:ea typeface="Arial" pitchFamily="34" charset="-122"/>
                          <a:cs typeface="Arial" pitchFamily="34" charset="-120"/>
                        </a:rPr>
                        <a:t>living_area</a:t>
                      </a:r>
                      <a:endParaRPr lang="en-US" sz="1300" dirty="0">
                        <a:latin typeface="Arial" charset="0"/>
                        <a:ea typeface="Arial" charset="0"/>
                        <a:cs typeface="Aria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76B70"/>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EDF4F4"/>
                    </a:solidFill>
                  </a:tcPr>
                </a:tc>
                <a:extLst>
                  <a:ext uri="{0D108BD9-81ED-4DB2-BD59-A6C34878D82A}">
                    <a16:rowId xmlns:a16="http://schemas.microsoft.com/office/drawing/2014/main" val="10013"/>
                  </a:ext>
                </a:extLst>
              </a:tr>
              <a:tr h="246888">
                <a:tc>
                  <a:txBody>
                    <a:bodyPr/>
                    <a:lstStyle/>
                    <a:p>
                      <a:pPr marL="0" indent="0" algn="l">
                        <a:buNone/>
                      </a:pPr>
                      <a:r>
                        <a:rPr lang="en-US" sz="1300" b="1" dirty="0">
                          <a:solidFill>
                            <a:srgbClr val="26363B"/>
                          </a:solidFill>
                          <a:latin typeface="Arial" pitchFamily="34" charset="0"/>
                          <a:ea typeface="Arial" pitchFamily="34" charset="-122"/>
                          <a:cs typeface="Arial" pitchFamily="34" charset="-120"/>
                        </a:rPr>
                        <a:t>Total</a:t>
                      </a:r>
                      <a:endParaRPr lang="en-US" sz="1300" dirty="0">
                        <a:latin typeface="Arial" charset="0"/>
                        <a:ea typeface="Arial" charset="0"/>
                        <a:cs typeface="Aria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26363B"/>
                          </a:solidFill>
                          <a:latin typeface="Segoe UI Symbol" pitchFamily="34" charset="0"/>
                          <a:ea typeface="Segoe UI Symbol" pitchFamily="34" charset="-122"/>
                          <a:cs typeface="Segoe UI Symbol" pitchFamily="34" charset="-120"/>
                        </a:rPr>
                        <a:t>8</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26363B"/>
                          </a:solidFill>
                          <a:latin typeface="Segoe UI Symbol" pitchFamily="34" charset="0"/>
                          <a:ea typeface="Segoe UI Symbol" pitchFamily="34" charset="-122"/>
                          <a:cs typeface="Segoe UI Symbol" pitchFamily="34" charset="-120"/>
                        </a:rPr>
                        <a:t>12</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26363B"/>
                          </a:solidFill>
                          <a:latin typeface="Segoe UI Symbol" pitchFamily="34" charset="0"/>
                          <a:ea typeface="Segoe UI Symbol" pitchFamily="34" charset="-122"/>
                          <a:cs typeface="Segoe UI Symbol" pitchFamily="34" charset="-120"/>
                        </a:rPr>
                        <a:t>12</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26363B"/>
                          </a:solidFill>
                          <a:latin typeface="Segoe UI Symbol" pitchFamily="34" charset="0"/>
                          <a:ea typeface="Segoe UI Symbol" pitchFamily="34" charset="-122"/>
                          <a:cs typeface="Segoe UI Symbol" pitchFamily="34" charset="-120"/>
                        </a:rPr>
                        <a:t>12</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76B70"/>
                          </a:solidFill>
                          <a:latin typeface="Segoe UI Symbol" pitchFamily="34" charset="0"/>
                          <a:ea typeface="Segoe UI Symbol" pitchFamily="34" charset="-122"/>
                          <a:cs typeface="Segoe UI Symbol" pitchFamily="34" charset="-120"/>
                        </a:rPr>
                        <a:t>6</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EDF4F4"/>
                    </a:solidFill>
                  </a:tcPr>
                </a:tc>
                <a:extLst>
                  <a:ext uri="{0D108BD9-81ED-4DB2-BD59-A6C34878D82A}">
                    <a16:rowId xmlns:a16="http://schemas.microsoft.com/office/drawing/2014/main" val="10014"/>
                  </a:ext>
                </a:extLst>
              </a:tr>
            </a:tbl>
          </a:graphicData>
        </a:graphic>
      </p:graphicFrame>
      <p:sp>
        <p:nvSpPr>
          <p:cNvPr id="7" name="Text 3"/>
          <p:cNvSpPr/>
          <p:nvPr/>
        </p:nvSpPr>
        <p:spPr>
          <a:xfrm>
            <a:off x="594360" y="5550408"/>
            <a:ext cx="10881360" cy="713232"/>
          </a:xfrm>
          <a:prstGeom prst="rect">
            <a:avLst/>
          </a:prstGeom>
          <a:noFill/>
          <a:ln/>
        </p:spPr>
        <p:txBody>
          <a:bodyPr wrap="square" lIns="0" tIns="0" rIns="0" bIns="0" rtlCol="0" anchor="t"/>
          <a:lstStyle/>
          <a:p>
            <a:pPr marL="0" indent="0">
              <a:buNone/>
            </a:pPr>
            <a:r>
              <a:rPr lang="en-US" sz="1450" dirty="0">
                <a:solidFill>
                  <a:srgbClr val="26363B"/>
                </a:solidFill>
                <a:latin typeface="Arial" pitchFamily="34" charset="0"/>
                <a:ea typeface="Arial" pitchFamily="34" charset="-122"/>
                <a:cs typeface="Arial" pitchFamily="34" charset="-120"/>
              </a:rPr>
              <a:t>Forward fue el más selectivo de los tres métodos originales.</a:t>
            </a:r>
            <a:endParaRPr lang="en-US" sz="1450" dirty="0"/>
          </a:p>
          <a:p>
            <a:pPr marL="0" indent="0">
              <a:buNone/>
            </a:pPr>
            <a:r>
              <a:rPr lang="en-US" sz="1450" dirty="0">
                <a:solidFill>
                  <a:srgbClr val="26363B"/>
                </a:solidFill>
                <a:latin typeface="Arial" pitchFamily="34" charset="0"/>
                <a:ea typeface="Arial" pitchFamily="34" charset="-122"/>
                <a:cs typeface="Arial" pitchFamily="34" charset="-120"/>
              </a:rPr>
              <a:t>Backward y BSS histórico(solo </a:t>
            </a:r>
            <a:r>
              <a:rPr lang="en-US" sz="1450" dirty="0" err="1">
                <a:solidFill>
                  <a:srgbClr val="26363B"/>
                </a:solidFill>
                <a:latin typeface="Arial" pitchFamily="34" charset="0"/>
                <a:ea typeface="Arial" pitchFamily="34" charset="-122"/>
                <a:cs typeface="Arial" pitchFamily="34" charset="-120"/>
              </a:rPr>
              <a:t>trabaja</a:t>
            </a:r>
            <a:r>
              <a:rPr lang="en-US" sz="1450" dirty="0">
                <a:solidFill>
                  <a:srgbClr val="26363B"/>
                </a:solidFill>
                <a:latin typeface="Arial" pitchFamily="34" charset="0"/>
                <a:ea typeface="Arial" pitchFamily="34" charset="-122"/>
                <a:cs typeface="Arial" pitchFamily="34" charset="-120"/>
              </a:rPr>
              <a:t> con las 13 </a:t>
            </a:r>
            <a:r>
              <a:rPr lang="en-US" sz="1450" dirty="0" err="1">
                <a:solidFill>
                  <a:srgbClr val="26363B"/>
                </a:solidFill>
                <a:latin typeface="Arial" pitchFamily="34" charset="0"/>
                <a:ea typeface="Arial" pitchFamily="34" charset="-122"/>
                <a:cs typeface="Arial" pitchFamily="34" charset="-120"/>
              </a:rPr>
              <a:t>elegidas</a:t>
            </a:r>
            <a:r>
              <a:rPr lang="en-US" sz="1450" dirty="0">
                <a:solidFill>
                  <a:srgbClr val="26363B"/>
                </a:solidFill>
                <a:latin typeface="Arial" pitchFamily="34" charset="0"/>
                <a:ea typeface="Arial" pitchFamily="34" charset="-122"/>
                <a:cs typeface="Arial" pitchFamily="34" charset="-120"/>
              </a:rPr>
              <a:t>) conservaron las mismas 12 características.</a:t>
            </a:r>
            <a:endParaRPr lang="en-US" sz="1450" dirty="0"/>
          </a:p>
          <a:p>
            <a:pPr marL="0" indent="0">
              <a:buNone/>
            </a:pPr>
            <a:r>
              <a:rPr lang="en-US" sz="1450" dirty="0">
                <a:solidFill>
                  <a:srgbClr val="26363B"/>
                </a:solidFill>
                <a:latin typeface="Arial" pitchFamily="34" charset="0"/>
                <a:ea typeface="Arial" pitchFamily="34" charset="-122"/>
                <a:cs typeface="Arial" pitchFamily="34" charset="-120"/>
              </a:rPr>
              <a:t>La validación temporal redujo la selección final a seis grupos.</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1064240" cy="685800"/>
          </a:xfrm>
          <a:prstGeom prst="rect">
            <a:avLst/>
          </a:prstGeom>
          <a:noFill/>
          <a:ln/>
        </p:spPr>
        <p:txBody>
          <a:bodyPr wrap="square" lIns="0" tIns="0" rIns="0" bIns="0" rtlCol="0" anchor="ctr"/>
          <a:lstStyle/>
          <a:p>
            <a:pPr marL="0" indent="0">
              <a:buNone/>
            </a:pPr>
            <a:r>
              <a:rPr lang="en-US" sz="3100" b="1" dirty="0">
                <a:solidFill>
                  <a:srgbClr val="26363B"/>
                </a:solidFill>
                <a:latin typeface="Arial" pitchFamily="34" charset="0"/>
                <a:ea typeface="Arial" pitchFamily="34" charset="-122"/>
                <a:cs typeface="Arial" pitchFamily="34" charset="-120"/>
              </a:rPr>
              <a:t>El problema: estimar publicaciones futuras</a:t>
            </a:r>
            <a:endParaRPr lang="en-US" sz="3100" dirty="0"/>
          </a:p>
        </p:txBody>
      </p:sp>
      <p:sp>
        <p:nvSpPr>
          <p:cNvPr id="3" name="Text 1"/>
          <p:cNvSpPr/>
          <p:nvPr/>
        </p:nvSpPr>
        <p:spPr>
          <a:xfrm>
            <a:off x="502920" y="6419088"/>
            <a:ext cx="10789920" cy="201168"/>
          </a:xfrm>
          <a:prstGeom prst="rect">
            <a:avLst/>
          </a:prstGeom>
          <a:noFill/>
          <a:ln/>
        </p:spPr>
        <p:txBody>
          <a:bodyPr wrap="square" lIns="0" tIns="0" rIns="0" bIns="0" rtlCol="0" anchor="ctr"/>
          <a:lstStyle/>
          <a:p>
            <a:pPr marL="0" indent="0">
              <a:buNone/>
            </a:pPr>
            <a:r>
              <a:rPr lang="en-US" sz="950" dirty="0">
                <a:solidFill>
                  <a:srgbClr val="667A80"/>
                </a:solidFill>
                <a:latin typeface="Arial" pitchFamily="34" charset="0"/>
                <a:ea typeface="Arial" pitchFamily="34" charset="-122"/>
                <a:cs typeface="Arial" pitchFamily="34" charset="-120"/>
              </a:rPr>
              <a:t>Fuente: 1_EDA_PropUsadas.ipynb; 4_Seleccion_Modelos.ipynb</a:t>
            </a:r>
            <a:endParaRPr lang="en-US" sz="950" dirty="0"/>
          </a:p>
        </p:txBody>
      </p:sp>
      <p:sp>
        <p:nvSpPr>
          <p:cNvPr id="4" name="Text 2"/>
          <p:cNvSpPr/>
          <p:nvPr/>
        </p:nvSpPr>
        <p:spPr>
          <a:xfrm>
            <a:off x="11292840" y="6400800"/>
            <a:ext cx="384048" cy="228600"/>
          </a:xfrm>
          <a:prstGeom prst="rect">
            <a:avLst/>
          </a:prstGeom>
          <a:noFill/>
          <a:ln/>
        </p:spPr>
        <p:txBody>
          <a:bodyPr wrap="square" lIns="0" tIns="0" rIns="0" bIns="0" rtlCol="0" anchor="ctr"/>
          <a:lstStyle/>
          <a:p>
            <a:pPr marL="0" indent="0" algn="r">
              <a:buNone/>
            </a:pPr>
            <a:r>
              <a:rPr lang="en-US" sz="1000" dirty="0">
                <a:solidFill>
                  <a:srgbClr val="667A80"/>
                </a:solidFill>
                <a:latin typeface="Arial" pitchFamily="34" charset="0"/>
                <a:ea typeface="Arial" pitchFamily="34" charset="-122"/>
                <a:cs typeface="Arial" pitchFamily="34" charset="-120"/>
              </a:rPr>
              <a:t>02</a:t>
            </a:r>
            <a:endParaRPr lang="en-US" sz="1000" dirty="0"/>
          </a:p>
        </p:txBody>
      </p:sp>
      <p:sp>
        <p:nvSpPr>
          <p:cNvPr id="6" name="Text 3"/>
          <p:cNvSpPr/>
          <p:nvPr/>
        </p:nvSpPr>
        <p:spPr>
          <a:xfrm>
            <a:off x="548640" y="1371600"/>
            <a:ext cx="6766560" cy="1280160"/>
          </a:xfrm>
          <a:prstGeom prst="rect">
            <a:avLst/>
          </a:prstGeom>
          <a:noFill/>
          <a:ln/>
        </p:spPr>
        <p:txBody>
          <a:bodyPr wrap="square" lIns="0" tIns="0" rIns="0" bIns="0" rtlCol="0" anchor="t"/>
          <a:lstStyle/>
          <a:p>
            <a:pPr marL="0" indent="0">
              <a:buNone/>
            </a:pPr>
            <a:r>
              <a:rPr lang="en-US" sz="2500" dirty="0">
                <a:solidFill>
                  <a:srgbClr val="26363B"/>
                </a:solidFill>
                <a:latin typeface="Arial" pitchFamily="34" charset="0"/>
                <a:ea typeface="Arial" pitchFamily="34" charset="-122"/>
                <a:cs typeface="Arial" pitchFamily="34" charset="-120"/>
              </a:rPr>
              <a:t>Estimar el precio de publicación a partir de las características físicas, la localización y la fecha del anuncio.</a:t>
            </a:r>
            <a:endParaRPr lang="en-US" sz="2500" dirty="0"/>
          </a:p>
        </p:txBody>
      </p:sp>
      <p:sp>
        <p:nvSpPr>
          <p:cNvPr id="7" name="Text 4"/>
          <p:cNvSpPr/>
          <p:nvPr/>
        </p:nvSpPr>
        <p:spPr>
          <a:xfrm>
            <a:off x="8046720" y="1325880"/>
            <a:ext cx="3474720" cy="713232"/>
          </a:xfrm>
          <a:prstGeom prst="rect">
            <a:avLst/>
          </a:prstGeom>
          <a:noFill/>
          <a:ln/>
        </p:spPr>
        <p:txBody>
          <a:bodyPr wrap="square" lIns="0" tIns="0" rIns="0" bIns="0" rtlCol="0" anchor="ctr"/>
          <a:lstStyle/>
          <a:p>
            <a:pPr marL="0" indent="0">
              <a:buNone/>
            </a:pPr>
            <a:r>
              <a:rPr lang="en-US" sz="4300" b="1" dirty="0">
                <a:solidFill>
                  <a:srgbClr val="176B70"/>
                </a:solidFill>
                <a:latin typeface="Arial" pitchFamily="34" charset="0"/>
                <a:ea typeface="Arial" pitchFamily="34" charset="-122"/>
                <a:cs typeface="Arial" pitchFamily="34" charset="-120"/>
              </a:rPr>
              <a:t>50.000</a:t>
            </a:r>
            <a:endParaRPr lang="en-US" sz="4300" dirty="0"/>
          </a:p>
        </p:txBody>
      </p:sp>
      <p:sp>
        <p:nvSpPr>
          <p:cNvPr id="8" name="Text 5"/>
          <p:cNvSpPr/>
          <p:nvPr/>
        </p:nvSpPr>
        <p:spPr>
          <a:xfrm>
            <a:off x="8046720" y="2112264"/>
            <a:ext cx="3474720" cy="777240"/>
          </a:xfrm>
          <a:prstGeom prst="rect">
            <a:avLst/>
          </a:prstGeom>
          <a:noFill/>
          <a:ln/>
        </p:spPr>
        <p:txBody>
          <a:bodyPr wrap="square" lIns="0" tIns="0" rIns="0" bIns="0" rtlCol="0" anchor="t"/>
          <a:lstStyle/>
          <a:p>
            <a:pPr marL="0" indent="0">
              <a:buNone/>
            </a:pPr>
            <a:r>
              <a:rPr lang="en-US" sz="1700" dirty="0">
                <a:solidFill>
                  <a:srgbClr val="26363B"/>
                </a:solidFill>
                <a:latin typeface="Arial" pitchFamily="34" charset="0"/>
                <a:ea typeface="Arial" pitchFamily="34" charset="-122"/>
                <a:cs typeface="Arial" pitchFamily="34" charset="-120"/>
              </a:rPr>
              <a:t>anuncios integrados</a:t>
            </a:r>
            <a:endParaRPr lang="en-US" sz="1700" dirty="0"/>
          </a:p>
          <a:p>
            <a:pPr marL="0" indent="0">
              <a:buNone/>
            </a:pPr>
            <a:r>
              <a:rPr lang="en-US" sz="1700" dirty="0">
                <a:solidFill>
                  <a:srgbClr val="26363B"/>
                </a:solidFill>
                <a:latin typeface="Arial" pitchFamily="34" charset="0"/>
                <a:ea typeface="Arial" pitchFamily="34" charset="-122"/>
                <a:cs typeface="Arial" pitchFamily="34" charset="-120"/>
              </a:rPr>
              <a:t>40 columnas en el EDA</a:t>
            </a:r>
            <a:endParaRPr lang="en-US" sz="1700" dirty="0"/>
          </a:p>
        </p:txBody>
      </p:sp>
      <p:sp>
        <p:nvSpPr>
          <p:cNvPr id="9" name="Text 6"/>
          <p:cNvSpPr/>
          <p:nvPr/>
        </p:nvSpPr>
        <p:spPr>
          <a:xfrm>
            <a:off x="548640" y="2971800"/>
            <a:ext cx="4572000" cy="320040"/>
          </a:xfrm>
          <a:prstGeom prst="rect">
            <a:avLst/>
          </a:prstGeom>
          <a:noFill/>
          <a:ln/>
        </p:spPr>
        <p:txBody>
          <a:bodyPr wrap="square" lIns="0" tIns="0" rIns="0" bIns="0" rtlCol="0" anchor="ctr"/>
          <a:lstStyle/>
          <a:p>
            <a:pPr marL="0" indent="0">
              <a:buNone/>
            </a:pPr>
            <a:r>
              <a:rPr lang="en-US" sz="1900" b="1" dirty="0">
                <a:solidFill>
                  <a:srgbClr val="176B70"/>
                </a:solidFill>
                <a:latin typeface="Arial" pitchFamily="34" charset="0"/>
                <a:ea typeface="Arial" pitchFamily="34" charset="-122"/>
                <a:cs typeface="Arial" pitchFamily="34" charset="-120"/>
              </a:rPr>
              <a:t>Objetivo predictivo</a:t>
            </a:r>
            <a:endParaRPr lang="en-US" sz="1900" dirty="0"/>
          </a:p>
        </p:txBody>
      </p:sp>
      <p:sp>
        <p:nvSpPr>
          <p:cNvPr id="10" name="Text 7"/>
          <p:cNvSpPr/>
          <p:nvPr/>
        </p:nvSpPr>
        <p:spPr>
          <a:xfrm>
            <a:off x="548640" y="3429000"/>
            <a:ext cx="9966960" cy="640080"/>
          </a:xfrm>
          <a:prstGeom prst="rect">
            <a:avLst/>
          </a:prstGeom>
          <a:noFill/>
          <a:ln/>
        </p:spPr>
        <p:txBody>
          <a:bodyPr wrap="square" lIns="0" tIns="0" rIns="0" bIns="0" rtlCol="0" anchor="t"/>
          <a:lstStyle/>
          <a:p>
            <a:pPr marL="0" indent="0">
              <a:buNone/>
            </a:pPr>
            <a:r>
              <a:rPr lang="en-US" sz="2200" dirty="0">
                <a:solidFill>
                  <a:srgbClr val="26363B"/>
                </a:solidFill>
                <a:latin typeface="Arial" pitchFamily="34" charset="0"/>
                <a:ea typeface="Arial" pitchFamily="34" charset="-122"/>
                <a:cs typeface="Arial" pitchFamily="34" charset="-120"/>
              </a:rPr>
              <a:t>Anticipar precios posteriores al período de entrenamiento.</a:t>
            </a:r>
            <a:endParaRPr lang="en-US" sz="2200" dirty="0"/>
          </a:p>
        </p:txBody>
      </p:sp>
      <p:sp>
        <p:nvSpPr>
          <p:cNvPr id="11" name="Text 8"/>
          <p:cNvSpPr/>
          <p:nvPr/>
        </p:nvSpPr>
        <p:spPr>
          <a:xfrm>
            <a:off x="548640" y="4050792"/>
            <a:ext cx="10972800" cy="365760"/>
          </a:xfrm>
          <a:prstGeom prst="rect">
            <a:avLst/>
          </a:prstGeom>
          <a:noFill/>
          <a:ln/>
        </p:spPr>
        <p:txBody>
          <a:bodyPr wrap="square" lIns="0" tIns="0" rIns="0" bIns="0" rtlCol="0" anchor="t"/>
          <a:lstStyle/>
          <a:p>
            <a:pPr marL="0" indent="0">
              <a:buNone/>
            </a:pPr>
            <a:r>
              <a:rPr lang="en-US" sz="1600" dirty="0">
                <a:solidFill>
                  <a:srgbClr val="26363B"/>
                </a:solidFill>
                <a:latin typeface="Arial" pitchFamily="34" charset="0"/>
                <a:ea typeface="Arial" pitchFamily="34" charset="-122"/>
                <a:cs typeface="Arial" pitchFamily="34" charset="-120"/>
              </a:rPr>
              <a:t>Anuncios de un modelo hedónico sintético, con referencias geográficas y económicas reales.</a:t>
            </a:r>
            <a:endParaRPr lang="en-US" sz="1600" dirty="0"/>
          </a:p>
        </p:txBody>
      </p:sp>
      <p:sp>
        <p:nvSpPr>
          <p:cNvPr id="12" name="Text 9"/>
          <p:cNvSpPr/>
          <p:nvPr/>
        </p:nvSpPr>
        <p:spPr>
          <a:xfrm>
            <a:off x="566928" y="4572000"/>
            <a:ext cx="457200" cy="457200"/>
          </a:xfrm>
          <a:prstGeom prst="rect">
            <a:avLst/>
          </a:prstGeom>
          <a:noFill/>
          <a:ln/>
        </p:spPr>
        <p:txBody>
          <a:bodyPr wrap="square" lIns="0" tIns="0" rIns="0" bIns="0" rtlCol="0" anchor="ctr"/>
          <a:lstStyle/>
          <a:p>
            <a:pPr marL="0" indent="0">
              <a:buNone/>
            </a:pPr>
            <a:r>
              <a:rPr lang="en-US" sz="2500" b="1" dirty="0">
                <a:solidFill>
                  <a:srgbClr val="AF3C36"/>
                </a:solidFill>
                <a:latin typeface="Arial" pitchFamily="34" charset="0"/>
                <a:ea typeface="Arial" pitchFamily="34" charset="-122"/>
                <a:cs typeface="Arial" pitchFamily="34" charset="-120"/>
              </a:rPr>
              <a:t>1</a:t>
            </a:r>
            <a:endParaRPr lang="en-US" sz="2500" dirty="0"/>
          </a:p>
        </p:txBody>
      </p:sp>
      <p:sp>
        <p:nvSpPr>
          <p:cNvPr id="13" name="Text 10"/>
          <p:cNvSpPr/>
          <p:nvPr/>
        </p:nvSpPr>
        <p:spPr>
          <a:xfrm>
            <a:off x="566928" y="5166360"/>
            <a:ext cx="1463040" cy="640080"/>
          </a:xfrm>
          <a:prstGeom prst="rect">
            <a:avLst/>
          </a:prstGeom>
          <a:noFill/>
          <a:ln/>
        </p:spPr>
        <p:txBody>
          <a:bodyPr wrap="square" lIns="0" tIns="0" rIns="0" bIns="0" rtlCol="0" anchor="t"/>
          <a:lstStyle/>
          <a:p>
            <a:pPr marL="0" indent="0">
              <a:buNone/>
            </a:pPr>
            <a:r>
              <a:rPr lang="en-US" sz="1500" b="1" dirty="0">
                <a:solidFill>
                  <a:srgbClr val="26363B"/>
                </a:solidFill>
                <a:latin typeface="Arial" pitchFamily="34" charset="0"/>
                <a:ea typeface="Arial" pitchFamily="34" charset="-122"/>
                <a:cs typeface="Arial" pitchFamily="34" charset="-120"/>
              </a:rPr>
              <a:t>EDA</a:t>
            </a:r>
            <a:endParaRPr lang="en-US" sz="1500" dirty="0"/>
          </a:p>
        </p:txBody>
      </p:sp>
      <p:sp>
        <p:nvSpPr>
          <p:cNvPr id="14" name="Text 11"/>
          <p:cNvSpPr/>
          <p:nvPr/>
        </p:nvSpPr>
        <p:spPr>
          <a:xfrm>
            <a:off x="1344168" y="4572000"/>
            <a:ext cx="411480" cy="457200"/>
          </a:xfrm>
          <a:prstGeom prst="rect">
            <a:avLst/>
          </a:prstGeom>
          <a:noFill/>
          <a:ln/>
        </p:spPr>
        <p:txBody>
          <a:bodyPr wrap="square" lIns="0" tIns="0" rIns="0" bIns="0" rtlCol="0" anchor="ctr"/>
          <a:lstStyle/>
          <a:p>
            <a:pPr marL="0" indent="0">
              <a:buNone/>
            </a:pPr>
            <a:r>
              <a:rPr lang="en-US" sz="2200" dirty="0">
                <a:solidFill>
                  <a:srgbClr val="667A80"/>
                </a:solidFill>
                <a:latin typeface="Arial" pitchFamily="34" charset="0"/>
                <a:ea typeface="Arial" pitchFamily="34" charset="-122"/>
                <a:cs typeface="Arial" pitchFamily="34" charset="-120"/>
              </a:rPr>
              <a:t>→</a:t>
            </a:r>
            <a:endParaRPr lang="en-US" sz="2200" dirty="0"/>
          </a:p>
        </p:txBody>
      </p:sp>
      <p:sp>
        <p:nvSpPr>
          <p:cNvPr id="15" name="Text 12"/>
          <p:cNvSpPr/>
          <p:nvPr/>
        </p:nvSpPr>
        <p:spPr>
          <a:xfrm>
            <a:off x="2221992" y="4572000"/>
            <a:ext cx="457200" cy="457200"/>
          </a:xfrm>
          <a:prstGeom prst="rect">
            <a:avLst/>
          </a:prstGeom>
          <a:noFill/>
          <a:ln/>
        </p:spPr>
        <p:txBody>
          <a:bodyPr wrap="square" lIns="0" tIns="0" rIns="0" bIns="0" rtlCol="0" anchor="ctr"/>
          <a:lstStyle/>
          <a:p>
            <a:pPr marL="0" indent="0">
              <a:buNone/>
            </a:pPr>
            <a:r>
              <a:rPr lang="en-US" sz="2500" b="1" dirty="0">
                <a:solidFill>
                  <a:srgbClr val="AF3C36"/>
                </a:solidFill>
                <a:latin typeface="Arial" pitchFamily="34" charset="0"/>
                <a:ea typeface="Arial" pitchFamily="34" charset="-122"/>
                <a:cs typeface="Arial" pitchFamily="34" charset="-120"/>
              </a:rPr>
              <a:t>2</a:t>
            </a:r>
            <a:endParaRPr lang="en-US" sz="2500" dirty="0"/>
          </a:p>
        </p:txBody>
      </p:sp>
      <p:sp>
        <p:nvSpPr>
          <p:cNvPr id="16" name="Text 13"/>
          <p:cNvSpPr/>
          <p:nvPr/>
        </p:nvSpPr>
        <p:spPr>
          <a:xfrm>
            <a:off x="2221992" y="5166360"/>
            <a:ext cx="1463040" cy="640080"/>
          </a:xfrm>
          <a:prstGeom prst="rect">
            <a:avLst/>
          </a:prstGeom>
          <a:noFill/>
          <a:ln/>
        </p:spPr>
        <p:txBody>
          <a:bodyPr wrap="square" lIns="0" tIns="0" rIns="0" bIns="0" rtlCol="0" anchor="t"/>
          <a:lstStyle/>
          <a:p>
            <a:pPr marL="0" indent="0">
              <a:buNone/>
            </a:pPr>
            <a:r>
              <a:rPr lang="en-US" sz="1500" b="1" dirty="0">
                <a:solidFill>
                  <a:srgbClr val="26363B"/>
                </a:solidFill>
                <a:latin typeface="Arial" pitchFamily="34" charset="0"/>
                <a:ea typeface="Arial" pitchFamily="34" charset="-122"/>
                <a:cs typeface="Arial" pitchFamily="34" charset="-120"/>
              </a:rPr>
              <a:t>Transformación</a:t>
            </a:r>
            <a:endParaRPr lang="en-US" sz="1500" dirty="0"/>
          </a:p>
        </p:txBody>
      </p:sp>
      <p:sp>
        <p:nvSpPr>
          <p:cNvPr id="17" name="Text 14"/>
          <p:cNvSpPr/>
          <p:nvPr/>
        </p:nvSpPr>
        <p:spPr>
          <a:xfrm>
            <a:off x="2999232" y="4572000"/>
            <a:ext cx="411480" cy="457200"/>
          </a:xfrm>
          <a:prstGeom prst="rect">
            <a:avLst/>
          </a:prstGeom>
          <a:noFill/>
          <a:ln/>
        </p:spPr>
        <p:txBody>
          <a:bodyPr wrap="square" lIns="0" tIns="0" rIns="0" bIns="0" rtlCol="0" anchor="ctr"/>
          <a:lstStyle/>
          <a:p>
            <a:pPr marL="0" indent="0">
              <a:buNone/>
            </a:pPr>
            <a:r>
              <a:rPr lang="en-US" sz="2200" dirty="0">
                <a:solidFill>
                  <a:srgbClr val="667A80"/>
                </a:solidFill>
                <a:latin typeface="Arial" pitchFamily="34" charset="0"/>
                <a:ea typeface="Arial" pitchFamily="34" charset="-122"/>
                <a:cs typeface="Arial" pitchFamily="34" charset="-120"/>
              </a:rPr>
              <a:t>→</a:t>
            </a:r>
            <a:endParaRPr lang="en-US" sz="2200" dirty="0"/>
          </a:p>
        </p:txBody>
      </p:sp>
      <p:sp>
        <p:nvSpPr>
          <p:cNvPr id="18" name="Text 15"/>
          <p:cNvSpPr/>
          <p:nvPr/>
        </p:nvSpPr>
        <p:spPr>
          <a:xfrm>
            <a:off x="3877056" y="4572000"/>
            <a:ext cx="457200" cy="457200"/>
          </a:xfrm>
          <a:prstGeom prst="rect">
            <a:avLst/>
          </a:prstGeom>
          <a:noFill/>
          <a:ln/>
        </p:spPr>
        <p:txBody>
          <a:bodyPr wrap="square" lIns="0" tIns="0" rIns="0" bIns="0" rtlCol="0" anchor="ctr"/>
          <a:lstStyle/>
          <a:p>
            <a:pPr marL="0" indent="0">
              <a:buNone/>
            </a:pPr>
            <a:r>
              <a:rPr lang="en-US" sz="2500" b="1" dirty="0">
                <a:solidFill>
                  <a:srgbClr val="AF3C36"/>
                </a:solidFill>
                <a:latin typeface="Arial" pitchFamily="34" charset="0"/>
                <a:ea typeface="Arial" pitchFamily="34" charset="-122"/>
                <a:cs typeface="Arial" pitchFamily="34" charset="-120"/>
              </a:rPr>
              <a:t>3</a:t>
            </a:r>
            <a:endParaRPr lang="en-US" sz="2500" dirty="0"/>
          </a:p>
        </p:txBody>
      </p:sp>
      <p:sp>
        <p:nvSpPr>
          <p:cNvPr id="19" name="Text 16"/>
          <p:cNvSpPr/>
          <p:nvPr/>
        </p:nvSpPr>
        <p:spPr>
          <a:xfrm>
            <a:off x="3877056" y="5166360"/>
            <a:ext cx="1463040" cy="640080"/>
          </a:xfrm>
          <a:prstGeom prst="rect">
            <a:avLst/>
          </a:prstGeom>
          <a:noFill/>
          <a:ln/>
        </p:spPr>
        <p:txBody>
          <a:bodyPr wrap="square" lIns="0" tIns="0" rIns="0" bIns="0" rtlCol="0" anchor="t"/>
          <a:lstStyle/>
          <a:p>
            <a:pPr marL="0" indent="0">
              <a:buNone/>
            </a:pPr>
            <a:r>
              <a:rPr lang="en-US" sz="1500" b="1" dirty="0">
                <a:solidFill>
                  <a:srgbClr val="26363B"/>
                </a:solidFill>
                <a:latin typeface="Arial" pitchFamily="34" charset="0"/>
                <a:ea typeface="Arial" pitchFamily="34" charset="-122"/>
                <a:cs typeface="Arial" pitchFamily="34" charset="-120"/>
              </a:rPr>
              <a:t>OLS</a:t>
            </a:r>
            <a:endParaRPr lang="en-US" sz="1500" dirty="0"/>
          </a:p>
        </p:txBody>
      </p:sp>
      <p:sp>
        <p:nvSpPr>
          <p:cNvPr id="20" name="Text 17"/>
          <p:cNvSpPr/>
          <p:nvPr/>
        </p:nvSpPr>
        <p:spPr>
          <a:xfrm>
            <a:off x="4654296" y="4572000"/>
            <a:ext cx="411480" cy="457200"/>
          </a:xfrm>
          <a:prstGeom prst="rect">
            <a:avLst/>
          </a:prstGeom>
          <a:noFill/>
          <a:ln/>
        </p:spPr>
        <p:txBody>
          <a:bodyPr wrap="square" lIns="0" tIns="0" rIns="0" bIns="0" rtlCol="0" anchor="ctr"/>
          <a:lstStyle/>
          <a:p>
            <a:pPr marL="0" indent="0">
              <a:buNone/>
            </a:pPr>
            <a:r>
              <a:rPr lang="en-US" sz="2200" dirty="0">
                <a:solidFill>
                  <a:srgbClr val="667A80"/>
                </a:solidFill>
                <a:latin typeface="Arial" pitchFamily="34" charset="0"/>
                <a:ea typeface="Arial" pitchFamily="34" charset="-122"/>
                <a:cs typeface="Arial" pitchFamily="34" charset="-120"/>
              </a:rPr>
              <a:t>→</a:t>
            </a:r>
            <a:endParaRPr lang="en-US" sz="2200" dirty="0"/>
          </a:p>
        </p:txBody>
      </p:sp>
      <p:sp>
        <p:nvSpPr>
          <p:cNvPr id="21" name="Text 18"/>
          <p:cNvSpPr/>
          <p:nvPr/>
        </p:nvSpPr>
        <p:spPr>
          <a:xfrm>
            <a:off x="5532120" y="4572000"/>
            <a:ext cx="457200" cy="457200"/>
          </a:xfrm>
          <a:prstGeom prst="rect">
            <a:avLst/>
          </a:prstGeom>
          <a:noFill/>
          <a:ln/>
        </p:spPr>
        <p:txBody>
          <a:bodyPr wrap="square" lIns="0" tIns="0" rIns="0" bIns="0" rtlCol="0" anchor="ctr"/>
          <a:lstStyle/>
          <a:p>
            <a:pPr marL="0" indent="0">
              <a:buNone/>
            </a:pPr>
            <a:r>
              <a:rPr lang="en-US" sz="2500" b="1" dirty="0">
                <a:solidFill>
                  <a:srgbClr val="AF3C36"/>
                </a:solidFill>
                <a:latin typeface="Arial" pitchFamily="34" charset="0"/>
                <a:ea typeface="Arial" pitchFamily="34" charset="-122"/>
                <a:cs typeface="Arial" pitchFamily="34" charset="-120"/>
              </a:rPr>
              <a:t>4</a:t>
            </a:r>
            <a:endParaRPr lang="en-US" sz="2500" dirty="0"/>
          </a:p>
        </p:txBody>
      </p:sp>
      <p:sp>
        <p:nvSpPr>
          <p:cNvPr id="22" name="Text 19"/>
          <p:cNvSpPr/>
          <p:nvPr/>
        </p:nvSpPr>
        <p:spPr>
          <a:xfrm>
            <a:off x="5532120" y="5166360"/>
            <a:ext cx="1463040" cy="640080"/>
          </a:xfrm>
          <a:prstGeom prst="rect">
            <a:avLst/>
          </a:prstGeom>
          <a:noFill/>
          <a:ln/>
        </p:spPr>
        <p:txBody>
          <a:bodyPr wrap="square" lIns="0" tIns="0" rIns="0" bIns="0" rtlCol="0" anchor="t"/>
          <a:lstStyle/>
          <a:p>
            <a:pPr marL="0" indent="0">
              <a:buNone/>
            </a:pPr>
            <a:r>
              <a:rPr lang="en-US" sz="1500" b="1" dirty="0">
                <a:solidFill>
                  <a:srgbClr val="26363B"/>
                </a:solidFill>
                <a:latin typeface="Arial" pitchFamily="34" charset="0"/>
                <a:ea typeface="Arial" pitchFamily="34" charset="-122"/>
                <a:cs typeface="Arial" pitchFamily="34" charset="-120"/>
              </a:rPr>
              <a:t>Selección</a:t>
            </a:r>
            <a:endParaRPr lang="en-US" sz="1500" dirty="0"/>
          </a:p>
        </p:txBody>
      </p:sp>
      <p:sp>
        <p:nvSpPr>
          <p:cNvPr id="23" name="Text 20"/>
          <p:cNvSpPr/>
          <p:nvPr/>
        </p:nvSpPr>
        <p:spPr>
          <a:xfrm>
            <a:off x="6309360" y="4572000"/>
            <a:ext cx="411480" cy="457200"/>
          </a:xfrm>
          <a:prstGeom prst="rect">
            <a:avLst/>
          </a:prstGeom>
          <a:noFill/>
          <a:ln/>
        </p:spPr>
        <p:txBody>
          <a:bodyPr wrap="square" lIns="0" tIns="0" rIns="0" bIns="0" rtlCol="0" anchor="ctr"/>
          <a:lstStyle/>
          <a:p>
            <a:pPr marL="0" indent="0">
              <a:buNone/>
            </a:pPr>
            <a:r>
              <a:rPr lang="en-US" sz="2200" dirty="0">
                <a:solidFill>
                  <a:srgbClr val="667A80"/>
                </a:solidFill>
                <a:latin typeface="Arial" pitchFamily="34" charset="0"/>
                <a:ea typeface="Arial" pitchFamily="34" charset="-122"/>
                <a:cs typeface="Arial" pitchFamily="34" charset="-120"/>
              </a:rPr>
              <a:t>→</a:t>
            </a:r>
            <a:endParaRPr lang="en-US" sz="2200" dirty="0"/>
          </a:p>
        </p:txBody>
      </p:sp>
      <p:sp>
        <p:nvSpPr>
          <p:cNvPr id="24" name="Text 21"/>
          <p:cNvSpPr/>
          <p:nvPr/>
        </p:nvSpPr>
        <p:spPr>
          <a:xfrm>
            <a:off x="7187184" y="4572000"/>
            <a:ext cx="457200" cy="457200"/>
          </a:xfrm>
          <a:prstGeom prst="rect">
            <a:avLst/>
          </a:prstGeom>
          <a:noFill/>
          <a:ln/>
        </p:spPr>
        <p:txBody>
          <a:bodyPr wrap="square" lIns="0" tIns="0" rIns="0" bIns="0" rtlCol="0" anchor="ctr"/>
          <a:lstStyle/>
          <a:p>
            <a:pPr marL="0" indent="0">
              <a:buNone/>
            </a:pPr>
            <a:r>
              <a:rPr lang="en-US" sz="2500" b="1" dirty="0">
                <a:solidFill>
                  <a:srgbClr val="AF3C36"/>
                </a:solidFill>
                <a:latin typeface="Arial" pitchFamily="34" charset="0"/>
                <a:ea typeface="Arial" pitchFamily="34" charset="-122"/>
                <a:cs typeface="Arial" pitchFamily="34" charset="-120"/>
              </a:rPr>
              <a:t>5</a:t>
            </a:r>
            <a:endParaRPr lang="en-US" sz="2500" dirty="0"/>
          </a:p>
        </p:txBody>
      </p:sp>
      <p:sp>
        <p:nvSpPr>
          <p:cNvPr id="25" name="Text 22"/>
          <p:cNvSpPr/>
          <p:nvPr/>
        </p:nvSpPr>
        <p:spPr>
          <a:xfrm>
            <a:off x="7187184" y="5166360"/>
            <a:ext cx="1463040" cy="640080"/>
          </a:xfrm>
          <a:prstGeom prst="rect">
            <a:avLst/>
          </a:prstGeom>
          <a:noFill/>
          <a:ln/>
        </p:spPr>
        <p:txBody>
          <a:bodyPr wrap="square" lIns="0" tIns="0" rIns="0" bIns="0" rtlCol="0" anchor="t"/>
          <a:lstStyle/>
          <a:p>
            <a:pPr marL="0" indent="0">
              <a:buNone/>
            </a:pPr>
            <a:r>
              <a:rPr lang="en-US" sz="1500" b="1" dirty="0">
                <a:solidFill>
                  <a:srgbClr val="26363B"/>
                </a:solidFill>
                <a:latin typeface="Arial" pitchFamily="34" charset="0"/>
                <a:ea typeface="Arial" pitchFamily="34" charset="-122"/>
                <a:cs typeface="Arial" pitchFamily="34" charset="-120"/>
              </a:rPr>
              <a:t>BSS</a:t>
            </a:r>
            <a:endParaRPr lang="en-US" sz="1500" dirty="0"/>
          </a:p>
        </p:txBody>
      </p:sp>
      <p:sp>
        <p:nvSpPr>
          <p:cNvPr id="26" name="Text 23"/>
          <p:cNvSpPr/>
          <p:nvPr/>
        </p:nvSpPr>
        <p:spPr>
          <a:xfrm>
            <a:off x="7964424" y="4572000"/>
            <a:ext cx="411480" cy="457200"/>
          </a:xfrm>
          <a:prstGeom prst="rect">
            <a:avLst/>
          </a:prstGeom>
          <a:noFill/>
          <a:ln/>
        </p:spPr>
        <p:txBody>
          <a:bodyPr wrap="square" lIns="0" tIns="0" rIns="0" bIns="0" rtlCol="0" anchor="ctr"/>
          <a:lstStyle/>
          <a:p>
            <a:pPr marL="0" indent="0">
              <a:buNone/>
            </a:pPr>
            <a:r>
              <a:rPr lang="en-US" sz="2200" dirty="0">
                <a:solidFill>
                  <a:srgbClr val="667A80"/>
                </a:solidFill>
                <a:latin typeface="Arial" pitchFamily="34" charset="0"/>
                <a:ea typeface="Arial" pitchFamily="34" charset="-122"/>
                <a:cs typeface="Arial" pitchFamily="34" charset="-120"/>
              </a:rPr>
              <a:t>→</a:t>
            </a:r>
            <a:endParaRPr lang="en-US" sz="2200" dirty="0"/>
          </a:p>
        </p:txBody>
      </p:sp>
      <p:sp>
        <p:nvSpPr>
          <p:cNvPr id="27" name="Text 24"/>
          <p:cNvSpPr/>
          <p:nvPr/>
        </p:nvSpPr>
        <p:spPr>
          <a:xfrm>
            <a:off x="8842248" y="4572000"/>
            <a:ext cx="457200" cy="457200"/>
          </a:xfrm>
          <a:prstGeom prst="rect">
            <a:avLst/>
          </a:prstGeom>
          <a:noFill/>
          <a:ln/>
        </p:spPr>
        <p:txBody>
          <a:bodyPr wrap="square" lIns="0" tIns="0" rIns="0" bIns="0" rtlCol="0" anchor="ctr"/>
          <a:lstStyle/>
          <a:p>
            <a:pPr marL="0" indent="0">
              <a:buNone/>
            </a:pPr>
            <a:r>
              <a:rPr lang="en-US" sz="2500" b="1" dirty="0">
                <a:solidFill>
                  <a:srgbClr val="AF3C36"/>
                </a:solidFill>
                <a:latin typeface="Arial" pitchFamily="34" charset="0"/>
                <a:ea typeface="Arial" pitchFamily="34" charset="-122"/>
                <a:cs typeface="Arial" pitchFamily="34" charset="-120"/>
              </a:rPr>
              <a:t>6</a:t>
            </a:r>
            <a:endParaRPr lang="en-US" sz="2500" dirty="0"/>
          </a:p>
        </p:txBody>
      </p:sp>
      <p:sp>
        <p:nvSpPr>
          <p:cNvPr id="28" name="Text 25"/>
          <p:cNvSpPr/>
          <p:nvPr/>
        </p:nvSpPr>
        <p:spPr>
          <a:xfrm>
            <a:off x="8842248" y="5166360"/>
            <a:ext cx="1463040" cy="640080"/>
          </a:xfrm>
          <a:prstGeom prst="rect">
            <a:avLst/>
          </a:prstGeom>
          <a:noFill/>
          <a:ln/>
        </p:spPr>
        <p:txBody>
          <a:bodyPr wrap="square" lIns="0" tIns="0" rIns="0" bIns="0" rtlCol="0" anchor="t"/>
          <a:lstStyle/>
          <a:p>
            <a:pPr marL="0" indent="0">
              <a:buNone/>
            </a:pPr>
            <a:r>
              <a:rPr lang="en-US" sz="1500" b="1" dirty="0">
                <a:solidFill>
                  <a:srgbClr val="26363B"/>
                </a:solidFill>
                <a:latin typeface="Arial" pitchFamily="34" charset="0"/>
                <a:ea typeface="Arial" pitchFamily="34" charset="-122"/>
                <a:cs typeface="Arial" pitchFamily="34" charset="-120"/>
              </a:rPr>
              <a:t>Validación</a:t>
            </a:r>
            <a:endParaRPr lang="en-US" sz="1500" dirty="0"/>
          </a:p>
          <a:p>
            <a:pPr marL="0" indent="0">
              <a:buNone/>
            </a:pPr>
            <a:r>
              <a:rPr lang="en-US" sz="1500" b="1" dirty="0">
                <a:solidFill>
                  <a:srgbClr val="26363B"/>
                </a:solidFill>
                <a:latin typeface="Arial" pitchFamily="34" charset="0"/>
                <a:ea typeface="Arial" pitchFamily="34" charset="-122"/>
                <a:cs typeface="Arial" pitchFamily="34" charset="-120"/>
              </a:rPr>
              <a:t>temporal</a:t>
            </a:r>
            <a:endParaRPr lang="en-US" sz="1500" dirty="0"/>
          </a:p>
        </p:txBody>
      </p:sp>
      <p:sp>
        <p:nvSpPr>
          <p:cNvPr id="29" name="Text 26"/>
          <p:cNvSpPr/>
          <p:nvPr/>
        </p:nvSpPr>
        <p:spPr>
          <a:xfrm>
            <a:off x="9619488" y="4572000"/>
            <a:ext cx="411480" cy="457200"/>
          </a:xfrm>
          <a:prstGeom prst="rect">
            <a:avLst/>
          </a:prstGeom>
          <a:noFill/>
          <a:ln/>
        </p:spPr>
        <p:txBody>
          <a:bodyPr wrap="square" lIns="0" tIns="0" rIns="0" bIns="0" rtlCol="0" anchor="ctr"/>
          <a:lstStyle/>
          <a:p>
            <a:pPr marL="0" indent="0">
              <a:buNone/>
            </a:pPr>
            <a:r>
              <a:rPr lang="en-US" sz="2200" dirty="0">
                <a:solidFill>
                  <a:srgbClr val="667A80"/>
                </a:solidFill>
                <a:latin typeface="Arial" pitchFamily="34" charset="0"/>
                <a:ea typeface="Arial" pitchFamily="34" charset="-122"/>
                <a:cs typeface="Arial" pitchFamily="34" charset="-120"/>
              </a:rPr>
              <a:t>→</a:t>
            </a:r>
            <a:endParaRPr lang="en-US" sz="2200" dirty="0"/>
          </a:p>
        </p:txBody>
      </p:sp>
      <p:sp>
        <p:nvSpPr>
          <p:cNvPr id="30" name="Text 27"/>
          <p:cNvSpPr/>
          <p:nvPr/>
        </p:nvSpPr>
        <p:spPr>
          <a:xfrm>
            <a:off x="10497312" y="4572000"/>
            <a:ext cx="457200" cy="457200"/>
          </a:xfrm>
          <a:prstGeom prst="rect">
            <a:avLst/>
          </a:prstGeom>
          <a:noFill/>
          <a:ln/>
        </p:spPr>
        <p:txBody>
          <a:bodyPr wrap="square" lIns="0" tIns="0" rIns="0" bIns="0" rtlCol="0" anchor="ctr"/>
          <a:lstStyle/>
          <a:p>
            <a:pPr marL="0" indent="0">
              <a:buNone/>
            </a:pPr>
            <a:r>
              <a:rPr lang="en-US" sz="2500" b="1" dirty="0">
                <a:solidFill>
                  <a:srgbClr val="AF3C36"/>
                </a:solidFill>
                <a:latin typeface="Arial" pitchFamily="34" charset="0"/>
                <a:ea typeface="Arial" pitchFamily="34" charset="-122"/>
                <a:cs typeface="Arial" pitchFamily="34" charset="-120"/>
              </a:rPr>
              <a:t>7</a:t>
            </a:r>
            <a:endParaRPr lang="en-US" sz="2500" dirty="0"/>
          </a:p>
        </p:txBody>
      </p:sp>
      <p:sp>
        <p:nvSpPr>
          <p:cNvPr id="31" name="Text 28"/>
          <p:cNvSpPr/>
          <p:nvPr/>
        </p:nvSpPr>
        <p:spPr>
          <a:xfrm>
            <a:off x="10497312" y="5166360"/>
            <a:ext cx="1463040" cy="640080"/>
          </a:xfrm>
          <a:prstGeom prst="rect">
            <a:avLst/>
          </a:prstGeom>
          <a:noFill/>
          <a:ln/>
        </p:spPr>
        <p:txBody>
          <a:bodyPr wrap="square" lIns="0" tIns="0" rIns="0" bIns="0" rtlCol="0" anchor="t"/>
          <a:lstStyle/>
          <a:p>
            <a:pPr marL="0" indent="0">
              <a:buNone/>
            </a:pPr>
            <a:r>
              <a:rPr lang="en-US" sz="1500" b="1" dirty="0">
                <a:solidFill>
                  <a:srgbClr val="26363B"/>
                </a:solidFill>
                <a:latin typeface="Arial" pitchFamily="34" charset="0"/>
                <a:ea typeface="Arial" pitchFamily="34" charset="-122"/>
                <a:cs typeface="Arial" pitchFamily="34" charset="-120"/>
              </a:rPr>
              <a:t>Modelo final</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1064240" cy="685800"/>
          </a:xfrm>
          <a:prstGeom prst="rect">
            <a:avLst/>
          </a:prstGeom>
          <a:noFill/>
          <a:ln/>
        </p:spPr>
        <p:txBody>
          <a:bodyPr wrap="square" lIns="0" tIns="0" rIns="0" bIns="0" rtlCol="0" anchor="ctr"/>
          <a:lstStyle/>
          <a:p>
            <a:pPr marL="0" indent="0">
              <a:buNone/>
            </a:pPr>
            <a:r>
              <a:rPr lang="en-US" sz="3100" b="1" dirty="0">
                <a:solidFill>
                  <a:srgbClr val="26363B"/>
                </a:solidFill>
                <a:latin typeface="Arial" pitchFamily="34" charset="0"/>
                <a:cs typeface="Arial" pitchFamily="34" charset="-120"/>
              </a:rPr>
              <a:t>EDA</a:t>
            </a:r>
            <a:endParaRPr lang="en-US" sz="3100" dirty="0"/>
          </a:p>
        </p:txBody>
      </p:sp>
      <p:sp>
        <p:nvSpPr>
          <p:cNvPr id="4" name="Text 2"/>
          <p:cNvSpPr/>
          <p:nvPr/>
        </p:nvSpPr>
        <p:spPr>
          <a:xfrm>
            <a:off x="11292840" y="6400800"/>
            <a:ext cx="384048" cy="228600"/>
          </a:xfrm>
          <a:prstGeom prst="rect">
            <a:avLst/>
          </a:prstGeom>
          <a:noFill/>
          <a:ln/>
        </p:spPr>
        <p:txBody>
          <a:bodyPr wrap="square" lIns="0" tIns="0" rIns="0" bIns="0" rtlCol="0" anchor="ctr"/>
          <a:lstStyle/>
          <a:p>
            <a:pPr marL="0" indent="0" algn="r">
              <a:buNone/>
            </a:pPr>
            <a:r>
              <a:rPr lang="en-US" sz="1000" dirty="0">
                <a:solidFill>
                  <a:srgbClr val="667A80"/>
                </a:solidFill>
                <a:latin typeface="Arial" pitchFamily="34" charset="0"/>
                <a:ea typeface="Arial" pitchFamily="34" charset="-122"/>
                <a:cs typeface="Arial" pitchFamily="34" charset="-120"/>
              </a:rPr>
              <a:t>03</a:t>
            </a:r>
            <a:endParaRPr lang="en-US" sz="1000" dirty="0"/>
          </a:p>
        </p:txBody>
      </p:sp>
      <p:sp>
        <p:nvSpPr>
          <p:cNvPr id="6" name="Text 3"/>
          <p:cNvSpPr/>
          <p:nvPr/>
        </p:nvSpPr>
        <p:spPr>
          <a:xfrm>
            <a:off x="566928" y="1325880"/>
            <a:ext cx="3657600" cy="320040"/>
          </a:xfrm>
          <a:prstGeom prst="rect">
            <a:avLst/>
          </a:prstGeom>
          <a:noFill/>
          <a:ln/>
        </p:spPr>
        <p:txBody>
          <a:bodyPr wrap="square" lIns="0" tIns="0" rIns="0" bIns="0" rtlCol="0" anchor="ctr"/>
          <a:lstStyle/>
          <a:p>
            <a:pPr marL="0" indent="0">
              <a:buNone/>
            </a:pPr>
            <a:r>
              <a:rPr lang="en-US" sz="1900" b="1" dirty="0">
                <a:solidFill>
                  <a:srgbClr val="176B70"/>
                </a:solidFill>
                <a:latin typeface="Arial" pitchFamily="34" charset="0"/>
                <a:ea typeface="Arial" pitchFamily="34" charset="-122"/>
                <a:cs typeface="Arial" pitchFamily="34" charset="-120"/>
              </a:rPr>
              <a:t>Precio de publicación</a:t>
            </a:r>
            <a:endParaRPr lang="en-US" sz="1900" dirty="0"/>
          </a:p>
        </p:txBody>
      </p:sp>
      <p:sp>
        <p:nvSpPr>
          <p:cNvPr id="7" name="Text 4"/>
          <p:cNvSpPr/>
          <p:nvPr/>
        </p:nvSpPr>
        <p:spPr>
          <a:xfrm>
            <a:off x="4498848" y="1325880"/>
            <a:ext cx="3657600" cy="320040"/>
          </a:xfrm>
          <a:prstGeom prst="rect">
            <a:avLst/>
          </a:prstGeom>
          <a:noFill/>
          <a:ln/>
        </p:spPr>
        <p:txBody>
          <a:bodyPr wrap="square" lIns="0" tIns="0" rIns="0" bIns="0" rtlCol="0" anchor="ctr"/>
          <a:lstStyle/>
          <a:p>
            <a:pPr marL="0" indent="0">
              <a:buNone/>
            </a:pPr>
            <a:r>
              <a:rPr lang="en-US" sz="1900" b="1" dirty="0">
                <a:solidFill>
                  <a:srgbClr val="176B70"/>
                </a:solidFill>
                <a:latin typeface="Arial" pitchFamily="34" charset="0"/>
                <a:ea typeface="Arial" pitchFamily="34" charset="-122"/>
                <a:cs typeface="Arial" pitchFamily="34" charset="-120"/>
              </a:rPr>
              <a:t>Superficie total</a:t>
            </a:r>
            <a:endParaRPr lang="en-US" sz="1900" dirty="0"/>
          </a:p>
        </p:txBody>
      </p:sp>
      <p:sp>
        <p:nvSpPr>
          <p:cNvPr id="8" name="Text 5"/>
          <p:cNvSpPr/>
          <p:nvPr/>
        </p:nvSpPr>
        <p:spPr>
          <a:xfrm>
            <a:off x="8366760" y="1325880"/>
            <a:ext cx="3291840" cy="320040"/>
          </a:xfrm>
          <a:prstGeom prst="rect">
            <a:avLst/>
          </a:prstGeom>
          <a:noFill/>
          <a:ln/>
        </p:spPr>
        <p:txBody>
          <a:bodyPr wrap="square" lIns="0" tIns="0" rIns="0" bIns="0" rtlCol="0" anchor="ctr"/>
          <a:lstStyle/>
          <a:p>
            <a:pPr marL="0" indent="0">
              <a:buNone/>
            </a:pPr>
            <a:r>
              <a:rPr lang="en-US" sz="1900" b="1" dirty="0">
                <a:solidFill>
                  <a:srgbClr val="176B70"/>
                </a:solidFill>
                <a:latin typeface="Arial" pitchFamily="34" charset="0"/>
                <a:ea typeface="Arial" pitchFamily="34" charset="-122"/>
                <a:cs typeface="Arial" pitchFamily="34" charset="-120"/>
              </a:rPr>
              <a:t>Tipo de edificio</a:t>
            </a:r>
            <a:endParaRPr lang="en-US" sz="1900" dirty="0"/>
          </a:p>
        </p:txBody>
      </p:sp>
      <p:graphicFrame>
        <p:nvGraphicFramePr>
          <p:cNvPr id="9" name="Chart 0"/>
          <p:cNvGraphicFramePr/>
          <p:nvPr/>
        </p:nvGraphicFramePr>
        <p:xfrm>
          <a:off x="502920" y="1828800"/>
          <a:ext cx="3657600" cy="24231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Chart 1"/>
          <p:cNvGraphicFramePr/>
          <p:nvPr/>
        </p:nvGraphicFramePr>
        <p:xfrm>
          <a:off x="4434840" y="1828800"/>
          <a:ext cx="3657600" cy="2423160"/>
        </p:xfrm>
        <a:graphic>
          <a:graphicData uri="http://schemas.openxmlformats.org/drawingml/2006/chart">
            <c:chart xmlns:c="http://schemas.openxmlformats.org/drawingml/2006/chart" xmlns:r="http://schemas.openxmlformats.org/officeDocument/2006/relationships" r:id="rId4"/>
          </a:graphicData>
        </a:graphic>
      </p:graphicFrame>
      <p:sp>
        <p:nvSpPr>
          <p:cNvPr id="11" name="Text 6"/>
          <p:cNvSpPr/>
          <p:nvPr/>
        </p:nvSpPr>
        <p:spPr>
          <a:xfrm>
            <a:off x="1097280" y="4270248"/>
            <a:ext cx="2743200" cy="210312"/>
          </a:xfrm>
          <a:prstGeom prst="rect">
            <a:avLst/>
          </a:prstGeom>
          <a:noFill/>
          <a:ln/>
        </p:spPr>
        <p:txBody>
          <a:bodyPr wrap="square" lIns="0" tIns="0" rIns="0" bIns="0" rtlCol="0" anchor="ctr"/>
          <a:lstStyle/>
          <a:p>
            <a:pPr marL="0" indent="0" algn="ctr">
              <a:buNone/>
            </a:pPr>
            <a:r>
              <a:rPr lang="en-US" sz="1100" dirty="0">
                <a:solidFill>
                  <a:srgbClr val="667A80"/>
                </a:solidFill>
                <a:latin typeface="Arial" pitchFamily="34" charset="0"/>
                <a:ea typeface="Arial" pitchFamily="34" charset="-122"/>
                <a:cs typeface="Arial" pitchFamily="34" charset="-120"/>
              </a:rPr>
              <a:t>Millones de RUB</a:t>
            </a:r>
            <a:endParaRPr lang="en-US" sz="1100" dirty="0"/>
          </a:p>
        </p:txBody>
      </p:sp>
      <p:sp>
        <p:nvSpPr>
          <p:cNvPr id="12" name="Text 7"/>
          <p:cNvSpPr/>
          <p:nvPr/>
        </p:nvSpPr>
        <p:spPr>
          <a:xfrm>
            <a:off x="5029200" y="4270248"/>
            <a:ext cx="2743200" cy="210312"/>
          </a:xfrm>
          <a:prstGeom prst="rect">
            <a:avLst/>
          </a:prstGeom>
          <a:noFill/>
          <a:ln/>
        </p:spPr>
        <p:txBody>
          <a:bodyPr wrap="square" lIns="0" tIns="0" rIns="0" bIns="0" rtlCol="0" anchor="ctr"/>
          <a:lstStyle/>
          <a:p>
            <a:pPr marL="0" indent="0" algn="ctr">
              <a:buNone/>
            </a:pPr>
            <a:r>
              <a:rPr lang="en-US" sz="1100" dirty="0">
                <a:solidFill>
                  <a:srgbClr val="667A80"/>
                </a:solidFill>
                <a:latin typeface="Arial" pitchFamily="34" charset="0"/>
                <a:ea typeface="Arial" pitchFamily="34" charset="-122"/>
                <a:cs typeface="Arial" pitchFamily="34" charset="-120"/>
              </a:rPr>
              <a:t>Superficie (m²)</a:t>
            </a:r>
            <a:endParaRPr lang="en-US" sz="1100" dirty="0"/>
          </a:p>
        </p:txBody>
      </p:sp>
      <p:graphicFrame>
        <p:nvGraphicFramePr>
          <p:cNvPr id="13" name="Chart 2"/>
          <p:cNvGraphicFramePr/>
          <p:nvPr/>
        </p:nvGraphicFramePr>
        <p:xfrm>
          <a:off x="8321040" y="1828800"/>
          <a:ext cx="3337560" cy="2423160"/>
        </p:xfrm>
        <a:graphic>
          <a:graphicData uri="http://schemas.openxmlformats.org/drawingml/2006/chart">
            <c:chart xmlns:c="http://schemas.openxmlformats.org/drawingml/2006/chart" xmlns:r="http://schemas.openxmlformats.org/officeDocument/2006/relationships" r:id="rId5"/>
          </a:graphicData>
        </a:graphic>
      </p:graphicFrame>
      <p:sp>
        <p:nvSpPr>
          <p:cNvPr id="14" name="Text 8"/>
          <p:cNvSpPr/>
          <p:nvPr/>
        </p:nvSpPr>
        <p:spPr>
          <a:xfrm>
            <a:off x="594360" y="4572000"/>
            <a:ext cx="3383280" cy="1005840"/>
          </a:xfrm>
          <a:prstGeom prst="rect">
            <a:avLst/>
          </a:prstGeom>
          <a:noFill/>
          <a:ln/>
        </p:spPr>
        <p:txBody>
          <a:bodyPr wrap="square" lIns="0" tIns="0" rIns="0" bIns="0" rtlCol="0" anchor="t"/>
          <a:lstStyle/>
          <a:p>
            <a:pPr marL="0" indent="0">
              <a:buNone/>
            </a:pPr>
            <a:r>
              <a:rPr lang="en-US" sz="1800" dirty="0">
                <a:solidFill>
                  <a:srgbClr val="26363B"/>
                </a:solidFill>
                <a:latin typeface="Arial" pitchFamily="34" charset="0"/>
                <a:ea typeface="Arial" pitchFamily="34" charset="-122"/>
                <a:cs typeface="Arial" pitchFamily="34" charset="-120"/>
              </a:rPr>
              <a:t>Los precios altos pueden influir en el ajuste. Motivaron evaluar ln(precio).</a:t>
            </a:r>
            <a:endParaRPr lang="en-US" sz="1800" dirty="0"/>
          </a:p>
        </p:txBody>
      </p:sp>
      <p:sp>
        <p:nvSpPr>
          <p:cNvPr id="15" name="Text 9"/>
          <p:cNvSpPr/>
          <p:nvPr/>
        </p:nvSpPr>
        <p:spPr>
          <a:xfrm>
            <a:off x="4526280" y="4572000"/>
            <a:ext cx="3383280" cy="1005840"/>
          </a:xfrm>
          <a:prstGeom prst="rect">
            <a:avLst/>
          </a:prstGeom>
          <a:noFill/>
          <a:ln/>
        </p:spPr>
        <p:txBody>
          <a:bodyPr wrap="square" lIns="0" tIns="0" rIns="0" bIns="0" rtlCol="0" anchor="t"/>
          <a:lstStyle/>
          <a:p>
            <a:pPr marL="0" indent="0">
              <a:buNone/>
            </a:pPr>
            <a:r>
              <a:rPr lang="en-US" sz="1800" dirty="0">
                <a:solidFill>
                  <a:srgbClr val="26363B"/>
                </a:solidFill>
                <a:latin typeface="Arial" pitchFamily="34" charset="0"/>
                <a:ea typeface="Arial" pitchFamily="34" charset="-122"/>
                <a:cs typeface="Arial" pitchFamily="34" charset="-120"/>
              </a:rPr>
              <a:t>La superficie concentra información física. El EDA también detectó inconsistencias.</a:t>
            </a:r>
            <a:endParaRPr lang="en-US" sz="1800" dirty="0"/>
          </a:p>
        </p:txBody>
      </p:sp>
      <p:sp>
        <p:nvSpPr>
          <p:cNvPr id="16" name="Text 10"/>
          <p:cNvSpPr/>
          <p:nvPr/>
        </p:nvSpPr>
        <p:spPr>
          <a:xfrm>
            <a:off x="8412480" y="4572000"/>
            <a:ext cx="3246120" cy="1005840"/>
          </a:xfrm>
          <a:prstGeom prst="rect">
            <a:avLst/>
          </a:prstGeom>
          <a:noFill/>
          <a:ln/>
        </p:spPr>
        <p:txBody>
          <a:bodyPr wrap="square" lIns="0" tIns="0" rIns="0" bIns="0" rtlCol="0" anchor="t"/>
          <a:lstStyle/>
          <a:p>
            <a:pPr marL="0" indent="0">
              <a:buNone/>
            </a:pPr>
            <a:r>
              <a:rPr lang="en-US" sz="1800" dirty="0">
                <a:solidFill>
                  <a:srgbClr val="26363B"/>
                </a:solidFill>
                <a:latin typeface="Arial" pitchFamily="34" charset="0"/>
                <a:ea typeface="Arial" pitchFamily="34" charset="-122"/>
                <a:cs typeface="Arial" pitchFamily="34" charset="-120"/>
              </a:rPr>
              <a:t>La heterogeneidad edilicia requiere conservar los bloques categóricos.</a:t>
            </a:r>
            <a:endParaRPr lang="en-US" sz="1800" dirty="0"/>
          </a:p>
        </p:txBody>
      </p:sp>
      <p:sp>
        <p:nvSpPr>
          <p:cNvPr id="17" name="Text 11"/>
          <p:cNvSpPr/>
          <p:nvPr/>
        </p:nvSpPr>
        <p:spPr>
          <a:xfrm>
            <a:off x="594360" y="5833872"/>
            <a:ext cx="10972800" cy="320040"/>
          </a:xfrm>
          <a:prstGeom prst="rect">
            <a:avLst/>
          </a:prstGeom>
          <a:noFill/>
          <a:ln/>
        </p:spPr>
        <p:txBody>
          <a:bodyPr wrap="square" lIns="0" tIns="0" rIns="0" bIns="0" rtlCol="0" anchor="ctr"/>
          <a:lstStyle/>
          <a:p>
            <a:pPr marL="0" indent="0">
              <a:buNone/>
            </a:pPr>
            <a:r>
              <a:rPr lang="en-US" sz="1600" b="1" dirty="0">
                <a:solidFill>
                  <a:srgbClr val="176B70"/>
                </a:solidFill>
                <a:latin typeface="Arial" pitchFamily="34" charset="0"/>
                <a:ea typeface="Arial" pitchFamily="34" charset="-122"/>
                <a:cs typeface="Arial" pitchFamily="34" charset="-120"/>
              </a:rPr>
              <a:t>EDA completo: media 13,12 M RUB · mediana 11,09 M RUB · asimetría 2,00</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1064240" cy="685800"/>
          </a:xfrm>
          <a:prstGeom prst="rect">
            <a:avLst/>
          </a:prstGeom>
          <a:noFill/>
          <a:ln/>
        </p:spPr>
        <p:txBody>
          <a:bodyPr wrap="square" lIns="0" tIns="0" rIns="0" bIns="0" rtlCol="0" anchor="ctr"/>
          <a:lstStyle/>
          <a:p>
            <a:pPr marL="0" indent="0">
              <a:buNone/>
            </a:pPr>
            <a:r>
              <a:rPr lang="en-US" sz="3100" b="1" dirty="0">
                <a:solidFill>
                  <a:srgbClr val="26363B"/>
                </a:solidFill>
                <a:latin typeface="Arial" pitchFamily="34" charset="0"/>
                <a:ea typeface="Arial" pitchFamily="34" charset="-122"/>
                <a:cs typeface="Arial" pitchFamily="34" charset="-120"/>
              </a:rPr>
              <a:t>Superficie, ubicación y tiempo orientaron el modelado</a:t>
            </a:r>
            <a:endParaRPr lang="en-US" sz="3100" dirty="0"/>
          </a:p>
        </p:txBody>
      </p:sp>
      <p:sp>
        <p:nvSpPr>
          <p:cNvPr id="3" name="Text 1"/>
          <p:cNvSpPr/>
          <p:nvPr/>
        </p:nvSpPr>
        <p:spPr>
          <a:xfrm>
            <a:off x="502920" y="6419088"/>
            <a:ext cx="10789920" cy="201168"/>
          </a:xfrm>
          <a:prstGeom prst="rect">
            <a:avLst/>
          </a:prstGeom>
          <a:noFill/>
          <a:ln/>
        </p:spPr>
        <p:txBody>
          <a:bodyPr wrap="square" lIns="0" tIns="0" rIns="0" bIns="0" rtlCol="0" anchor="ctr"/>
          <a:lstStyle/>
          <a:p>
            <a:pPr marL="0" indent="0">
              <a:buNone/>
            </a:pPr>
            <a:r>
              <a:rPr lang="en-US" sz="950" dirty="0">
                <a:solidFill>
                  <a:srgbClr val="667A80"/>
                </a:solidFill>
                <a:latin typeface="Arial" pitchFamily="34" charset="0"/>
                <a:ea typeface="Arial" pitchFamily="34" charset="-122"/>
                <a:cs typeface="Arial" pitchFamily="34" charset="-120"/>
              </a:rPr>
              <a:t>Fuente: EDA §§4–6; relaciones reproducidas en Train crudo (n=39.998)</a:t>
            </a:r>
            <a:endParaRPr lang="en-US" sz="950" dirty="0"/>
          </a:p>
        </p:txBody>
      </p:sp>
      <p:sp>
        <p:nvSpPr>
          <p:cNvPr id="4" name="Text 2"/>
          <p:cNvSpPr/>
          <p:nvPr/>
        </p:nvSpPr>
        <p:spPr>
          <a:xfrm>
            <a:off x="11292840" y="6400800"/>
            <a:ext cx="384048" cy="228600"/>
          </a:xfrm>
          <a:prstGeom prst="rect">
            <a:avLst/>
          </a:prstGeom>
          <a:noFill/>
          <a:ln/>
        </p:spPr>
        <p:txBody>
          <a:bodyPr wrap="square" lIns="0" tIns="0" rIns="0" bIns="0" rtlCol="0" anchor="ctr"/>
          <a:lstStyle/>
          <a:p>
            <a:pPr marL="0" indent="0" algn="r">
              <a:buNone/>
            </a:pPr>
            <a:r>
              <a:rPr lang="en-US" sz="1000" dirty="0">
                <a:solidFill>
                  <a:srgbClr val="667A80"/>
                </a:solidFill>
                <a:latin typeface="Arial" pitchFamily="34" charset="0"/>
                <a:ea typeface="Arial" pitchFamily="34" charset="-122"/>
                <a:cs typeface="Arial" pitchFamily="34" charset="-120"/>
              </a:rPr>
              <a:t>04</a:t>
            </a:r>
            <a:endParaRPr lang="en-US" sz="1000" dirty="0"/>
          </a:p>
        </p:txBody>
      </p:sp>
      <p:sp>
        <p:nvSpPr>
          <p:cNvPr id="6" name="Text 3"/>
          <p:cNvSpPr/>
          <p:nvPr/>
        </p:nvSpPr>
        <p:spPr>
          <a:xfrm>
            <a:off x="594360" y="1307592"/>
            <a:ext cx="3657600" cy="320040"/>
          </a:xfrm>
          <a:prstGeom prst="rect">
            <a:avLst/>
          </a:prstGeom>
          <a:noFill/>
          <a:ln/>
        </p:spPr>
        <p:txBody>
          <a:bodyPr wrap="square" lIns="0" tIns="0" rIns="0" bIns="0" rtlCol="0" anchor="ctr"/>
          <a:lstStyle/>
          <a:p>
            <a:pPr marL="0" indent="0">
              <a:buNone/>
            </a:pPr>
            <a:r>
              <a:rPr lang="en-US" sz="1900" b="1" dirty="0">
                <a:solidFill>
                  <a:srgbClr val="176B70"/>
                </a:solidFill>
                <a:latin typeface="Arial" pitchFamily="34" charset="0"/>
                <a:ea typeface="Arial" pitchFamily="34" charset="-122"/>
                <a:cs typeface="Arial" pitchFamily="34" charset="-120"/>
              </a:rPr>
              <a:t>Superficie y precio</a:t>
            </a:r>
            <a:endParaRPr lang="en-US" sz="1900" dirty="0"/>
          </a:p>
        </p:txBody>
      </p:sp>
      <p:sp>
        <p:nvSpPr>
          <p:cNvPr id="7" name="Text 4"/>
          <p:cNvSpPr/>
          <p:nvPr/>
        </p:nvSpPr>
        <p:spPr>
          <a:xfrm>
            <a:off x="4480560" y="1307592"/>
            <a:ext cx="3657600" cy="320040"/>
          </a:xfrm>
          <a:prstGeom prst="rect">
            <a:avLst/>
          </a:prstGeom>
          <a:noFill/>
          <a:ln/>
        </p:spPr>
        <p:txBody>
          <a:bodyPr wrap="square" lIns="0" tIns="0" rIns="0" bIns="0" rtlCol="0" anchor="ctr"/>
          <a:lstStyle/>
          <a:p>
            <a:pPr marL="0" indent="0">
              <a:buNone/>
            </a:pPr>
            <a:r>
              <a:rPr lang="en-US" sz="1900" b="1" dirty="0">
                <a:solidFill>
                  <a:srgbClr val="176B70"/>
                </a:solidFill>
                <a:latin typeface="Arial" pitchFamily="34" charset="0"/>
                <a:ea typeface="Arial" pitchFamily="34" charset="-122"/>
                <a:cs typeface="Arial" pitchFamily="34" charset="-120"/>
              </a:rPr>
              <a:t>Distancia y precio</a:t>
            </a:r>
            <a:endParaRPr lang="en-US" sz="1900" dirty="0"/>
          </a:p>
        </p:txBody>
      </p:sp>
      <p:sp>
        <p:nvSpPr>
          <p:cNvPr id="8" name="Text 5"/>
          <p:cNvSpPr/>
          <p:nvPr/>
        </p:nvSpPr>
        <p:spPr>
          <a:xfrm>
            <a:off x="8321040" y="1307592"/>
            <a:ext cx="3657600" cy="320040"/>
          </a:xfrm>
          <a:prstGeom prst="rect">
            <a:avLst/>
          </a:prstGeom>
          <a:noFill/>
          <a:ln/>
        </p:spPr>
        <p:txBody>
          <a:bodyPr wrap="square" lIns="0" tIns="0" rIns="0" bIns="0" rtlCol="0" anchor="ctr"/>
          <a:lstStyle/>
          <a:p>
            <a:pPr marL="0" indent="0">
              <a:buNone/>
            </a:pPr>
            <a:r>
              <a:rPr lang="en-US" sz="1900" b="1" dirty="0">
                <a:solidFill>
                  <a:srgbClr val="176B70"/>
                </a:solidFill>
                <a:latin typeface="Arial" pitchFamily="34" charset="0"/>
                <a:ea typeface="Arial" pitchFamily="34" charset="-122"/>
                <a:cs typeface="Arial" pitchFamily="34" charset="-120"/>
              </a:rPr>
              <a:t>Mediana mensual</a:t>
            </a:r>
            <a:endParaRPr lang="en-US" sz="1900" dirty="0"/>
          </a:p>
        </p:txBody>
      </p:sp>
      <p:pic>
        <p:nvPicPr>
          <p:cNvPr id="9" name="Image 0" descr="C:\Users\mglon\OneDrive\Desktop\UNIVERSIDAD\Introduccion al analisis de datos\MOSCOW DATASET\Moscow_EDA\tmp\presentacion\assets\scatter_area.png"/>
          <p:cNvPicPr>
            <a:picLocks noChangeAspect="1"/>
          </p:cNvPicPr>
          <p:nvPr/>
        </p:nvPicPr>
        <p:blipFill>
          <a:blip r:embed="rId3"/>
          <a:stretch>
            <a:fillRect/>
          </a:stretch>
        </p:blipFill>
        <p:spPr>
          <a:xfrm>
            <a:off x="732882" y="1801368"/>
            <a:ext cx="3243397" cy="2834640"/>
          </a:xfrm>
          <a:prstGeom prst="rect">
            <a:avLst/>
          </a:prstGeom>
        </p:spPr>
      </p:pic>
      <p:pic>
        <p:nvPicPr>
          <p:cNvPr id="10" name="Image 1" descr="C:\Users\mglon\OneDrive\Desktop\UNIVERSIDAD\Introduccion al analisis de datos\MOSCOW DATASET\Moscow_EDA\tmp\presentacion\assets\scatter_center.png"/>
          <p:cNvPicPr>
            <a:picLocks noChangeAspect="1"/>
          </p:cNvPicPr>
          <p:nvPr/>
        </p:nvPicPr>
        <p:blipFill>
          <a:blip r:embed="rId4"/>
          <a:stretch>
            <a:fillRect/>
          </a:stretch>
        </p:blipFill>
        <p:spPr>
          <a:xfrm>
            <a:off x="4619082" y="1801368"/>
            <a:ext cx="3243397" cy="2834640"/>
          </a:xfrm>
          <a:prstGeom prst="rect">
            <a:avLst/>
          </a:prstGeom>
        </p:spPr>
      </p:pic>
      <p:graphicFrame>
        <p:nvGraphicFramePr>
          <p:cNvPr id="11" name="Chart 0"/>
          <p:cNvGraphicFramePr/>
          <p:nvPr/>
        </p:nvGraphicFramePr>
        <p:xfrm>
          <a:off x="8275320" y="1938528"/>
          <a:ext cx="3429000" cy="2468880"/>
        </p:xfrm>
        <a:graphic>
          <a:graphicData uri="http://schemas.openxmlformats.org/drawingml/2006/chart">
            <c:chart xmlns:c="http://schemas.openxmlformats.org/drawingml/2006/chart" xmlns:r="http://schemas.openxmlformats.org/officeDocument/2006/relationships" r:id="rId5"/>
          </a:graphicData>
        </a:graphic>
      </p:graphicFrame>
      <p:sp>
        <p:nvSpPr>
          <p:cNvPr id="12" name="Text 6"/>
          <p:cNvSpPr/>
          <p:nvPr/>
        </p:nvSpPr>
        <p:spPr>
          <a:xfrm>
            <a:off x="594360" y="4892040"/>
            <a:ext cx="3337560" cy="960120"/>
          </a:xfrm>
          <a:prstGeom prst="rect">
            <a:avLst/>
          </a:prstGeom>
          <a:noFill/>
          <a:ln/>
        </p:spPr>
        <p:txBody>
          <a:bodyPr wrap="square" lIns="0" tIns="0" rIns="0" bIns="0" rtlCol="0" anchor="t"/>
          <a:lstStyle/>
          <a:p>
            <a:pPr marL="0" indent="0">
              <a:buNone/>
            </a:pPr>
            <a:r>
              <a:rPr lang="en-US" sz="1700" dirty="0">
                <a:solidFill>
                  <a:srgbClr val="26363B"/>
                </a:solidFill>
                <a:latin typeface="Arial" pitchFamily="34" charset="0"/>
                <a:ea typeface="Arial" pitchFamily="34" charset="-122"/>
                <a:cs typeface="Arial" pitchFamily="34" charset="-120"/>
              </a:rPr>
              <a:t>Mayor superficie se asocia con mayor precio. Superficies correlacionadas generan redundancia.</a:t>
            </a:r>
            <a:endParaRPr lang="en-US" sz="1700" dirty="0"/>
          </a:p>
        </p:txBody>
      </p:sp>
      <p:sp>
        <p:nvSpPr>
          <p:cNvPr id="13" name="Text 7"/>
          <p:cNvSpPr/>
          <p:nvPr/>
        </p:nvSpPr>
        <p:spPr>
          <a:xfrm>
            <a:off x="4526280" y="4892040"/>
            <a:ext cx="3337560" cy="960120"/>
          </a:xfrm>
          <a:prstGeom prst="rect">
            <a:avLst/>
          </a:prstGeom>
          <a:noFill/>
          <a:ln/>
        </p:spPr>
        <p:txBody>
          <a:bodyPr wrap="square" lIns="0" tIns="0" rIns="0" bIns="0" rtlCol="0" anchor="t"/>
          <a:lstStyle/>
          <a:p>
            <a:pPr marL="0" indent="0">
              <a:buNone/>
            </a:pPr>
            <a:r>
              <a:rPr lang="en-US" sz="1700" dirty="0">
                <a:solidFill>
                  <a:srgbClr val="26363B"/>
                </a:solidFill>
                <a:latin typeface="Arial" pitchFamily="34" charset="0"/>
                <a:ea typeface="Arial" pitchFamily="34" charset="-122"/>
                <a:cs typeface="Arial" pitchFamily="34" charset="-120"/>
              </a:rPr>
              <a:t>La localización se vincula con el precio. District permite conservar diferencias territoriales.</a:t>
            </a:r>
            <a:endParaRPr lang="en-US" sz="1700" dirty="0"/>
          </a:p>
        </p:txBody>
      </p:sp>
      <p:sp>
        <p:nvSpPr>
          <p:cNvPr id="14" name="Text 8"/>
          <p:cNvSpPr/>
          <p:nvPr/>
        </p:nvSpPr>
        <p:spPr>
          <a:xfrm>
            <a:off x="8412480" y="4892040"/>
            <a:ext cx="3200400" cy="960120"/>
          </a:xfrm>
          <a:prstGeom prst="rect">
            <a:avLst/>
          </a:prstGeom>
          <a:noFill/>
          <a:ln/>
        </p:spPr>
        <p:txBody>
          <a:bodyPr wrap="square" lIns="0" tIns="0" rIns="0" bIns="0" rtlCol="0" anchor="t"/>
          <a:lstStyle/>
          <a:p>
            <a:pPr marL="0" indent="0">
              <a:buNone/>
            </a:pPr>
            <a:r>
              <a:rPr lang="en-US" sz="1700" dirty="0">
                <a:solidFill>
                  <a:srgbClr val="26363B"/>
                </a:solidFill>
                <a:latin typeface="Arial" pitchFamily="34" charset="0"/>
                <a:ea typeface="Arial" pitchFamily="34" charset="-122"/>
                <a:cs typeface="Arial" pitchFamily="34" charset="-120"/>
              </a:rPr>
              <a:t>El nivel cambia con el tiempo. Predecir el futuro exige una validación cronológica.</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1064240" cy="685800"/>
          </a:xfrm>
          <a:prstGeom prst="rect">
            <a:avLst/>
          </a:prstGeom>
          <a:noFill/>
          <a:ln/>
        </p:spPr>
        <p:txBody>
          <a:bodyPr wrap="square" lIns="0" tIns="0" rIns="0" bIns="0" rtlCol="0" anchor="ctr"/>
          <a:lstStyle/>
          <a:p>
            <a:pPr marL="0" indent="0">
              <a:buNone/>
            </a:pPr>
            <a:r>
              <a:rPr lang="en-US" sz="3100" b="1" dirty="0">
                <a:solidFill>
                  <a:srgbClr val="26363B"/>
                </a:solidFill>
                <a:latin typeface="Arial" pitchFamily="34" charset="0"/>
                <a:ea typeface="Arial" pitchFamily="34" charset="-122"/>
                <a:cs typeface="Arial" pitchFamily="34" charset="-120"/>
              </a:rPr>
              <a:t>Split: 80/20</a:t>
            </a:r>
            <a:endParaRPr lang="en-US" sz="3100" dirty="0"/>
          </a:p>
        </p:txBody>
      </p:sp>
      <p:sp>
        <p:nvSpPr>
          <p:cNvPr id="3" name="Text 1"/>
          <p:cNvSpPr/>
          <p:nvPr/>
        </p:nvSpPr>
        <p:spPr>
          <a:xfrm>
            <a:off x="502920" y="6419088"/>
            <a:ext cx="10789920" cy="201168"/>
          </a:xfrm>
          <a:prstGeom prst="rect">
            <a:avLst/>
          </a:prstGeom>
          <a:noFill/>
          <a:ln/>
        </p:spPr>
        <p:txBody>
          <a:bodyPr wrap="square" lIns="0" tIns="0" rIns="0" bIns="0" rtlCol="0" anchor="ctr"/>
          <a:lstStyle/>
          <a:p>
            <a:pPr marL="0" indent="0">
              <a:buNone/>
            </a:pPr>
            <a:r>
              <a:rPr lang="en-US" sz="950" dirty="0">
                <a:solidFill>
                  <a:srgbClr val="667A80"/>
                </a:solidFill>
                <a:latin typeface="Arial" pitchFamily="34" charset="0"/>
                <a:ea typeface="Arial" pitchFamily="34" charset="-122"/>
                <a:cs typeface="Arial" pitchFamily="34" charset="-120"/>
              </a:rPr>
              <a:t>Fuente: 2_Transformacion_PropUsadas.ipynb; scripts/bss_temporal.py</a:t>
            </a:r>
            <a:endParaRPr lang="en-US" sz="950" dirty="0"/>
          </a:p>
        </p:txBody>
      </p:sp>
      <p:sp>
        <p:nvSpPr>
          <p:cNvPr id="4" name="Text 2"/>
          <p:cNvSpPr/>
          <p:nvPr/>
        </p:nvSpPr>
        <p:spPr>
          <a:xfrm>
            <a:off x="11292840" y="6400800"/>
            <a:ext cx="384048" cy="228600"/>
          </a:xfrm>
          <a:prstGeom prst="rect">
            <a:avLst/>
          </a:prstGeom>
          <a:noFill/>
          <a:ln/>
        </p:spPr>
        <p:txBody>
          <a:bodyPr wrap="square" lIns="0" tIns="0" rIns="0" bIns="0" rtlCol="0" anchor="ctr"/>
          <a:lstStyle/>
          <a:p>
            <a:pPr marL="0" indent="0" algn="r">
              <a:buNone/>
            </a:pPr>
            <a:r>
              <a:rPr lang="en-US" sz="1000" dirty="0">
                <a:solidFill>
                  <a:srgbClr val="667A80"/>
                </a:solidFill>
                <a:latin typeface="Arial" pitchFamily="34" charset="0"/>
                <a:ea typeface="Arial" pitchFamily="34" charset="-122"/>
                <a:cs typeface="Arial" pitchFamily="34" charset="-120"/>
              </a:rPr>
              <a:t>05</a:t>
            </a:r>
            <a:endParaRPr lang="en-US" sz="1000" dirty="0"/>
          </a:p>
        </p:txBody>
      </p:sp>
      <p:sp>
        <p:nvSpPr>
          <p:cNvPr id="6" name="Text 3"/>
          <p:cNvSpPr/>
          <p:nvPr/>
        </p:nvSpPr>
        <p:spPr>
          <a:xfrm>
            <a:off x="594360" y="1371600"/>
            <a:ext cx="5486400" cy="548640"/>
          </a:xfrm>
          <a:prstGeom prst="rect">
            <a:avLst/>
          </a:prstGeom>
          <a:noFill/>
          <a:ln/>
        </p:spPr>
        <p:txBody>
          <a:bodyPr wrap="square" lIns="0" tIns="0" rIns="0" bIns="0" rtlCol="0" anchor="ctr"/>
          <a:lstStyle/>
          <a:p>
            <a:pPr marL="0" indent="0">
              <a:buNone/>
            </a:pPr>
            <a:r>
              <a:rPr lang="en-US" sz="2600" b="1" dirty="0">
                <a:solidFill>
                  <a:srgbClr val="176B70"/>
                </a:solidFill>
                <a:latin typeface="Arial" pitchFamily="34" charset="0"/>
                <a:ea typeface="Arial" pitchFamily="34" charset="-122"/>
                <a:cs typeface="Arial" pitchFamily="34" charset="-120"/>
              </a:rPr>
              <a:t>Train hasta 16/01/2025</a:t>
            </a:r>
            <a:endParaRPr lang="en-US" sz="2600" dirty="0"/>
          </a:p>
        </p:txBody>
      </p:sp>
      <p:sp>
        <p:nvSpPr>
          <p:cNvPr id="7" name="Text 4"/>
          <p:cNvSpPr/>
          <p:nvPr/>
        </p:nvSpPr>
        <p:spPr>
          <a:xfrm>
            <a:off x="6629400" y="1371600"/>
            <a:ext cx="5029200" cy="548640"/>
          </a:xfrm>
          <a:prstGeom prst="rect">
            <a:avLst/>
          </a:prstGeom>
          <a:noFill/>
          <a:ln/>
        </p:spPr>
        <p:txBody>
          <a:bodyPr wrap="square" lIns="0" tIns="0" rIns="0" bIns="0" rtlCol="0" anchor="ctr"/>
          <a:lstStyle/>
          <a:p>
            <a:pPr marL="0" indent="0">
              <a:buNone/>
            </a:pPr>
            <a:r>
              <a:rPr lang="en-US" sz="2600" b="1" dirty="0">
                <a:solidFill>
                  <a:srgbClr val="667A80"/>
                </a:solidFill>
                <a:latin typeface="Arial" pitchFamily="34" charset="0"/>
                <a:ea typeface="Arial" pitchFamily="34" charset="-122"/>
                <a:cs typeface="Arial" pitchFamily="34" charset="-120"/>
              </a:rPr>
              <a:t>Test desde 17/01/2025</a:t>
            </a:r>
            <a:endParaRPr lang="en-US" sz="2600" dirty="0"/>
          </a:p>
        </p:txBody>
      </p:sp>
      <p:sp>
        <p:nvSpPr>
          <p:cNvPr id="8" name="Text 5"/>
          <p:cNvSpPr/>
          <p:nvPr/>
        </p:nvSpPr>
        <p:spPr>
          <a:xfrm>
            <a:off x="594360" y="2359152"/>
            <a:ext cx="10972800" cy="914400"/>
          </a:xfrm>
          <a:prstGeom prst="rect">
            <a:avLst/>
          </a:prstGeom>
          <a:noFill/>
          <a:ln/>
        </p:spPr>
        <p:txBody>
          <a:bodyPr wrap="square" lIns="0" tIns="0" rIns="0" bIns="0" rtlCol="0" anchor="t"/>
          <a:lstStyle/>
          <a:p>
            <a:pPr marL="0" indent="0">
              <a:buNone/>
            </a:pPr>
            <a:r>
              <a:rPr lang="en-US" sz="2200" dirty="0">
                <a:solidFill>
                  <a:srgbClr val="26363B"/>
                </a:solidFill>
                <a:latin typeface="Arial" pitchFamily="34" charset="0"/>
                <a:ea typeface="Arial" pitchFamily="34" charset="-122"/>
                <a:cs typeface="Arial" pitchFamily="34" charset="-120"/>
              </a:rPr>
              <a:t>Superficies  →  Imputación en Train  →  Codificación  →  Tiempo</a:t>
            </a:r>
            <a:endParaRPr lang="en-US" sz="2200" dirty="0"/>
          </a:p>
        </p:txBody>
      </p:sp>
      <p:sp>
        <p:nvSpPr>
          <p:cNvPr id="9" name="Text 6"/>
          <p:cNvSpPr/>
          <p:nvPr/>
        </p:nvSpPr>
        <p:spPr>
          <a:xfrm>
            <a:off x="594360" y="3657600"/>
            <a:ext cx="4937760" cy="320040"/>
          </a:xfrm>
          <a:prstGeom prst="rect">
            <a:avLst/>
          </a:prstGeom>
          <a:noFill/>
          <a:ln/>
        </p:spPr>
        <p:txBody>
          <a:bodyPr wrap="square" lIns="0" tIns="0" rIns="0" bIns="0" rtlCol="0" anchor="ctr"/>
          <a:lstStyle/>
          <a:p>
            <a:pPr marL="0" indent="0">
              <a:buNone/>
            </a:pPr>
            <a:r>
              <a:rPr lang="en-US" sz="1900" b="1" dirty="0">
                <a:solidFill>
                  <a:srgbClr val="176B70"/>
                </a:solidFill>
                <a:latin typeface="Arial" pitchFamily="34" charset="0"/>
                <a:ea typeface="Arial" pitchFamily="34" charset="-122"/>
                <a:cs typeface="Arial" pitchFamily="34" charset="-120"/>
              </a:rPr>
              <a:t>Experimentos históricos</a:t>
            </a:r>
            <a:endParaRPr lang="en-US" sz="1900" dirty="0"/>
          </a:p>
        </p:txBody>
      </p:sp>
      <p:sp>
        <p:nvSpPr>
          <p:cNvPr id="10" name="Text 7"/>
          <p:cNvSpPr/>
          <p:nvPr/>
        </p:nvSpPr>
        <p:spPr>
          <a:xfrm>
            <a:off x="594360" y="4160520"/>
            <a:ext cx="5212080" cy="1417320"/>
          </a:xfrm>
          <a:prstGeom prst="rect">
            <a:avLst/>
          </a:prstGeom>
          <a:noFill/>
          <a:ln/>
        </p:spPr>
        <p:txBody>
          <a:bodyPr wrap="square" lIns="0" tIns="0" rIns="0" bIns="0" rtlCol="0" anchor="t"/>
          <a:lstStyle/>
          <a:p>
            <a:pPr marL="0" indent="0">
              <a:buNone/>
            </a:pPr>
            <a:r>
              <a:rPr lang="en-US" sz="1900" dirty="0">
                <a:solidFill>
                  <a:srgbClr val="26363B"/>
                </a:solidFill>
                <a:latin typeface="Arial" pitchFamily="34" charset="0"/>
                <a:ea typeface="Arial" pitchFamily="34" charset="-122"/>
                <a:cs typeface="Arial" pitchFamily="34" charset="-120"/>
              </a:rPr>
              <a:t>39.998 filas → Tukey → 37.984 filas</a:t>
            </a:r>
            <a:endParaRPr lang="en-US" sz="1900" dirty="0"/>
          </a:p>
          <a:p>
            <a:pPr marL="0" indent="0">
              <a:buNone/>
            </a:pPr>
            <a:r>
              <a:rPr lang="en-US" sz="1900" dirty="0">
                <a:solidFill>
                  <a:srgbClr val="26363B"/>
                </a:solidFill>
                <a:latin typeface="Arial" pitchFamily="34" charset="0"/>
                <a:ea typeface="Arial" pitchFamily="34" charset="-122"/>
                <a:cs typeface="Arial" pitchFamily="34" charset="-120"/>
              </a:rPr>
              <a:t>One-Hot y transformaciones → 177 predictoras</a:t>
            </a:r>
            <a:endParaRPr lang="en-US" sz="1900" dirty="0"/>
          </a:p>
          <a:p>
            <a:pPr marL="0" indent="0">
              <a:buNone/>
            </a:pPr>
            <a:r>
              <a:rPr lang="en-US" sz="1900" dirty="0">
                <a:solidFill>
                  <a:srgbClr val="26363B"/>
                </a:solidFill>
                <a:latin typeface="Arial" pitchFamily="34" charset="0"/>
                <a:ea typeface="Arial" pitchFamily="34" charset="-122"/>
                <a:cs typeface="Arial" pitchFamily="34" charset="-120"/>
              </a:rPr>
              <a:t>Objetivo inicial en RUB y luego ln(RUB)</a:t>
            </a:r>
            <a:endParaRPr lang="en-US" sz="1900" dirty="0"/>
          </a:p>
        </p:txBody>
      </p:sp>
      <p:sp>
        <p:nvSpPr>
          <p:cNvPr id="11" name="Text 8"/>
          <p:cNvSpPr/>
          <p:nvPr/>
        </p:nvSpPr>
        <p:spPr>
          <a:xfrm>
            <a:off x="6629400" y="3657600"/>
            <a:ext cx="5029200" cy="320040"/>
          </a:xfrm>
          <a:prstGeom prst="rect">
            <a:avLst/>
          </a:prstGeom>
          <a:noFill/>
          <a:ln/>
        </p:spPr>
        <p:txBody>
          <a:bodyPr wrap="square" lIns="0" tIns="0" rIns="0" bIns="0" rtlCol="0" anchor="ctr"/>
          <a:lstStyle/>
          <a:p>
            <a:pPr marL="0" indent="0">
              <a:buNone/>
            </a:pPr>
            <a:r>
              <a:rPr lang="en-US" sz="1900" b="1" dirty="0">
                <a:solidFill>
                  <a:srgbClr val="176B70"/>
                </a:solidFill>
                <a:latin typeface="Arial" pitchFamily="34" charset="0"/>
                <a:ea typeface="Arial" pitchFamily="34" charset="-122"/>
                <a:cs typeface="Arial" pitchFamily="34" charset="-120"/>
              </a:rPr>
              <a:t>BSS con validación temporal</a:t>
            </a:r>
            <a:endParaRPr lang="en-US" sz="1900" dirty="0"/>
          </a:p>
        </p:txBody>
      </p:sp>
      <p:sp>
        <p:nvSpPr>
          <p:cNvPr id="12" name="Text 9"/>
          <p:cNvSpPr/>
          <p:nvPr/>
        </p:nvSpPr>
        <p:spPr>
          <a:xfrm>
            <a:off x="6629400" y="4160520"/>
            <a:ext cx="5029200" cy="1417320"/>
          </a:xfrm>
          <a:prstGeom prst="rect">
            <a:avLst/>
          </a:prstGeom>
          <a:noFill/>
          <a:ln/>
        </p:spPr>
        <p:txBody>
          <a:bodyPr wrap="square" lIns="0" tIns="0" rIns="0" bIns="0" rtlCol="0" anchor="t"/>
          <a:lstStyle/>
          <a:p>
            <a:pPr marL="0" indent="0">
              <a:buNone/>
            </a:pPr>
            <a:r>
              <a:rPr lang="en-US" sz="1900" dirty="0">
                <a:solidFill>
                  <a:srgbClr val="26363B"/>
                </a:solidFill>
                <a:latin typeface="Arial" pitchFamily="34" charset="0"/>
                <a:ea typeface="Arial" pitchFamily="34" charset="-122"/>
                <a:cs typeface="Arial" pitchFamily="34" charset="-120"/>
              </a:rPr>
              <a:t>39.998 filas, sin filtro Tukey global</a:t>
            </a:r>
            <a:endParaRPr lang="en-US" sz="1900" dirty="0"/>
          </a:p>
          <a:p>
            <a:pPr marL="0" indent="0">
              <a:buNone/>
            </a:pPr>
            <a:r>
              <a:rPr lang="en-US" sz="1900" dirty="0">
                <a:solidFill>
                  <a:srgbClr val="26363B"/>
                </a:solidFill>
                <a:latin typeface="Arial" pitchFamily="34" charset="0"/>
                <a:ea typeface="Arial" pitchFamily="34" charset="-122"/>
                <a:cs typeface="Arial" pitchFamily="34" charset="-120"/>
              </a:rPr>
              <a:t>Imputación ajustada en el pasado de cada fold</a:t>
            </a:r>
            <a:endParaRPr lang="en-US" sz="1900" dirty="0"/>
          </a:p>
          <a:p>
            <a:pPr marL="0" indent="0">
              <a:buNone/>
            </a:pPr>
            <a:r>
              <a:rPr lang="en-US" sz="1900" dirty="0">
                <a:solidFill>
                  <a:srgbClr val="26363B"/>
                </a:solidFill>
                <a:latin typeface="Arial" pitchFamily="34" charset="0"/>
                <a:ea typeface="Arial" pitchFamily="34" charset="-122"/>
                <a:cs typeface="Arial" pitchFamily="34" charset="-120"/>
              </a:rPr>
              <a:t>Esquema One-Hot heredado y objetivo ln(RUB)</a:t>
            </a:r>
            <a:endParaRPr lang="en-US" sz="1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1064240" cy="685800"/>
          </a:xfrm>
          <a:prstGeom prst="rect">
            <a:avLst/>
          </a:prstGeom>
          <a:noFill/>
          <a:ln/>
        </p:spPr>
        <p:txBody>
          <a:bodyPr wrap="square" lIns="0" tIns="0" rIns="0" bIns="0" rtlCol="0" anchor="ctr"/>
          <a:lstStyle/>
          <a:p>
            <a:pPr marL="0" indent="0">
              <a:buNone/>
            </a:pPr>
            <a:r>
              <a:rPr lang="en-US" sz="3100" b="1" dirty="0">
                <a:solidFill>
                  <a:srgbClr val="26363B"/>
                </a:solidFill>
                <a:latin typeface="Arial" pitchFamily="34" charset="0"/>
                <a:ea typeface="Arial" pitchFamily="34" charset="-122"/>
                <a:cs typeface="Arial" pitchFamily="34" charset="-120"/>
              </a:rPr>
              <a:t>Cinco OLS para evaluar ajuste y redundancia</a:t>
            </a:r>
            <a:endParaRPr lang="en-US" sz="3100" dirty="0"/>
          </a:p>
        </p:txBody>
      </p:sp>
      <p:sp>
        <p:nvSpPr>
          <p:cNvPr id="3" name="Text 1"/>
          <p:cNvSpPr/>
          <p:nvPr/>
        </p:nvSpPr>
        <p:spPr>
          <a:xfrm>
            <a:off x="502920" y="6419088"/>
            <a:ext cx="10789920" cy="201168"/>
          </a:xfrm>
          <a:prstGeom prst="rect">
            <a:avLst/>
          </a:prstGeom>
          <a:noFill/>
          <a:ln/>
        </p:spPr>
        <p:txBody>
          <a:bodyPr wrap="square" lIns="0" tIns="0" rIns="0" bIns="0" rtlCol="0" anchor="ctr"/>
          <a:lstStyle/>
          <a:p>
            <a:pPr marL="0" indent="0">
              <a:buNone/>
            </a:pPr>
            <a:r>
              <a:rPr lang="en-US" sz="950" dirty="0">
                <a:solidFill>
                  <a:srgbClr val="667A80"/>
                </a:solidFill>
                <a:latin typeface="Arial" pitchFamily="34" charset="0"/>
                <a:ea typeface="Arial" pitchFamily="34" charset="-122"/>
                <a:cs typeface="Arial" pitchFamily="34" charset="-120"/>
              </a:rPr>
              <a:t>Fuente: 3_Modelo_OLS.ipynb · Train histórico, n=37.984</a:t>
            </a:r>
            <a:endParaRPr lang="en-US" sz="950" dirty="0"/>
          </a:p>
        </p:txBody>
      </p:sp>
      <p:sp>
        <p:nvSpPr>
          <p:cNvPr id="4" name="Text 2"/>
          <p:cNvSpPr/>
          <p:nvPr/>
        </p:nvSpPr>
        <p:spPr>
          <a:xfrm>
            <a:off x="11292840" y="6400800"/>
            <a:ext cx="384048" cy="228600"/>
          </a:xfrm>
          <a:prstGeom prst="rect">
            <a:avLst/>
          </a:prstGeom>
          <a:noFill/>
          <a:ln/>
        </p:spPr>
        <p:txBody>
          <a:bodyPr wrap="square" lIns="0" tIns="0" rIns="0" bIns="0" rtlCol="0" anchor="ctr"/>
          <a:lstStyle/>
          <a:p>
            <a:pPr marL="0" indent="0" algn="r">
              <a:buNone/>
            </a:pPr>
            <a:r>
              <a:rPr lang="en-US" sz="1000" dirty="0">
                <a:solidFill>
                  <a:srgbClr val="667A80"/>
                </a:solidFill>
                <a:latin typeface="Arial" pitchFamily="34" charset="0"/>
                <a:ea typeface="Arial" pitchFamily="34" charset="-122"/>
                <a:cs typeface="Arial" pitchFamily="34" charset="-120"/>
              </a:rPr>
              <a:t>06</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44752"/>
          <a:ext cx="11064240" cy="3730752"/>
        </p:xfrm>
        <a:graphic>
          <a:graphicData uri="http://schemas.openxmlformats.org/drawingml/2006/table">
            <a:tbl>
              <a:tblPr/>
              <a:tblGrid>
                <a:gridCol w="182880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2788920">
                  <a:extLst>
                    <a:ext uri="{9D8B030D-6E8A-4147-A177-3AD203B41FA5}">
                      <a16:colId xmlns:a16="http://schemas.microsoft.com/office/drawing/2014/main" val="20002"/>
                    </a:ext>
                  </a:extLst>
                </a:gridCol>
                <a:gridCol w="2148840">
                  <a:extLst>
                    <a:ext uri="{9D8B030D-6E8A-4147-A177-3AD203B41FA5}">
                      <a16:colId xmlns:a16="http://schemas.microsoft.com/office/drawing/2014/main" val="20003"/>
                    </a:ext>
                  </a:extLst>
                </a:gridCol>
                <a:gridCol w="3520440">
                  <a:extLst>
                    <a:ext uri="{9D8B030D-6E8A-4147-A177-3AD203B41FA5}">
                      <a16:colId xmlns:a16="http://schemas.microsoft.com/office/drawing/2014/main" val="20004"/>
                    </a:ext>
                  </a:extLst>
                </a:gridCol>
              </a:tblGrid>
              <a:tr h="621792">
                <a:tc>
                  <a:txBody>
                    <a:bodyPr/>
                    <a:lstStyle/>
                    <a:p>
                      <a:pPr marL="0" indent="0">
                        <a:buNone/>
                      </a:pPr>
                      <a:r>
                        <a:rPr lang="en-US" sz="1500" b="1" dirty="0">
                          <a:solidFill>
                            <a:srgbClr val="FFFFFF"/>
                          </a:solidFill>
                          <a:latin typeface="Arial" pitchFamily="34" charset="0"/>
                          <a:ea typeface="Arial" pitchFamily="34" charset="-122"/>
                          <a:cs typeface="Arial" pitchFamily="34" charset="-120"/>
                        </a:rPr>
                        <a:t>Experimento</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76B70"/>
                    </a:solidFill>
                  </a:tcPr>
                </a:tc>
                <a:tc>
                  <a:txBody>
                    <a:bodyPr/>
                    <a:lstStyle/>
                    <a:p>
                      <a:pPr marL="0" indent="0">
                        <a:buNone/>
                      </a:pPr>
                      <a:r>
                        <a:rPr lang="en-US" sz="1500" b="1" dirty="0">
                          <a:solidFill>
                            <a:srgbClr val="FFFFFF"/>
                          </a:solidFill>
                          <a:latin typeface="Arial" pitchFamily="34" charset="0"/>
                          <a:ea typeface="Arial" pitchFamily="34" charset="-122"/>
                          <a:cs typeface="Arial" pitchFamily="34" charset="-120"/>
                        </a:rPr>
                        <a:t>p</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76B70"/>
                    </a:solidFill>
                  </a:tcPr>
                </a:tc>
                <a:tc>
                  <a:txBody>
                    <a:bodyPr/>
                    <a:lstStyle/>
                    <a:p>
                      <a:pPr marL="0" indent="0">
                        <a:buNone/>
                      </a:pPr>
                      <a:r>
                        <a:rPr lang="en-US" sz="1500" b="1" dirty="0">
                          <a:solidFill>
                            <a:srgbClr val="FFFFFF"/>
                          </a:solidFill>
                          <a:latin typeface="Arial" pitchFamily="34" charset="0"/>
                          <a:ea typeface="Arial" pitchFamily="34" charset="-122"/>
                          <a:cs typeface="Arial" pitchFamily="34" charset="-120"/>
                        </a:rPr>
                        <a:t>Cambio acumulado</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76B70"/>
                    </a:solidFill>
                  </a:tcPr>
                </a:tc>
                <a:tc>
                  <a:txBody>
                    <a:bodyPr/>
                    <a:lstStyle/>
                    <a:p>
                      <a:pPr marL="0" indent="0">
                        <a:buNone/>
                      </a:pPr>
                      <a:r>
                        <a:rPr lang="en-US" sz="1500" b="1" dirty="0">
                          <a:solidFill>
                            <a:srgbClr val="FFFFFF"/>
                          </a:solidFill>
                          <a:latin typeface="Arial" pitchFamily="34" charset="0"/>
                          <a:ea typeface="Arial" pitchFamily="34" charset="-122"/>
                          <a:cs typeface="Arial" pitchFamily="34" charset="-120"/>
                        </a:rPr>
                        <a:t>RMSE Train (RUB)</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76B70"/>
                    </a:solidFill>
                  </a:tcPr>
                </a:tc>
                <a:tc>
                  <a:txBody>
                    <a:bodyPr/>
                    <a:lstStyle/>
                    <a:p>
                      <a:pPr marL="0" indent="0">
                        <a:buNone/>
                      </a:pPr>
                      <a:r>
                        <a:rPr lang="en-US" sz="1500" b="1" dirty="0">
                          <a:solidFill>
                            <a:srgbClr val="FFFFFF"/>
                          </a:solidFill>
                          <a:latin typeface="Arial" pitchFamily="34" charset="0"/>
                          <a:ea typeface="Arial" pitchFamily="34" charset="-122"/>
                          <a:cs typeface="Arial" pitchFamily="34" charset="-120"/>
                        </a:rPr>
                        <a:t>Efecto principal</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76B70"/>
                    </a:solidFill>
                  </a:tcPr>
                </a:tc>
                <a:extLst>
                  <a:ext uri="{0D108BD9-81ED-4DB2-BD59-A6C34878D82A}">
                    <a16:rowId xmlns:a16="http://schemas.microsoft.com/office/drawing/2014/main" val="10000"/>
                  </a:ext>
                </a:extLst>
              </a:tr>
              <a:tr h="621792">
                <a:tc>
                  <a:txBody>
                    <a:bodyPr/>
                    <a:lstStyle/>
                    <a:p>
                      <a:pPr marL="0" indent="0">
                        <a:buNone/>
                      </a:pPr>
                      <a:r>
                        <a:rPr lang="en-US" sz="1500" dirty="0">
                          <a:solidFill>
                            <a:srgbClr val="26363B"/>
                          </a:solidFill>
                          <a:latin typeface="Arial" pitchFamily="34" charset="0"/>
                          <a:ea typeface="Arial" pitchFamily="34" charset="-122"/>
                          <a:cs typeface="Arial" pitchFamily="34" charset="-120"/>
                        </a:rPr>
                        <a:t>01 · Baseline</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500" dirty="0">
                          <a:solidFill>
                            <a:srgbClr val="26363B"/>
                          </a:solidFill>
                          <a:latin typeface="Arial" pitchFamily="34" charset="0"/>
                          <a:ea typeface="Arial" pitchFamily="34" charset="-122"/>
                          <a:cs typeface="Arial" pitchFamily="34" charset="-120"/>
                        </a:rPr>
                        <a:t>177</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500" dirty="0">
                          <a:solidFill>
                            <a:srgbClr val="26363B"/>
                          </a:solidFill>
                          <a:latin typeface="Arial" pitchFamily="34" charset="0"/>
                          <a:ea typeface="Arial" pitchFamily="34" charset="-122"/>
                          <a:cs typeface="Arial" pitchFamily="34" charset="-120"/>
                        </a:rPr>
                        <a:t>Precio en RUB</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500" dirty="0">
                          <a:solidFill>
                            <a:srgbClr val="26363B"/>
                          </a:solidFill>
                          <a:latin typeface="Arial" pitchFamily="34" charset="0"/>
                          <a:ea typeface="Arial" pitchFamily="34" charset="-122"/>
                          <a:cs typeface="Arial" pitchFamily="34" charset="-120"/>
                        </a:rPr>
                        <a:t>1.911.879</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500" dirty="0">
                          <a:solidFill>
                            <a:srgbClr val="26363B"/>
                          </a:solidFill>
                          <a:latin typeface="Arial" pitchFamily="34" charset="0"/>
                          <a:ea typeface="Arial" pitchFamily="34" charset="-122"/>
                          <a:cs typeface="Arial" pitchFamily="34" charset="-120"/>
                        </a:rPr>
                        <a:t>Referencia inicial</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21792">
                <a:tc>
                  <a:txBody>
                    <a:bodyPr/>
                    <a:lstStyle/>
                    <a:p>
                      <a:pPr marL="0" indent="0">
                        <a:buNone/>
                      </a:pPr>
                      <a:r>
                        <a:rPr lang="en-US" sz="1500" dirty="0">
                          <a:solidFill>
                            <a:srgbClr val="26363B"/>
                          </a:solidFill>
                          <a:latin typeface="Arial" pitchFamily="34" charset="0"/>
                          <a:ea typeface="Arial" pitchFamily="34" charset="-122"/>
                          <a:cs typeface="Arial" pitchFamily="34" charset="-120"/>
                        </a:rPr>
                        <a:t>02 · Log</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marL="0" indent="0">
                        <a:buNone/>
                      </a:pPr>
                      <a:r>
                        <a:rPr lang="en-US" sz="1500" dirty="0">
                          <a:solidFill>
                            <a:srgbClr val="26363B"/>
                          </a:solidFill>
                          <a:latin typeface="Arial" pitchFamily="34" charset="0"/>
                          <a:ea typeface="Arial" pitchFamily="34" charset="-122"/>
                          <a:cs typeface="Arial" pitchFamily="34" charset="-120"/>
                        </a:rPr>
                        <a:t>177</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marL="0" indent="0">
                        <a:buNone/>
                      </a:pPr>
                      <a:r>
                        <a:rPr lang="en-US" sz="1500" dirty="0">
                          <a:solidFill>
                            <a:srgbClr val="26363B"/>
                          </a:solidFill>
                          <a:latin typeface="Arial" pitchFamily="34" charset="0"/>
                          <a:ea typeface="Arial" pitchFamily="34" charset="-122"/>
                          <a:cs typeface="Arial" pitchFamily="34" charset="-120"/>
                        </a:rPr>
                        <a:t>ln(precio)</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marL="0" indent="0">
                        <a:buNone/>
                      </a:pPr>
                      <a:r>
                        <a:rPr lang="en-US" sz="1500" dirty="0">
                          <a:solidFill>
                            <a:srgbClr val="26363B"/>
                          </a:solidFill>
                          <a:latin typeface="Arial" pitchFamily="34" charset="0"/>
                          <a:ea typeface="Arial" pitchFamily="34" charset="-122"/>
                          <a:cs typeface="Arial" pitchFamily="34" charset="-120"/>
                        </a:rPr>
                        <a:t>1.575.798</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marL="0" indent="0">
                        <a:buNone/>
                      </a:pPr>
                      <a:r>
                        <a:rPr lang="en-US" sz="1500" dirty="0">
                          <a:solidFill>
                            <a:srgbClr val="26363B"/>
                          </a:solidFill>
                          <a:latin typeface="Arial" pitchFamily="34" charset="0"/>
                          <a:ea typeface="Arial" pitchFamily="34" charset="-122"/>
                          <a:cs typeface="Arial" pitchFamily="34" charset="-120"/>
                        </a:rPr>
                        <a:t>RMSE −17,58 %</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extLst>
                  <a:ext uri="{0D108BD9-81ED-4DB2-BD59-A6C34878D82A}">
                    <a16:rowId xmlns:a16="http://schemas.microsoft.com/office/drawing/2014/main" val="10002"/>
                  </a:ext>
                </a:extLst>
              </a:tr>
              <a:tr h="621792">
                <a:tc>
                  <a:txBody>
                    <a:bodyPr/>
                    <a:lstStyle/>
                    <a:p>
                      <a:pPr marL="0" indent="0">
                        <a:buNone/>
                      </a:pPr>
                      <a:r>
                        <a:rPr lang="en-US" sz="1500" dirty="0">
                          <a:solidFill>
                            <a:srgbClr val="26363B"/>
                          </a:solidFill>
                          <a:latin typeface="Arial" pitchFamily="34" charset="0"/>
                          <a:ea typeface="Arial" pitchFamily="34" charset="-122"/>
                          <a:cs typeface="Arial" pitchFamily="34" charset="-120"/>
                        </a:rPr>
                        <a:t>03 · Sin distancia</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500" dirty="0">
                          <a:solidFill>
                            <a:srgbClr val="26363B"/>
                          </a:solidFill>
                          <a:latin typeface="Arial" pitchFamily="34" charset="0"/>
                          <a:ea typeface="Arial" pitchFamily="34" charset="-122"/>
                          <a:cs typeface="Arial" pitchFamily="34" charset="-120"/>
                        </a:rPr>
                        <a:t>176</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500" dirty="0">
                          <a:solidFill>
                            <a:srgbClr val="26363B"/>
                          </a:solidFill>
                          <a:latin typeface="Arial" pitchFamily="34" charset="0"/>
                          <a:ea typeface="Arial" pitchFamily="34" charset="-122"/>
                          <a:cs typeface="Arial" pitchFamily="34" charset="-120"/>
                        </a:rPr>
                        <a:t>− to_center_km</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500" dirty="0">
                          <a:solidFill>
                            <a:srgbClr val="26363B"/>
                          </a:solidFill>
                          <a:latin typeface="Arial" pitchFamily="34" charset="0"/>
                          <a:ea typeface="Arial" pitchFamily="34" charset="-122"/>
                          <a:cs typeface="Arial" pitchFamily="34" charset="-120"/>
                        </a:rPr>
                        <a:t>1.580.889</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500" dirty="0">
                          <a:solidFill>
                            <a:srgbClr val="26363B"/>
                          </a:solidFill>
                          <a:latin typeface="Arial" pitchFamily="34" charset="0"/>
                          <a:ea typeface="Arial" pitchFamily="34" charset="-122"/>
                          <a:cs typeface="Arial" pitchFamily="34" charset="-120"/>
                        </a:rPr>
                        <a:t>VIF 102,58 → 17,43</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21792">
                <a:tc>
                  <a:txBody>
                    <a:bodyPr/>
                    <a:lstStyle/>
                    <a:p>
                      <a:pPr marL="0" indent="0">
                        <a:buNone/>
                      </a:pPr>
                      <a:r>
                        <a:rPr lang="en-US" sz="1500" dirty="0">
                          <a:solidFill>
                            <a:srgbClr val="26363B"/>
                          </a:solidFill>
                          <a:latin typeface="Arial" pitchFamily="34" charset="0"/>
                          <a:ea typeface="Arial" pitchFamily="34" charset="-122"/>
                          <a:cs typeface="Arial" pitchFamily="34" charset="-120"/>
                        </a:rPr>
                        <a:t>04 · Sin living</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marL="0" indent="0">
                        <a:buNone/>
                      </a:pPr>
                      <a:r>
                        <a:rPr lang="en-US" sz="1500" dirty="0">
                          <a:solidFill>
                            <a:srgbClr val="26363B"/>
                          </a:solidFill>
                          <a:latin typeface="Arial" pitchFamily="34" charset="0"/>
                          <a:ea typeface="Arial" pitchFamily="34" charset="-122"/>
                          <a:cs typeface="Arial" pitchFamily="34" charset="-120"/>
                        </a:rPr>
                        <a:t>175</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marL="0" indent="0">
                        <a:buNone/>
                      </a:pPr>
                      <a:r>
                        <a:rPr lang="en-US" sz="1500" dirty="0">
                          <a:solidFill>
                            <a:srgbClr val="26363B"/>
                          </a:solidFill>
                          <a:latin typeface="Arial" pitchFamily="34" charset="0"/>
                          <a:ea typeface="Arial" pitchFamily="34" charset="-122"/>
                          <a:cs typeface="Arial" pitchFamily="34" charset="-120"/>
                        </a:rPr>
                        <a:t>− living_area (acum.)</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marL="0" indent="0">
                        <a:buNone/>
                      </a:pPr>
                      <a:r>
                        <a:rPr lang="en-US" sz="1500" dirty="0">
                          <a:solidFill>
                            <a:srgbClr val="26363B"/>
                          </a:solidFill>
                          <a:latin typeface="Arial" pitchFamily="34" charset="0"/>
                          <a:ea typeface="Arial" pitchFamily="34" charset="-122"/>
                          <a:cs typeface="Arial" pitchFamily="34" charset="-120"/>
                        </a:rPr>
                        <a:t>1.580.887</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marL="0" indent="0">
                        <a:buNone/>
                      </a:pPr>
                      <a:r>
                        <a:rPr lang="en-US" sz="1500" dirty="0">
                          <a:solidFill>
                            <a:srgbClr val="26363B"/>
                          </a:solidFill>
                          <a:latin typeface="Arial" pitchFamily="34" charset="0"/>
                          <a:ea typeface="Arial" pitchFamily="34" charset="-122"/>
                          <a:cs typeface="Arial" pitchFamily="34" charset="-120"/>
                        </a:rPr>
                        <a:t>VIF 17,43 → 10,64</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extLst>
                  <a:ext uri="{0D108BD9-81ED-4DB2-BD59-A6C34878D82A}">
                    <a16:rowId xmlns:a16="http://schemas.microsoft.com/office/drawing/2014/main" val="10004"/>
                  </a:ext>
                </a:extLst>
              </a:tr>
              <a:tr h="621792">
                <a:tc>
                  <a:txBody>
                    <a:bodyPr/>
                    <a:lstStyle/>
                    <a:p>
                      <a:pPr marL="0" indent="0">
                        <a:buNone/>
                      </a:pPr>
                      <a:r>
                        <a:rPr lang="en-US" sz="1500" dirty="0">
                          <a:solidFill>
                            <a:srgbClr val="26363B"/>
                          </a:solidFill>
                          <a:latin typeface="Arial" pitchFamily="34" charset="0"/>
                          <a:ea typeface="Arial" pitchFamily="34" charset="-122"/>
                          <a:cs typeface="Arial" pitchFamily="34" charset="-120"/>
                        </a:rPr>
                        <a:t>05 · Sin rooms</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500" dirty="0">
                          <a:solidFill>
                            <a:srgbClr val="26363B"/>
                          </a:solidFill>
                          <a:latin typeface="Arial" pitchFamily="34" charset="0"/>
                          <a:ea typeface="Arial" pitchFamily="34" charset="-122"/>
                          <a:cs typeface="Arial" pitchFamily="34" charset="-120"/>
                        </a:rPr>
                        <a:t>174</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500" dirty="0">
                          <a:solidFill>
                            <a:srgbClr val="26363B"/>
                          </a:solidFill>
                          <a:latin typeface="Arial" pitchFamily="34" charset="0"/>
                          <a:ea typeface="Arial" pitchFamily="34" charset="-122"/>
                          <a:cs typeface="Arial" pitchFamily="34" charset="-120"/>
                        </a:rPr>
                        <a:t>− rooms (acum.)</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500" dirty="0">
                          <a:solidFill>
                            <a:srgbClr val="26363B"/>
                          </a:solidFill>
                          <a:latin typeface="Arial" pitchFamily="34" charset="0"/>
                          <a:ea typeface="Arial" pitchFamily="34" charset="-122"/>
                          <a:cs typeface="Arial" pitchFamily="34" charset="-120"/>
                        </a:rPr>
                        <a:t>1.586.809</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500" dirty="0">
                          <a:solidFill>
                            <a:srgbClr val="26363B"/>
                          </a:solidFill>
                          <a:latin typeface="Arial" pitchFamily="34" charset="0"/>
                          <a:ea typeface="Arial" pitchFamily="34" charset="-122"/>
                          <a:cs typeface="Arial" pitchFamily="34" charset="-120"/>
                        </a:rPr>
                        <a:t>Más error, VIF similar</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Text 3"/>
          <p:cNvSpPr/>
          <p:nvPr/>
        </p:nvSpPr>
        <p:spPr>
          <a:xfrm>
            <a:off x="594360" y="5559552"/>
            <a:ext cx="10881360" cy="594360"/>
          </a:xfrm>
          <a:prstGeom prst="rect">
            <a:avLst/>
          </a:prstGeom>
          <a:noFill/>
          <a:ln/>
        </p:spPr>
        <p:txBody>
          <a:bodyPr wrap="square" lIns="0" tIns="0" rIns="0" bIns="0" rtlCol="0" anchor="t"/>
          <a:lstStyle/>
          <a:p>
            <a:pPr marL="0" indent="0">
              <a:buNone/>
            </a:pPr>
            <a:r>
              <a:rPr lang="en-US" sz="2100" dirty="0">
                <a:solidFill>
                  <a:srgbClr val="26363B"/>
                </a:solidFill>
                <a:latin typeface="Arial" pitchFamily="34" charset="0"/>
                <a:ea typeface="Arial" pitchFamily="34" charset="-122"/>
                <a:cs typeface="Arial" pitchFamily="34" charset="-120"/>
              </a:rPr>
              <a:t>El log redujo el error de Train. Simplificar algunas variables redujo colinealidad, con costos de ajuste distintos.</a:t>
            </a:r>
            <a:endParaRPr lang="en-US" sz="2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1064240" cy="685800"/>
          </a:xfrm>
          <a:prstGeom prst="rect">
            <a:avLst/>
          </a:prstGeom>
          <a:noFill/>
          <a:ln/>
        </p:spPr>
        <p:txBody>
          <a:bodyPr wrap="square" lIns="0" tIns="0" rIns="0" bIns="0" rtlCol="0" anchor="ctr"/>
          <a:lstStyle/>
          <a:p>
            <a:pPr marL="0" indent="0">
              <a:buNone/>
            </a:pPr>
            <a:r>
              <a:rPr lang="en-US" sz="3100" b="1" dirty="0" err="1">
                <a:solidFill>
                  <a:srgbClr val="26363B"/>
                </a:solidFill>
                <a:latin typeface="Arial" pitchFamily="34" charset="0"/>
                <a:cs typeface="Arial" pitchFamily="34" charset="-120"/>
              </a:rPr>
              <a:t>Aplicar</a:t>
            </a:r>
            <a:r>
              <a:rPr lang="en-US" sz="3100" b="1" dirty="0">
                <a:solidFill>
                  <a:srgbClr val="26363B"/>
                </a:solidFill>
                <a:latin typeface="Arial" pitchFamily="34" charset="0"/>
                <a:cs typeface="Arial" pitchFamily="34" charset="-120"/>
              </a:rPr>
              <a:t> </a:t>
            </a:r>
            <a:r>
              <a:rPr lang="en-US" sz="3100" b="1" dirty="0" err="1">
                <a:solidFill>
                  <a:srgbClr val="26363B"/>
                </a:solidFill>
                <a:latin typeface="Arial" pitchFamily="34" charset="0"/>
                <a:cs typeface="Arial" pitchFamily="34" charset="-120"/>
              </a:rPr>
              <a:t>algoritmos</a:t>
            </a:r>
            <a:r>
              <a:rPr lang="en-US" sz="3100" b="1" dirty="0">
                <a:solidFill>
                  <a:srgbClr val="26363B"/>
                </a:solidFill>
                <a:latin typeface="Arial" pitchFamily="34" charset="0"/>
                <a:cs typeface="Arial" pitchFamily="34" charset="-120"/>
              </a:rPr>
              <a:t> es la </a:t>
            </a:r>
            <a:r>
              <a:rPr lang="en-US" sz="3100" b="1" dirty="0" err="1">
                <a:solidFill>
                  <a:srgbClr val="26363B"/>
                </a:solidFill>
                <a:latin typeface="Arial" pitchFamily="34" charset="0"/>
                <a:cs typeface="Arial" pitchFamily="34" charset="-120"/>
              </a:rPr>
              <a:t>solucion</a:t>
            </a:r>
            <a:r>
              <a:rPr lang="en-US" sz="3100" b="1" dirty="0">
                <a:solidFill>
                  <a:srgbClr val="26363B"/>
                </a:solidFill>
                <a:latin typeface="Arial" pitchFamily="34" charset="0"/>
                <a:cs typeface="Arial" pitchFamily="34" charset="-120"/>
              </a:rPr>
              <a:t>. </a:t>
            </a:r>
            <a:endParaRPr lang="en-US" sz="3100" dirty="0"/>
          </a:p>
        </p:txBody>
      </p:sp>
      <p:sp>
        <p:nvSpPr>
          <p:cNvPr id="3" name="Text 1"/>
          <p:cNvSpPr/>
          <p:nvPr/>
        </p:nvSpPr>
        <p:spPr>
          <a:xfrm>
            <a:off x="502920" y="6419088"/>
            <a:ext cx="10789920" cy="201168"/>
          </a:xfrm>
          <a:prstGeom prst="rect">
            <a:avLst/>
          </a:prstGeom>
          <a:noFill/>
          <a:ln/>
        </p:spPr>
        <p:txBody>
          <a:bodyPr wrap="square" lIns="0" tIns="0" rIns="0" bIns="0" rtlCol="0" anchor="ctr"/>
          <a:lstStyle/>
          <a:p>
            <a:pPr marL="0" indent="0">
              <a:buNone/>
            </a:pPr>
            <a:r>
              <a:rPr lang="en-US" sz="950" dirty="0">
                <a:solidFill>
                  <a:srgbClr val="667A80"/>
                </a:solidFill>
                <a:latin typeface="Arial" pitchFamily="34" charset="0"/>
                <a:ea typeface="Arial" pitchFamily="34" charset="-122"/>
                <a:cs typeface="Arial" pitchFamily="34" charset="-120"/>
              </a:rPr>
              <a:t>Fuente: 3_Modelo_OLS.ipynb · modelos log, mismas 37.984 filas de Train</a:t>
            </a:r>
            <a:endParaRPr lang="en-US" sz="950" dirty="0"/>
          </a:p>
        </p:txBody>
      </p:sp>
      <p:sp>
        <p:nvSpPr>
          <p:cNvPr id="4" name="Text 2"/>
          <p:cNvSpPr/>
          <p:nvPr/>
        </p:nvSpPr>
        <p:spPr>
          <a:xfrm>
            <a:off x="11292840" y="6400800"/>
            <a:ext cx="384048" cy="228600"/>
          </a:xfrm>
          <a:prstGeom prst="rect">
            <a:avLst/>
          </a:prstGeom>
          <a:noFill/>
          <a:ln/>
        </p:spPr>
        <p:txBody>
          <a:bodyPr wrap="square" lIns="0" tIns="0" rIns="0" bIns="0" rtlCol="0" anchor="ctr"/>
          <a:lstStyle/>
          <a:p>
            <a:pPr marL="0" indent="0" algn="r">
              <a:buNone/>
            </a:pPr>
            <a:r>
              <a:rPr lang="en-US" sz="1000" dirty="0">
                <a:solidFill>
                  <a:srgbClr val="667A80"/>
                </a:solidFill>
                <a:latin typeface="Arial" pitchFamily="34" charset="0"/>
                <a:ea typeface="Arial" pitchFamily="34" charset="-122"/>
                <a:cs typeface="Arial" pitchFamily="34" charset="-120"/>
              </a:rPr>
              <a:t>07</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3520440"/>
        </p:xfrm>
        <a:graphic>
          <a:graphicData uri="http://schemas.openxmlformats.org/drawingml/2006/table">
            <a:tbl>
              <a:tblPr/>
              <a:tblGrid>
                <a:gridCol w="4572000">
                  <a:extLst>
                    <a:ext uri="{9D8B030D-6E8A-4147-A177-3AD203B41FA5}">
                      <a16:colId xmlns:a16="http://schemas.microsoft.com/office/drawing/2014/main" val="20000"/>
                    </a:ext>
                  </a:extLst>
                </a:gridCol>
                <a:gridCol w="3246120">
                  <a:extLst>
                    <a:ext uri="{9D8B030D-6E8A-4147-A177-3AD203B41FA5}">
                      <a16:colId xmlns:a16="http://schemas.microsoft.com/office/drawing/2014/main" val="20001"/>
                    </a:ext>
                  </a:extLst>
                </a:gridCol>
                <a:gridCol w="3246120">
                  <a:extLst>
                    <a:ext uri="{9D8B030D-6E8A-4147-A177-3AD203B41FA5}">
                      <a16:colId xmlns:a16="http://schemas.microsoft.com/office/drawing/2014/main" val="20002"/>
                    </a:ext>
                  </a:extLst>
                </a:gridCol>
              </a:tblGrid>
              <a:tr h="502920">
                <a:tc>
                  <a:txBody>
                    <a:bodyPr/>
                    <a:lstStyle/>
                    <a:p>
                      <a:pPr marL="0" indent="0">
                        <a:buNone/>
                      </a:pPr>
                      <a:r>
                        <a:rPr lang="en-US" sz="1500" b="1" dirty="0">
                          <a:solidFill>
                            <a:srgbClr val="FFFFFF"/>
                          </a:solidFill>
                          <a:latin typeface="Arial" pitchFamily="34" charset="0"/>
                          <a:ea typeface="Arial" pitchFamily="34" charset="-122"/>
                          <a:cs typeface="Arial" pitchFamily="34" charset="-120"/>
                        </a:rPr>
                        <a:t>Diagnóstico / finalidad</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76B70"/>
                    </a:solidFill>
                  </a:tcPr>
                </a:tc>
                <a:tc>
                  <a:txBody>
                    <a:bodyPr/>
                    <a:lstStyle/>
                    <a:p>
                      <a:pPr marL="0" indent="0">
                        <a:buNone/>
                      </a:pPr>
                      <a:r>
                        <a:rPr lang="en-US" sz="1500" b="1" dirty="0">
                          <a:solidFill>
                            <a:srgbClr val="FFFFFF"/>
                          </a:solidFill>
                          <a:latin typeface="Arial" pitchFamily="34" charset="0"/>
                          <a:ea typeface="Arial" pitchFamily="34" charset="-122"/>
                          <a:cs typeface="Arial" pitchFamily="34" charset="-120"/>
                        </a:rPr>
                        <a:t>Log · 177</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76B70"/>
                    </a:solidFill>
                  </a:tcPr>
                </a:tc>
                <a:tc>
                  <a:txBody>
                    <a:bodyPr/>
                    <a:lstStyle/>
                    <a:p>
                      <a:pPr marL="0" indent="0">
                        <a:buNone/>
                      </a:pPr>
                      <a:r>
                        <a:rPr lang="en-US" sz="1500" b="1" dirty="0">
                          <a:solidFill>
                            <a:srgbClr val="FFFFFF"/>
                          </a:solidFill>
                          <a:latin typeface="Arial" pitchFamily="34" charset="0"/>
                          <a:ea typeface="Arial" pitchFamily="34" charset="-122"/>
                          <a:cs typeface="Arial" pitchFamily="34" charset="-120"/>
                        </a:rPr>
                        <a:t>Log · 174</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76B70"/>
                    </a:solidFill>
                  </a:tcPr>
                </a:tc>
                <a:extLst>
                  <a:ext uri="{0D108BD9-81ED-4DB2-BD59-A6C34878D82A}">
                    <a16:rowId xmlns:a16="http://schemas.microsoft.com/office/drawing/2014/main" val="10000"/>
                  </a:ext>
                </a:extLst>
              </a:tr>
              <a:tr h="502920">
                <a:tc>
                  <a:txBody>
                    <a:bodyPr/>
                    <a:lstStyle/>
                    <a:p>
                      <a:pPr marL="0" indent="0">
                        <a:buNone/>
                      </a:pPr>
                      <a:r>
                        <a:rPr lang="en-US" sz="1500" dirty="0">
                          <a:solidFill>
                            <a:srgbClr val="26363B"/>
                          </a:solidFill>
                          <a:latin typeface="Arial" pitchFamily="34" charset="0"/>
                          <a:ea typeface="Arial" pitchFamily="34" charset="-122"/>
                          <a:cs typeface="Arial" pitchFamily="34" charset="-120"/>
                        </a:rPr>
                        <a:t>R² / R² ajustado · explicación</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500" dirty="0">
                          <a:solidFill>
                            <a:srgbClr val="26363B"/>
                          </a:solidFill>
                          <a:latin typeface="Arial" pitchFamily="34" charset="0"/>
                          <a:ea typeface="Arial" pitchFamily="34" charset="-122"/>
                          <a:cs typeface="Arial" pitchFamily="34" charset="-120"/>
                        </a:rPr>
                        <a:t>0,95569 / 0,95549</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500" dirty="0">
                          <a:solidFill>
                            <a:srgbClr val="26363B"/>
                          </a:solidFill>
                          <a:latin typeface="Arial" pitchFamily="34" charset="0"/>
                          <a:ea typeface="Arial" pitchFamily="34" charset="-122"/>
                          <a:cs typeface="Arial" pitchFamily="34" charset="-120"/>
                        </a:rPr>
                        <a:t>0,95505 / 0,95484</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500" dirty="0">
                          <a:solidFill>
                            <a:srgbClr val="26363B"/>
                          </a:solidFill>
                          <a:latin typeface="Arial" pitchFamily="34" charset="0"/>
                          <a:ea typeface="Arial" pitchFamily="34" charset="-122"/>
                          <a:cs typeface="Arial" pitchFamily="34" charset="-120"/>
                        </a:rPr>
                        <a:t>RMSE / MAE · error en RUB</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marL="0" indent="0">
                        <a:buNone/>
                      </a:pPr>
                      <a:r>
                        <a:rPr lang="en-US" sz="1500" dirty="0">
                          <a:solidFill>
                            <a:srgbClr val="26363B"/>
                          </a:solidFill>
                          <a:latin typeface="Arial" pitchFamily="34" charset="0"/>
                          <a:ea typeface="Arial" pitchFamily="34" charset="-122"/>
                          <a:cs typeface="Arial" pitchFamily="34" charset="-120"/>
                        </a:rPr>
                        <a:t>1.575.798 / 1.093.409</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marL="0" indent="0">
                        <a:buNone/>
                      </a:pPr>
                      <a:r>
                        <a:rPr lang="en-US" sz="1500" dirty="0">
                          <a:solidFill>
                            <a:srgbClr val="26363B"/>
                          </a:solidFill>
                          <a:latin typeface="Arial" pitchFamily="34" charset="0"/>
                          <a:ea typeface="Arial" pitchFamily="34" charset="-122"/>
                          <a:cs typeface="Arial" pitchFamily="34" charset="-120"/>
                        </a:rPr>
                        <a:t>1.586.809 / 1.100.634</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extLst>
                  <a:ext uri="{0D108BD9-81ED-4DB2-BD59-A6C34878D82A}">
                    <a16:rowId xmlns:a16="http://schemas.microsoft.com/office/drawing/2014/main" val="10002"/>
                  </a:ext>
                </a:extLst>
              </a:tr>
              <a:tr h="502920">
                <a:tc>
                  <a:txBody>
                    <a:bodyPr/>
                    <a:lstStyle/>
                    <a:p>
                      <a:pPr marL="0" indent="0">
                        <a:buNone/>
                      </a:pPr>
                      <a:r>
                        <a:rPr lang="en-US" sz="1500" dirty="0">
                          <a:solidFill>
                            <a:srgbClr val="26363B"/>
                          </a:solidFill>
                          <a:latin typeface="Arial" pitchFamily="34" charset="0"/>
                          <a:ea typeface="Arial" pitchFamily="34" charset="-122"/>
                          <a:cs typeface="Arial" pitchFamily="34" charset="-120"/>
                        </a:rPr>
                        <a:t>AIC / BIC · ajuste y complejidad</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500" dirty="0">
                          <a:solidFill>
                            <a:srgbClr val="26363B"/>
                          </a:solidFill>
                          <a:latin typeface="Arial" pitchFamily="34" charset="0"/>
                          <a:ea typeface="Arial" pitchFamily="34" charset="-122"/>
                          <a:cs typeface="Arial" pitchFamily="34" charset="-120"/>
                        </a:rPr>
                        <a:t>−54.582 / −53.061</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500" dirty="0">
                          <a:solidFill>
                            <a:srgbClr val="26363B"/>
                          </a:solidFill>
                          <a:latin typeface="Arial" pitchFamily="34" charset="0"/>
                          <a:ea typeface="Arial" pitchFamily="34" charset="-122"/>
                          <a:cs typeface="Arial" pitchFamily="34" charset="-120"/>
                        </a:rPr>
                        <a:t>−54.037 / −52.541</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buNone/>
                      </a:pPr>
                      <a:r>
                        <a:rPr lang="en-US" sz="1500" dirty="0">
                          <a:solidFill>
                            <a:srgbClr val="26363B"/>
                          </a:solidFill>
                          <a:latin typeface="Arial" pitchFamily="34" charset="0"/>
                          <a:ea typeface="Arial" pitchFamily="34" charset="-122"/>
                          <a:cs typeface="Arial" pitchFamily="34" charset="-120"/>
                        </a:rPr>
                        <a:t>VIF máx. / condición · colinealidad</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marL="0" indent="0">
                        <a:buNone/>
                      </a:pPr>
                      <a:r>
                        <a:rPr lang="en-US" sz="1500" dirty="0">
                          <a:solidFill>
                            <a:srgbClr val="26363B"/>
                          </a:solidFill>
                          <a:latin typeface="Arial" pitchFamily="34" charset="0"/>
                          <a:ea typeface="Arial" pitchFamily="34" charset="-122"/>
                          <a:cs typeface="Arial" pitchFamily="34" charset="-120"/>
                        </a:rPr>
                        <a:t>102,58 / 19.159</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marL="0" indent="0">
                        <a:buNone/>
                      </a:pPr>
                      <a:r>
                        <a:rPr lang="en-US" sz="1500" dirty="0">
                          <a:solidFill>
                            <a:srgbClr val="26363B"/>
                          </a:solidFill>
                          <a:latin typeface="Arial" pitchFamily="34" charset="0"/>
                          <a:ea typeface="Arial" pitchFamily="34" charset="-122"/>
                          <a:cs typeface="Arial" pitchFamily="34" charset="-120"/>
                        </a:rPr>
                        <a:t>10,64 / 13.583</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extLst>
                  <a:ext uri="{0D108BD9-81ED-4DB2-BD59-A6C34878D82A}">
                    <a16:rowId xmlns:a16="http://schemas.microsoft.com/office/drawing/2014/main" val="10004"/>
                  </a:ext>
                </a:extLst>
              </a:tr>
              <a:tr h="502920">
                <a:tc>
                  <a:txBody>
                    <a:bodyPr/>
                    <a:lstStyle/>
                    <a:p>
                      <a:pPr marL="0" indent="0">
                        <a:buNone/>
                      </a:pPr>
                      <a:r>
                        <a:rPr lang="en-US" sz="1500" dirty="0">
                          <a:solidFill>
                            <a:srgbClr val="26363B"/>
                          </a:solidFill>
                          <a:latin typeface="Arial" pitchFamily="34" charset="0"/>
                          <a:ea typeface="Arial" pitchFamily="34" charset="-122"/>
                          <a:cs typeface="Arial" pitchFamily="34" charset="-120"/>
                        </a:rPr>
                        <a:t>Breusch–Pagan · varianza constante</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500" dirty="0">
                          <a:solidFill>
                            <a:srgbClr val="26363B"/>
                          </a:solidFill>
                          <a:latin typeface="Arial" pitchFamily="34" charset="0"/>
                          <a:ea typeface="Arial" pitchFamily="34" charset="-122"/>
                          <a:cs typeface="Arial" pitchFamily="34" charset="-120"/>
                        </a:rPr>
                        <a:t>p = 1,20 × 10⁻¹⁵⁰</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500" dirty="0">
                          <a:solidFill>
                            <a:srgbClr val="26363B"/>
                          </a:solidFill>
                          <a:latin typeface="Arial" pitchFamily="34" charset="0"/>
                          <a:ea typeface="Arial" pitchFamily="34" charset="-122"/>
                          <a:cs typeface="Arial" pitchFamily="34" charset="-120"/>
                        </a:rPr>
                        <a:t>p = 1,68 × 10⁻¹³⁴</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2920">
                <a:tc>
                  <a:txBody>
                    <a:bodyPr/>
                    <a:lstStyle/>
                    <a:p>
                      <a:pPr marL="0" indent="0">
                        <a:buNone/>
                      </a:pPr>
                      <a:r>
                        <a:rPr lang="en-US" sz="1500" dirty="0">
                          <a:solidFill>
                            <a:srgbClr val="26363B"/>
                          </a:solidFill>
                          <a:latin typeface="Arial" pitchFamily="34" charset="0"/>
                          <a:ea typeface="Arial" pitchFamily="34" charset="-122"/>
                          <a:cs typeface="Arial" pitchFamily="34" charset="-120"/>
                        </a:rPr>
                        <a:t>Jarque–Bera · normalidad</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marL="0" indent="0">
                        <a:buNone/>
                      </a:pPr>
                      <a:r>
                        <a:rPr lang="en-US" sz="1500" dirty="0">
                          <a:solidFill>
                            <a:srgbClr val="26363B"/>
                          </a:solidFill>
                          <a:latin typeface="Arial" pitchFamily="34" charset="0"/>
                          <a:ea typeface="Arial" pitchFamily="34" charset="-122"/>
                          <a:cs typeface="Arial" pitchFamily="34" charset="-120"/>
                        </a:rPr>
                        <a:t>p = 1,39 × 10⁻⁴⁰</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marL="0" indent="0">
                        <a:buNone/>
                      </a:pPr>
                      <a:r>
                        <a:rPr lang="en-US" sz="1500" dirty="0">
                          <a:solidFill>
                            <a:srgbClr val="26363B"/>
                          </a:solidFill>
                          <a:latin typeface="Arial" pitchFamily="34" charset="0"/>
                          <a:ea typeface="Arial" pitchFamily="34" charset="-122"/>
                          <a:cs typeface="Arial" pitchFamily="34" charset="-120"/>
                        </a:rPr>
                        <a:t>p = 6,33 × 10⁻⁴⁷</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1064240" cy="685800"/>
          </a:xfrm>
          <a:prstGeom prst="rect">
            <a:avLst/>
          </a:prstGeom>
          <a:noFill/>
          <a:ln/>
        </p:spPr>
        <p:txBody>
          <a:bodyPr wrap="square" lIns="0" tIns="0" rIns="0" bIns="0" rtlCol="0" anchor="ctr"/>
          <a:lstStyle/>
          <a:p>
            <a:pPr marL="0" indent="0">
              <a:buNone/>
            </a:pPr>
            <a:r>
              <a:rPr lang="en-US" sz="3100" b="1" dirty="0">
                <a:solidFill>
                  <a:srgbClr val="26363B"/>
                </a:solidFill>
                <a:latin typeface="Arial" pitchFamily="34" charset="0"/>
                <a:ea typeface="Arial" pitchFamily="34" charset="-122"/>
                <a:cs typeface="Arial" pitchFamily="34" charset="-120"/>
              </a:rPr>
              <a:t>Cuatro caminos de selección por grupos</a:t>
            </a:r>
            <a:endParaRPr lang="en-US" sz="3100" dirty="0"/>
          </a:p>
        </p:txBody>
      </p:sp>
      <p:sp>
        <p:nvSpPr>
          <p:cNvPr id="3" name="Text 1"/>
          <p:cNvSpPr/>
          <p:nvPr/>
        </p:nvSpPr>
        <p:spPr>
          <a:xfrm>
            <a:off x="502920" y="6419088"/>
            <a:ext cx="10789920" cy="201168"/>
          </a:xfrm>
          <a:prstGeom prst="rect">
            <a:avLst/>
          </a:prstGeom>
          <a:noFill/>
          <a:ln/>
        </p:spPr>
        <p:txBody>
          <a:bodyPr wrap="square" lIns="0" tIns="0" rIns="0" bIns="0" rtlCol="0" anchor="ctr"/>
          <a:lstStyle/>
          <a:p>
            <a:pPr marL="0" indent="0">
              <a:buNone/>
            </a:pPr>
            <a:r>
              <a:rPr lang="en-US" sz="950" dirty="0">
                <a:solidFill>
                  <a:srgbClr val="667A80"/>
                </a:solidFill>
                <a:latin typeface="Arial" pitchFamily="34" charset="0"/>
                <a:ea typeface="Arial" pitchFamily="34" charset="-122"/>
                <a:cs typeface="Arial" pitchFamily="34" charset="-120"/>
              </a:rPr>
              <a:t>Fuente: 4_Seleccion_Modelos.ipynb §§2–8</a:t>
            </a:r>
            <a:endParaRPr lang="en-US" sz="950" dirty="0"/>
          </a:p>
        </p:txBody>
      </p:sp>
      <p:sp>
        <p:nvSpPr>
          <p:cNvPr id="4" name="Text 2"/>
          <p:cNvSpPr/>
          <p:nvPr/>
        </p:nvSpPr>
        <p:spPr>
          <a:xfrm>
            <a:off x="11292840" y="6400800"/>
            <a:ext cx="384048" cy="228600"/>
          </a:xfrm>
          <a:prstGeom prst="rect">
            <a:avLst/>
          </a:prstGeom>
          <a:noFill/>
          <a:ln/>
        </p:spPr>
        <p:txBody>
          <a:bodyPr wrap="square" lIns="0" tIns="0" rIns="0" bIns="0" rtlCol="0" anchor="ctr"/>
          <a:lstStyle/>
          <a:p>
            <a:pPr marL="0" indent="0" algn="r">
              <a:buNone/>
            </a:pPr>
            <a:r>
              <a:rPr lang="en-US" sz="1000" dirty="0">
                <a:solidFill>
                  <a:srgbClr val="667A80"/>
                </a:solidFill>
                <a:latin typeface="Arial" pitchFamily="34" charset="0"/>
                <a:ea typeface="Arial" pitchFamily="34" charset="-122"/>
                <a:cs typeface="Arial" pitchFamily="34" charset="-120"/>
              </a:rPr>
              <a:t>08</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3886200"/>
        </p:xfrm>
        <a:graphic>
          <a:graphicData uri="http://schemas.openxmlformats.org/drawingml/2006/table">
            <a:tbl>
              <a:tblPr/>
              <a:tblGrid>
                <a:gridCol w="2148840">
                  <a:extLst>
                    <a:ext uri="{9D8B030D-6E8A-4147-A177-3AD203B41FA5}">
                      <a16:colId xmlns:a16="http://schemas.microsoft.com/office/drawing/2014/main" val="20000"/>
                    </a:ext>
                  </a:extLst>
                </a:gridCol>
                <a:gridCol w="370332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gridCol w="2697480">
                  <a:extLst>
                    <a:ext uri="{9D8B030D-6E8A-4147-A177-3AD203B41FA5}">
                      <a16:colId xmlns:a16="http://schemas.microsoft.com/office/drawing/2014/main" val="20003"/>
                    </a:ext>
                  </a:extLst>
                </a:gridCol>
              </a:tblGrid>
              <a:tr h="777240">
                <a:tc>
                  <a:txBody>
                    <a:bodyPr/>
                    <a:lstStyle/>
                    <a:p>
                      <a:pPr marL="0" indent="0">
                        <a:buNone/>
                      </a:pPr>
                      <a:r>
                        <a:rPr lang="en-US" sz="1600" b="1" dirty="0">
                          <a:solidFill>
                            <a:srgbClr val="FFFFFF"/>
                          </a:solidFill>
                          <a:latin typeface="Arial" pitchFamily="34" charset="0"/>
                          <a:ea typeface="Arial" pitchFamily="34" charset="-122"/>
                          <a:cs typeface="Arial" pitchFamily="34" charset="-120"/>
                        </a:rPr>
                        <a:t>Método</a:t>
                      </a:r>
                      <a:endParaRPr lang="en-US" sz="16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76B70"/>
                    </a:solidFill>
                  </a:tcPr>
                </a:tc>
                <a:tc>
                  <a:txBody>
                    <a:bodyPr/>
                    <a:lstStyle/>
                    <a:p>
                      <a:pPr marL="0" indent="0">
                        <a:buNone/>
                      </a:pPr>
                      <a:r>
                        <a:rPr lang="en-US" sz="1600" b="1" dirty="0">
                          <a:solidFill>
                            <a:srgbClr val="FFFFFF"/>
                          </a:solidFill>
                          <a:latin typeface="Arial" pitchFamily="34" charset="0"/>
                          <a:ea typeface="Arial" pitchFamily="34" charset="-122"/>
                          <a:cs typeface="Arial" pitchFamily="34" charset="-120"/>
                        </a:rPr>
                        <a:t>Cómo funciona</a:t>
                      </a:r>
                      <a:endParaRPr lang="en-US" sz="16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76B70"/>
                    </a:solidFill>
                  </a:tcPr>
                </a:tc>
                <a:tc>
                  <a:txBody>
                    <a:bodyPr/>
                    <a:lstStyle/>
                    <a:p>
                      <a:pPr marL="0" indent="0">
                        <a:buNone/>
                      </a:pPr>
                      <a:r>
                        <a:rPr lang="en-US" sz="1600" b="1" dirty="0">
                          <a:solidFill>
                            <a:srgbClr val="FFFFFF"/>
                          </a:solidFill>
                          <a:latin typeface="Arial" pitchFamily="34" charset="0"/>
                          <a:ea typeface="Arial" pitchFamily="34" charset="-122"/>
                          <a:cs typeface="Arial" pitchFamily="34" charset="-120"/>
                        </a:rPr>
                        <a:t>Ventaja</a:t>
                      </a:r>
                      <a:endParaRPr lang="en-US" sz="16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76B70"/>
                    </a:solidFill>
                  </a:tcPr>
                </a:tc>
                <a:tc>
                  <a:txBody>
                    <a:bodyPr/>
                    <a:lstStyle/>
                    <a:p>
                      <a:pPr marL="0" indent="0">
                        <a:buNone/>
                      </a:pPr>
                      <a:r>
                        <a:rPr lang="en-US" sz="1600" b="1" dirty="0">
                          <a:solidFill>
                            <a:srgbClr val="FFFFFF"/>
                          </a:solidFill>
                          <a:latin typeface="Arial" pitchFamily="34" charset="0"/>
                          <a:ea typeface="Arial" pitchFamily="34" charset="-122"/>
                          <a:cs typeface="Arial" pitchFamily="34" charset="-120"/>
                        </a:rPr>
                        <a:t>Limitación</a:t>
                      </a:r>
                      <a:endParaRPr lang="en-US" sz="16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76B70"/>
                    </a:solidFill>
                  </a:tcPr>
                </a:tc>
                <a:extLst>
                  <a:ext uri="{0D108BD9-81ED-4DB2-BD59-A6C34878D82A}">
                    <a16:rowId xmlns:a16="http://schemas.microsoft.com/office/drawing/2014/main" val="10000"/>
                  </a:ext>
                </a:extLst>
              </a:tr>
              <a:tr h="777240">
                <a:tc>
                  <a:txBody>
                    <a:bodyPr/>
                    <a:lstStyle/>
                    <a:p>
                      <a:pPr marL="0" indent="0">
                        <a:buNone/>
                      </a:pPr>
                      <a:r>
                        <a:rPr lang="en-US" sz="1600" dirty="0">
                          <a:solidFill>
                            <a:srgbClr val="26363B"/>
                          </a:solidFill>
                          <a:latin typeface="Arial" pitchFamily="34" charset="0"/>
                          <a:ea typeface="Arial" pitchFamily="34" charset="-122"/>
                          <a:cs typeface="Arial" pitchFamily="34" charset="-120"/>
                        </a:rPr>
                        <a:t>Forward</a:t>
                      </a:r>
                      <a:endParaRPr lang="en-US" sz="16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600" dirty="0">
                          <a:solidFill>
                            <a:srgbClr val="26363B"/>
                          </a:solidFill>
                          <a:latin typeface="Arial" pitchFamily="34" charset="0"/>
                          <a:ea typeface="Arial" pitchFamily="34" charset="-122"/>
                          <a:cs typeface="Arial" pitchFamily="34" charset="-120"/>
                        </a:rPr>
                        <a:t>Agrega grupos desde el intercepto</a:t>
                      </a:r>
                      <a:endParaRPr lang="en-US" sz="16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600" dirty="0">
                          <a:solidFill>
                            <a:srgbClr val="26363B"/>
                          </a:solidFill>
                          <a:latin typeface="Arial" pitchFamily="34" charset="0"/>
                          <a:ea typeface="Arial" pitchFamily="34" charset="-122"/>
                          <a:cs typeface="Arial" pitchFamily="34" charset="-120"/>
                        </a:rPr>
                        <a:t>Recorrido compacto</a:t>
                      </a:r>
                      <a:endParaRPr lang="en-US" sz="16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600" dirty="0">
                          <a:solidFill>
                            <a:srgbClr val="26363B"/>
                          </a:solidFill>
                          <a:latin typeface="Arial" pitchFamily="34" charset="0"/>
                          <a:ea typeface="Arial" pitchFamily="34" charset="-122"/>
                          <a:cs typeface="Arial" pitchFamily="34" charset="-120"/>
                        </a:rPr>
                        <a:t>Depende del camino elegido</a:t>
                      </a:r>
                      <a:endParaRPr lang="en-US" sz="16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marL="0" indent="0">
                        <a:buNone/>
                      </a:pPr>
                      <a:r>
                        <a:rPr lang="en-US" sz="1600" dirty="0">
                          <a:solidFill>
                            <a:srgbClr val="26363B"/>
                          </a:solidFill>
                          <a:latin typeface="Arial" pitchFamily="34" charset="0"/>
                          <a:ea typeface="Arial" pitchFamily="34" charset="-122"/>
                          <a:cs typeface="Arial" pitchFamily="34" charset="-120"/>
                        </a:rPr>
                        <a:t>Backward</a:t>
                      </a:r>
                      <a:endParaRPr lang="en-US" sz="16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marL="0" indent="0">
                        <a:buNone/>
                      </a:pPr>
                      <a:r>
                        <a:rPr lang="en-US" sz="1600" dirty="0">
                          <a:solidFill>
                            <a:srgbClr val="26363B"/>
                          </a:solidFill>
                          <a:latin typeface="Arial" pitchFamily="34" charset="0"/>
                          <a:ea typeface="Arial" pitchFamily="34" charset="-122"/>
                          <a:cs typeface="Arial" pitchFamily="34" charset="-120"/>
                        </a:rPr>
                        <a:t>Elimina grupos desde el modelo completo</a:t>
                      </a:r>
                      <a:endParaRPr lang="en-US" sz="16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marL="0" indent="0">
                        <a:buNone/>
                      </a:pPr>
                      <a:r>
                        <a:rPr lang="en-US" sz="1600" dirty="0">
                          <a:solidFill>
                            <a:srgbClr val="26363B"/>
                          </a:solidFill>
                          <a:latin typeface="Arial" pitchFamily="34" charset="0"/>
                          <a:ea typeface="Arial" pitchFamily="34" charset="-122"/>
                          <a:cs typeface="Arial" pitchFamily="34" charset="-120"/>
                        </a:rPr>
                        <a:t>Revisa aportes conjuntos</a:t>
                      </a:r>
                      <a:endParaRPr lang="en-US" sz="16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marL="0" indent="0">
                        <a:buNone/>
                      </a:pPr>
                      <a:r>
                        <a:rPr lang="en-US" sz="1600" dirty="0">
                          <a:solidFill>
                            <a:srgbClr val="26363B"/>
                          </a:solidFill>
                          <a:latin typeface="Arial" pitchFamily="34" charset="0"/>
                          <a:ea typeface="Arial" pitchFamily="34" charset="-122"/>
                          <a:cs typeface="Arial" pitchFamily="34" charset="-120"/>
                        </a:rPr>
                        <a:t>Puede perder combinaciones</a:t>
                      </a:r>
                      <a:endParaRPr lang="en-US" sz="16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extLst>
                  <a:ext uri="{0D108BD9-81ED-4DB2-BD59-A6C34878D82A}">
                    <a16:rowId xmlns:a16="http://schemas.microsoft.com/office/drawing/2014/main" val="10002"/>
                  </a:ext>
                </a:extLst>
              </a:tr>
              <a:tr h="777240">
                <a:tc>
                  <a:txBody>
                    <a:bodyPr/>
                    <a:lstStyle/>
                    <a:p>
                      <a:pPr marL="0" indent="0">
                        <a:buNone/>
                      </a:pPr>
                      <a:r>
                        <a:rPr lang="en-US" sz="1600" dirty="0">
                          <a:solidFill>
                            <a:srgbClr val="26363B"/>
                          </a:solidFill>
                          <a:latin typeface="Arial" pitchFamily="34" charset="0"/>
                          <a:ea typeface="Arial" pitchFamily="34" charset="-122"/>
                          <a:cs typeface="Arial" pitchFamily="34" charset="-120"/>
                        </a:rPr>
                        <a:t>Group Lasso + OLS</a:t>
                      </a:r>
                      <a:endParaRPr lang="en-US" sz="16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600" dirty="0">
                          <a:solidFill>
                            <a:srgbClr val="26363B"/>
                          </a:solidFill>
                          <a:latin typeface="Arial" pitchFamily="34" charset="0"/>
                          <a:ea typeface="Arial" pitchFamily="34" charset="-122"/>
                          <a:cs typeface="Arial" pitchFamily="34" charset="-120"/>
                        </a:rPr>
                        <a:t>Regulariza grupos y reajusta OLS</a:t>
                      </a:r>
                      <a:endParaRPr lang="en-US" sz="16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600" dirty="0">
                          <a:solidFill>
                            <a:srgbClr val="26363B"/>
                          </a:solidFill>
                          <a:latin typeface="Arial" pitchFamily="34" charset="0"/>
                          <a:ea typeface="Arial" pitchFamily="34" charset="-122"/>
                          <a:cs typeface="Arial" pitchFamily="34" charset="-120"/>
                        </a:rPr>
                        <a:t>Selecciona bloques completos</a:t>
                      </a:r>
                      <a:endParaRPr lang="en-US" sz="16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600" dirty="0">
                          <a:solidFill>
                            <a:srgbClr val="26363B"/>
                          </a:solidFill>
                          <a:latin typeface="Arial" pitchFamily="34" charset="0"/>
                          <a:ea typeface="Arial" pitchFamily="34" charset="-122"/>
                          <a:cs typeface="Arial" pitchFamily="34" charset="-120"/>
                        </a:rPr>
                        <a:t>Depende de λ y del escalado</a:t>
                      </a:r>
                      <a:endParaRPr lang="en-US" sz="16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77240">
                <a:tc>
                  <a:txBody>
                    <a:bodyPr/>
                    <a:lstStyle/>
                    <a:p>
                      <a:pPr marL="0" indent="0">
                        <a:buNone/>
                      </a:pPr>
                      <a:r>
                        <a:rPr lang="en-US" sz="1600" dirty="0">
                          <a:solidFill>
                            <a:srgbClr val="26363B"/>
                          </a:solidFill>
                          <a:latin typeface="Arial" pitchFamily="34" charset="0"/>
                          <a:ea typeface="Arial" pitchFamily="34" charset="-122"/>
                          <a:cs typeface="Arial" pitchFamily="34" charset="-120"/>
                        </a:rPr>
                        <a:t>BSS</a:t>
                      </a:r>
                      <a:endParaRPr lang="en-US" sz="16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marL="0" indent="0">
                        <a:buNone/>
                      </a:pPr>
                      <a:r>
                        <a:rPr lang="en-US" sz="1600" dirty="0">
                          <a:solidFill>
                            <a:srgbClr val="26363B"/>
                          </a:solidFill>
                          <a:latin typeface="Arial" pitchFamily="34" charset="0"/>
                          <a:ea typeface="Arial" pitchFamily="34" charset="-122"/>
                          <a:cs typeface="Arial" pitchFamily="34" charset="-120"/>
                        </a:rPr>
                        <a:t>Evalúa todos los subconjuntos de la unión</a:t>
                      </a:r>
                      <a:endParaRPr lang="en-US" sz="16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marL="0" indent="0">
                        <a:buNone/>
                      </a:pPr>
                      <a:r>
                        <a:rPr lang="en-US" sz="1600" dirty="0">
                          <a:solidFill>
                            <a:srgbClr val="26363B"/>
                          </a:solidFill>
                          <a:latin typeface="Arial" pitchFamily="34" charset="0"/>
                          <a:ea typeface="Arial" pitchFamily="34" charset="-122"/>
                          <a:cs typeface="Arial" pitchFamily="34" charset="-120"/>
                        </a:rPr>
                        <a:t>Compara combinaciones</a:t>
                      </a:r>
                      <a:endParaRPr lang="en-US" sz="16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marL="0" indent="0">
                        <a:buNone/>
                      </a:pPr>
                      <a:r>
                        <a:rPr lang="en-US" sz="1600" dirty="0">
                          <a:solidFill>
                            <a:srgbClr val="26363B"/>
                          </a:solidFill>
                          <a:latin typeface="Arial" pitchFamily="34" charset="0"/>
                          <a:ea typeface="Arial" pitchFamily="34" charset="-122"/>
                          <a:cs typeface="Arial" pitchFamily="34" charset="-120"/>
                        </a:rPr>
                        <a:t>Costo exponencial y preselección</a:t>
                      </a:r>
                      <a:endParaRPr lang="en-US" sz="16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extLst>
                  <a:ext uri="{0D108BD9-81ED-4DB2-BD59-A6C34878D82A}">
                    <a16:rowId xmlns:a16="http://schemas.microsoft.com/office/drawing/2014/main" val="10004"/>
                  </a:ext>
                </a:extLst>
              </a:tr>
            </a:tbl>
          </a:graphicData>
        </a:graphic>
      </p:graphicFrame>
      <p:sp>
        <p:nvSpPr>
          <p:cNvPr id="7" name="Text 3"/>
          <p:cNvSpPr/>
          <p:nvPr/>
        </p:nvSpPr>
        <p:spPr>
          <a:xfrm>
            <a:off x="594360" y="5650992"/>
            <a:ext cx="10881360" cy="548640"/>
          </a:xfrm>
          <a:prstGeom prst="rect">
            <a:avLst/>
          </a:prstGeom>
          <a:noFill/>
          <a:ln/>
        </p:spPr>
        <p:txBody>
          <a:bodyPr wrap="square" lIns="0" tIns="0" rIns="0" bIns="0" rtlCol="0" anchor="ctr"/>
          <a:lstStyle/>
          <a:p>
            <a:pPr marL="0" indent="0">
              <a:buNone/>
            </a:pPr>
            <a:r>
              <a:rPr lang="en-US" sz="1700" b="1" dirty="0">
                <a:solidFill>
                  <a:srgbClr val="176B70"/>
                </a:solidFill>
                <a:latin typeface="Arial" pitchFamily="34" charset="0"/>
                <a:ea typeface="Arial" pitchFamily="34" charset="-122"/>
                <a:cs typeface="Arial" pitchFamily="34" charset="-120"/>
              </a:rPr>
              <a:t>Pero, </a:t>
            </a:r>
            <a:r>
              <a:rPr lang="en-US" sz="1700" b="1" dirty="0" err="1">
                <a:solidFill>
                  <a:srgbClr val="176B70"/>
                </a:solidFill>
                <a:latin typeface="Arial" pitchFamily="34" charset="0"/>
                <a:ea typeface="Arial" pitchFamily="34" charset="-122"/>
                <a:cs typeface="Arial" pitchFamily="34" charset="-120"/>
              </a:rPr>
              <a:t>aplicar</a:t>
            </a:r>
            <a:r>
              <a:rPr lang="en-US" sz="1700" b="1" dirty="0">
                <a:solidFill>
                  <a:srgbClr val="176B70"/>
                </a:solidFill>
                <a:latin typeface="Arial" pitchFamily="34" charset="0"/>
                <a:ea typeface="Arial" pitchFamily="34" charset="-122"/>
                <a:cs typeface="Arial" pitchFamily="34" charset="-120"/>
              </a:rPr>
              <a:t> BSS </a:t>
            </a:r>
            <a:r>
              <a:rPr lang="en-US" sz="1700" b="1" dirty="0" err="1">
                <a:solidFill>
                  <a:srgbClr val="176B70"/>
                </a:solidFill>
                <a:latin typeface="Arial" pitchFamily="34" charset="0"/>
                <a:ea typeface="Arial" pitchFamily="34" charset="-122"/>
                <a:cs typeface="Arial" pitchFamily="34" charset="-120"/>
              </a:rPr>
              <a:t>desde</a:t>
            </a:r>
            <a:r>
              <a:rPr lang="en-US" sz="1700" b="1" dirty="0">
                <a:solidFill>
                  <a:srgbClr val="176B70"/>
                </a:solidFill>
                <a:latin typeface="Arial" pitchFamily="34" charset="0"/>
                <a:ea typeface="Arial" pitchFamily="34" charset="-122"/>
                <a:cs typeface="Arial" pitchFamily="34" charset="-120"/>
              </a:rPr>
              <a:t> el principio require un </a:t>
            </a:r>
            <a:r>
              <a:rPr lang="en-US" sz="1700" b="1" dirty="0" err="1">
                <a:solidFill>
                  <a:srgbClr val="176B70"/>
                </a:solidFill>
                <a:latin typeface="Arial" pitchFamily="34" charset="0"/>
                <a:ea typeface="Arial" pitchFamily="34" charset="-122"/>
                <a:cs typeface="Arial" pitchFamily="34" charset="-120"/>
              </a:rPr>
              <a:t>coste</a:t>
            </a:r>
            <a:r>
              <a:rPr lang="en-US" sz="1700" b="1" dirty="0">
                <a:solidFill>
                  <a:srgbClr val="176B70"/>
                </a:solidFill>
                <a:latin typeface="Arial" pitchFamily="34" charset="0"/>
                <a:ea typeface="Arial" pitchFamily="34" charset="-122"/>
                <a:cs typeface="Arial" pitchFamily="34" charset="-120"/>
              </a:rPr>
              <a:t> </a:t>
            </a:r>
            <a:r>
              <a:rPr lang="en-US" sz="1700" b="1" dirty="0" err="1">
                <a:solidFill>
                  <a:srgbClr val="176B70"/>
                </a:solidFill>
                <a:latin typeface="Arial" pitchFamily="34" charset="0"/>
                <a:ea typeface="Arial" pitchFamily="34" charset="-122"/>
                <a:cs typeface="Arial" pitchFamily="34" charset="-120"/>
              </a:rPr>
              <a:t>computacional</a:t>
            </a:r>
            <a:r>
              <a:rPr lang="en-US" sz="1700" b="1" dirty="0">
                <a:solidFill>
                  <a:srgbClr val="176B70"/>
                </a:solidFill>
                <a:latin typeface="Arial" pitchFamily="34" charset="0"/>
                <a:ea typeface="Arial" pitchFamily="34" charset="-122"/>
                <a:cs typeface="Arial" pitchFamily="34" charset="-120"/>
              </a:rPr>
              <a:t> alto.</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1064240" cy="685800"/>
          </a:xfrm>
          <a:prstGeom prst="rect">
            <a:avLst/>
          </a:prstGeom>
          <a:noFill/>
          <a:ln/>
        </p:spPr>
        <p:txBody>
          <a:bodyPr wrap="square" lIns="0" tIns="0" rIns="0" bIns="0" rtlCol="0" anchor="ctr"/>
          <a:lstStyle/>
          <a:p>
            <a:pPr marL="0" indent="0">
              <a:buNone/>
            </a:pPr>
            <a:r>
              <a:rPr lang="en-US" sz="3100" b="1" dirty="0">
                <a:solidFill>
                  <a:srgbClr val="26363B"/>
                </a:solidFill>
                <a:latin typeface="Arial" pitchFamily="34" charset="0"/>
                <a:ea typeface="Arial" pitchFamily="34" charset="-122"/>
                <a:cs typeface="Arial" pitchFamily="34" charset="-120"/>
              </a:rPr>
              <a:t>Rendimiento histórico y elección temporal</a:t>
            </a:r>
            <a:endParaRPr lang="en-US" sz="3100" dirty="0"/>
          </a:p>
        </p:txBody>
      </p:sp>
      <p:sp>
        <p:nvSpPr>
          <p:cNvPr id="3" name="Text 1"/>
          <p:cNvSpPr/>
          <p:nvPr/>
        </p:nvSpPr>
        <p:spPr>
          <a:xfrm>
            <a:off x="502920" y="6419088"/>
            <a:ext cx="10789920" cy="201168"/>
          </a:xfrm>
          <a:prstGeom prst="rect">
            <a:avLst/>
          </a:prstGeom>
          <a:noFill/>
          <a:ln/>
        </p:spPr>
        <p:txBody>
          <a:bodyPr wrap="square" lIns="0" tIns="0" rIns="0" bIns="0" rtlCol="0" anchor="ctr"/>
          <a:lstStyle/>
          <a:p>
            <a:pPr marL="0" indent="0">
              <a:buNone/>
            </a:pPr>
            <a:r>
              <a:rPr lang="en-US" sz="950" dirty="0">
                <a:solidFill>
                  <a:srgbClr val="667A80"/>
                </a:solidFill>
                <a:latin typeface="Arial" pitchFamily="34" charset="0"/>
                <a:ea typeface="Arial" pitchFamily="34" charset="-122"/>
                <a:cs typeface="Arial" pitchFamily="34" charset="-120"/>
              </a:rPr>
              <a:t>Fuente: Runs históricos y BSS_07 temporal · ambos esquemas se presentan por separado</a:t>
            </a:r>
            <a:endParaRPr lang="en-US" sz="950" dirty="0"/>
          </a:p>
        </p:txBody>
      </p:sp>
      <p:sp>
        <p:nvSpPr>
          <p:cNvPr id="4" name="Text 2"/>
          <p:cNvSpPr/>
          <p:nvPr/>
        </p:nvSpPr>
        <p:spPr>
          <a:xfrm>
            <a:off x="11292840" y="6400800"/>
            <a:ext cx="384048" cy="228600"/>
          </a:xfrm>
          <a:prstGeom prst="rect">
            <a:avLst/>
          </a:prstGeom>
          <a:noFill/>
          <a:ln/>
        </p:spPr>
        <p:txBody>
          <a:bodyPr wrap="square" lIns="0" tIns="0" rIns="0" bIns="0" rtlCol="0" anchor="ctr"/>
          <a:lstStyle/>
          <a:p>
            <a:pPr marL="0" indent="0" algn="r">
              <a:buNone/>
            </a:pPr>
            <a:r>
              <a:rPr lang="en-US" sz="1000" dirty="0">
                <a:solidFill>
                  <a:srgbClr val="667A80"/>
                </a:solidFill>
                <a:latin typeface="Arial" pitchFamily="34" charset="0"/>
                <a:ea typeface="Arial" pitchFamily="34" charset="-122"/>
                <a:cs typeface="Arial" pitchFamily="34" charset="-120"/>
              </a:rPr>
              <a:t>10</a:t>
            </a:r>
            <a:endParaRPr lang="en-US" sz="1000" dirty="0"/>
          </a:p>
        </p:txBody>
      </p:sp>
      <p:sp>
        <p:nvSpPr>
          <p:cNvPr id="6" name="Text 3"/>
          <p:cNvSpPr/>
          <p:nvPr/>
        </p:nvSpPr>
        <p:spPr>
          <a:xfrm>
            <a:off x="594360" y="1298448"/>
            <a:ext cx="5943600" cy="320040"/>
          </a:xfrm>
          <a:prstGeom prst="rect">
            <a:avLst/>
          </a:prstGeom>
          <a:noFill/>
          <a:ln/>
        </p:spPr>
        <p:txBody>
          <a:bodyPr wrap="square" lIns="0" tIns="0" rIns="0" bIns="0" rtlCol="0" anchor="ctr"/>
          <a:lstStyle/>
          <a:p>
            <a:pPr marL="0" indent="0">
              <a:buNone/>
            </a:pPr>
            <a:r>
              <a:rPr lang="en-US" sz="1900" b="1" dirty="0">
                <a:solidFill>
                  <a:srgbClr val="176B70"/>
                </a:solidFill>
                <a:latin typeface="Arial" pitchFamily="34" charset="0"/>
                <a:ea typeface="Arial" pitchFamily="34" charset="-122"/>
                <a:cs typeface="Arial" pitchFamily="34" charset="-120"/>
              </a:rPr>
              <a:t>Recorrido histórico</a:t>
            </a:r>
            <a:endParaRPr lang="en-US" sz="1900" dirty="0"/>
          </a:p>
        </p:txBody>
      </p:sp>
      <p:sp>
        <p:nvSpPr>
          <p:cNvPr id="7" name="Text 4"/>
          <p:cNvSpPr/>
          <p:nvPr/>
        </p:nvSpPr>
        <p:spPr>
          <a:xfrm>
            <a:off x="7543800" y="1298448"/>
            <a:ext cx="4114800" cy="320040"/>
          </a:xfrm>
          <a:prstGeom prst="rect">
            <a:avLst/>
          </a:prstGeom>
          <a:noFill/>
          <a:ln/>
        </p:spPr>
        <p:txBody>
          <a:bodyPr wrap="square" lIns="0" tIns="0" rIns="0" bIns="0" rtlCol="0" anchor="ctr"/>
          <a:lstStyle/>
          <a:p>
            <a:pPr marL="0" indent="0">
              <a:buNone/>
            </a:pPr>
            <a:r>
              <a:rPr lang="en-US" sz="1900" b="1" dirty="0">
                <a:solidFill>
                  <a:srgbClr val="176B70"/>
                </a:solidFill>
                <a:latin typeface="Arial" pitchFamily="34" charset="0"/>
                <a:ea typeface="Arial" pitchFamily="34" charset="-122"/>
                <a:cs typeface="Arial" pitchFamily="34" charset="-120"/>
              </a:rPr>
              <a:t>Validación temporal: 3 folds</a:t>
            </a:r>
            <a:endParaRPr lang="en-US" sz="1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810512"/>
          <a:ext cx="6583680" cy="2731008"/>
        </p:xfrm>
        <a:graphic>
          <a:graphicData uri="http://schemas.openxmlformats.org/drawingml/2006/table">
            <a:tbl>
              <a:tblPr/>
              <a:tblGrid>
                <a:gridCol w="23774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530352">
                <a:tc>
                  <a:txBody>
                    <a:bodyPr/>
                    <a:lstStyle/>
                    <a:p>
                      <a:pPr marL="0" indent="0">
                        <a:buNone/>
                      </a:pPr>
                      <a:r>
                        <a:rPr lang="en-US" sz="1400" b="1" dirty="0">
                          <a:solidFill>
                            <a:srgbClr val="FFFFFF"/>
                          </a:solidFill>
                          <a:latin typeface="Arial" pitchFamily="34" charset="0"/>
                          <a:ea typeface="Arial" pitchFamily="34" charset="-122"/>
                          <a:cs typeface="Arial" pitchFamily="34" charset="-120"/>
                        </a:rPr>
                        <a:t>Modelo</a:t>
                      </a:r>
                      <a:endParaRPr lang="en-US" sz="14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76B70"/>
                    </a:solidFill>
                  </a:tcPr>
                </a:tc>
                <a:tc>
                  <a:txBody>
                    <a:bodyPr/>
                    <a:lstStyle/>
                    <a:p>
                      <a:pPr marL="0" indent="0">
                        <a:buNone/>
                      </a:pPr>
                      <a:r>
                        <a:rPr lang="en-US" sz="1400" b="1" dirty="0">
                          <a:solidFill>
                            <a:srgbClr val="FFFFFF"/>
                          </a:solidFill>
                          <a:latin typeface="Arial" pitchFamily="34" charset="0"/>
                          <a:ea typeface="Arial" pitchFamily="34" charset="-122"/>
                          <a:cs typeface="Arial" pitchFamily="34" charset="-120"/>
                        </a:rPr>
                        <a:t>Grupos</a:t>
                      </a:r>
                      <a:endParaRPr lang="en-US" sz="14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76B70"/>
                    </a:solidFill>
                  </a:tcPr>
                </a:tc>
                <a:tc>
                  <a:txBody>
                    <a:bodyPr/>
                    <a:lstStyle/>
                    <a:p>
                      <a:pPr marL="0" indent="0">
                        <a:buNone/>
                      </a:pPr>
                      <a:r>
                        <a:rPr lang="en-US" sz="1400" b="1" dirty="0">
                          <a:solidFill>
                            <a:srgbClr val="FFFFFF"/>
                          </a:solidFill>
                          <a:latin typeface="Arial" pitchFamily="34" charset="0"/>
                          <a:ea typeface="Arial" pitchFamily="34" charset="-122"/>
                          <a:cs typeface="Arial" pitchFamily="34" charset="-120"/>
                        </a:rPr>
                        <a:t>Columnas</a:t>
                      </a:r>
                      <a:endParaRPr lang="en-US" sz="14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76B70"/>
                    </a:solidFill>
                  </a:tcPr>
                </a:tc>
                <a:tc>
                  <a:txBody>
                    <a:bodyPr/>
                    <a:lstStyle/>
                    <a:p>
                      <a:pPr marL="0" indent="0">
                        <a:buNone/>
                      </a:pPr>
                      <a:r>
                        <a:rPr lang="en-US" sz="1400" b="1" dirty="0">
                          <a:solidFill>
                            <a:srgbClr val="FFFFFF"/>
                          </a:solidFill>
                          <a:latin typeface="Arial" pitchFamily="34" charset="0"/>
                          <a:ea typeface="Arial" pitchFamily="34" charset="-122"/>
                          <a:cs typeface="Arial" pitchFamily="34" charset="-120"/>
                        </a:rPr>
                        <a:t>RMSE interno</a:t>
                      </a:r>
                      <a:endParaRPr lang="en-US" sz="1400" dirty="0">
                        <a:latin typeface="Arial" charset="0"/>
                        <a:ea typeface="Arial" charset="0"/>
                        <a:cs typeface="Arial" charset="0"/>
                      </a:endParaRPr>
                    </a:p>
                    <a:p>
                      <a:pPr marL="0" indent="0">
                        <a:buNone/>
                      </a:pPr>
                      <a:r>
                        <a:rPr lang="en-US" sz="1400" b="1" dirty="0">
                          <a:solidFill>
                            <a:srgbClr val="FFFFFF"/>
                          </a:solidFill>
                          <a:latin typeface="Arial" pitchFamily="34" charset="0"/>
                          <a:ea typeface="Arial" pitchFamily="34" charset="-122"/>
                          <a:cs typeface="Arial" pitchFamily="34" charset="-120"/>
                        </a:rPr>
                        <a:t>(RUB)</a:t>
                      </a:r>
                      <a:endParaRPr lang="en-US" sz="14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76B70"/>
                    </a:solidFill>
                  </a:tcPr>
                </a:tc>
                <a:extLst>
                  <a:ext uri="{0D108BD9-81ED-4DB2-BD59-A6C34878D82A}">
                    <a16:rowId xmlns:a16="http://schemas.microsoft.com/office/drawing/2014/main" val="10000"/>
                  </a:ext>
                </a:extLst>
              </a:tr>
              <a:tr h="530352">
                <a:tc>
                  <a:txBody>
                    <a:bodyPr/>
                    <a:lstStyle/>
                    <a:p>
                      <a:pPr marL="0" indent="0">
                        <a:buNone/>
                      </a:pPr>
                      <a:r>
                        <a:rPr lang="en-US" sz="1400" dirty="0">
                          <a:solidFill>
                            <a:srgbClr val="26363B"/>
                          </a:solidFill>
                          <a:latin typeface="Arial" pitchFamily="34" charset="0"/>
                          <a:ea typeface="Arial" pitchFamily="34" charset="-122"/>
                          <a:cs typeface="Arial" pitchFamily="34" charset="-120"/>
                        </a:rPr>
                        <a:t>Forward — 177</a:t>
                      </a:r>
                      <a:endParaRPr lang="en-US" sz="14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400" dirty="0">
                          <a:solidFill>
                            <a:srgbClr val="26363B"/>
                          </a:solidFill>
                          <a:latin typeface="Arial" pitchFamily="34" charset="0"/>
                          <a:ea typeface="Arial" pitchFamily="34" charset="-122"/>
                          <a:cs typeface="Arial" pitchFamily="34" charset="-120"/>
                        </a:rPr>
                        <a:t>8</a:t>
                      </a:r>
                      <a:endParaRPr lang="en-US" sz="14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400" dirty="0">
                          <a:solidFill>
                            <a:srgbClr val="26363B"/>
                          </a:solidFill>
                          <a:latin typeface="Arial" pitchFamily="34" charset="0"/>
                          <a:ea typeface="Arial" pitchFamily="34" charset="-122"/>
                          <a:cs typeface="Arial" pitchFamily="34" charset="-120"/>
                        </a:rPr>
                        <a:t>141</a:t>
                      </a:r>
                      <a:endParaRPr lang="en-US" sz="14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400" dirty="0">
                          <a:solidFill>
                            <a:srgbClr val="26363B"/>
                          </a:solidFill>
                          <a:latin typeface="Arial" pitchFamily="34" charset="0"/>
                          <a:ea typeface="Arial" pitchFamily="34" charset="-122"/>
                          <a:cs typeface="Arial" pitchFamily="34" charset="-120"/>
                        </a:rPr>
                        <a:t>1.603.608</a:t>
                      </a:r>
                      <a:endParaRPr lang="en-US" sz="14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0352">
                <a:tc>
                  <a:txBody>
                    <a:bodyPr/>
                    <a:lstStyle/>
                    <a:p>
                      <a:pPr marL="0" indent="0">
                        <a:buNone/>
                      </a:pPr>
                      <a:r>
                        <a:rPr lang="en-US" sz="1400" dirty="0">
                          <a:solidFill>
                            <a:srgbClr val="26363B"/>
                          </a:solidFill>
                          <a:latin typeface="Arial" pitchFamily="34" charset="0"/>
                          <a:ea typeface="Arial" pitchFamily="34" charset="-122"/>
                          <a:cs typeface="Arial" pitchFamily="34" charset="-120"/>
                        </a:rPr>
                        <a:t>Backward — 177</a:t>
                      </a:r>
                      <a:endParaRPr lang="en-US" sz="14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marL="0" indent="0">
                        <a:buNone/>
                      </a:pPr>
                      <a:r>
                        <a:rPr lang="en-US" sz="1400" dirty="0">
                          <a:solidFill>
                            <a:srgbClr val="26363B"/>
                          </a:solidFill>
                          <a:latin typeface="Arial" pitchFamily="34" charset="0"/>
                          <a:ea typeface="Arial" pitchFamily="34" charset="-122"/>
                          <a:cs typeface="Arial" pitchFamily="34" charset="-120"/>
                        </a:rPr>
                        <a:t>12</a:t>
                      </a:r>
                      <a:endParaRPr lang="en-US" sz="14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marL="0" indent="0">
                        <a:buNone/>
                      </a:pPr>
                      <a:r>
                        <a:rPr lang="en-US" sz="1400" dirty="0">
                          <a:solidFill>
                            <a:srgbClr val="26363B"/>
                          </a:solidFill>
                          <a:latin typeface="Arial" pitchFamily="34" charset="0"/>
                          <a:ea typeface="Arial" pitchFamily="34" charset="-122"/>
                          <a:cs typeface="Arial" pitchFamily="34" charset="-120"/>
                        </a:rPr>
                        <a:t>145</a:t>
                      </a:r>
                      <a:endParaRPr lang="en-US" sz="14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marL="0" indent="0">
                        <a:buNone/>
                      </a:pPr>
                      <a:r>
                        <a:rPr lang="en-US" sz="1400" dirty="0">
                          <a:solidFill>
                            <a:srgbClr val="26363B"/>
                          </a:solidFill>
                          <a:latin typeface="Arial" pitchFamily="34" charset="0"/>
                          <a:ea typeface="Arial" pitchFamily="34" charset="-122"/>
                          <a:cs typeface="Arial" pitchFamily="34" charset="-120"/>
                        </a:rPr>
                        <a:t>1.581.085</a:t>
                      </a:r>
                      <a:endParaRPr lang="en-US" sz="14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extLst>
                  <a:ext uri="{0D108BD9-81ED-4DB2-BD59-A6C34878D82A}">
                    <a16:rowId xmlns:a16="http://schemas.microsoft.com/office/drawing/2014/main" val="10002"/>
                  </a:ext>
                </a:extLst>
              </a:tr>
              <a:tr h="530352">
                <a:tc>
                  <a:txBody>
                    <a:bodyPr/>
                    <a:lstStyle/>
                    <a:p>
                      <a:pPr marL="0" indent="0">
                        <a:buNone/>
                      </a:pPr>
                      <a:r>
                        <a:rPr lang="en-US" sz="1400" dirty="0">
                          <a:solidFill>
                            <a:srgbClr val="26363B"/>
                          </a:solidFill>
                          <a:latin typeface="Arial" pitchFamily="34" charset="0"/>
                          <a:ea typeface="Arial" pitchFamily="34" charset="-122"/>
                          <a:cs typeface="Arial" pitchFamily="34" charset="-120"/>
                        </a:rPr>
                        <a:t>Group Lasso — 177</a:t>
                      </a:r>
                      <a:endParaRPr lang="en-US" sz="14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400" dirty="0">
                          <a:solidFill>
                            <a:srgbClr val="26363B"/>
                          </a:solidFill>
                          <a:latin typeface="Arial" pitchFamily="34" charset="0"/>
                          <a:ea typeface="Arial" pitchFamily="34" charset="-122"/>
                          <a:cs typeface="Arial" pitchFamily="34" charset="-120"/>
                        </a:rPr>
                        <a:t>12</a:t>
                      </a:r>
                      <a:endParaRPr lang="en-US" sz="14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400" dirty="0">
                          <a:solidFill>
                            <a:srgbClr val="26363B"/>
                          </a:solidFill>
                          <a:latin typeface="Arial" pitchFamily="34" charset="0"/>
                          <a:ea typeface="Arial" pitchFamily="34" charset="-122"/>
                          <a:cs typeface="Arial" pitchFamily="34" charset="-120"/>
                        </a:rPr>
                        <a:t>145</a:t>
                      </a:r>
                      <a:endParaRPr lang="en-US" sz="14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400" dirty="0">
                          <a:solidFill>
                            <a:srgbClr val="26363B"/>
                          </a:solidFill>
                          <a:latin typeface="Arial" pitchFamily="34" charset="0"/>
                          <a:ea typeface="Arial" pitchFamily="34" charset="-122"/>
                          <a:cs typeface="Arial" pitchFamily="34" charset="-120"/>
                        </a:rPr>
                        <a:t>1.589.425</a:t>
                      </a:r>
                      <a:endParaRPr lang="en-US" sz="14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0352">
                <a:tc>
                  <a:txBody>
                    <a:bodyPr/>
                    <a:lstStyle/>
                    <a:p>
                      <a:pPr marL="0" indent="0">
                        <a:buNone/>
                      </a:pPr>
                      <a:r>
                        <a:rPr lang="en-US" sz="1400" dirty="0">
                          <a:solidFill>
                            <a:srgbClr val="26363B"/>
                          </a:solidFill>
                          <a:latin typeface="Arial" pitchFamily="34" charset="0"/>
                          <a:ea typeface="Arial" pitchFamily="34" charset="-122"/>
                          <a:cs typeface="Arial" pitchFamily="34" charset="-120"/>
                        </a:rPr>
                        <a:t>BSS histórico</a:t>
                      </a:r>
                      <a:endParaRPr lang="en-US" sz="14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marL="0" indent="0">
                        <a:buNone/>
                      </a:pPr>
                      <a:r>
                        <a:rPr lang="en-US" sz="1400" dirty="0">
                          <a:solidFill>
                            <a:srgbClr val="26363B"/>
                          </a:solidFill>
                          <a:latin typeface="Arial" pitchFamily="34" charset="0"/>
                          <a:ea typeface="Arial" pitchFamily="34" charset="-122"/>
                          <a:cs typeface="Arial" pitchFamily="34" charset="-120"/>
                        </a:rPr>
                        <a:t>12</a:t>
                      </a:r>
                      <a:endParaRPr lang="en-US" sz="14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marL="0" indent="0">
                        <a:buNone/>
                      </a:pPr>
                      <a:r>
                        <a:rPr lang="en-US" sz="1400" dirty="0">
                          <a:solidFill>
                            <a:srgbClr val="26363B"/>
                          </a:solidFill>
                          <a:latin typeface="Arial" pitchFamily="34" charset="0"/>
                          <a:ea typeface="Arial" pitchFamily="34" charset="-122"/>
                          <a:cs typeface="Arial" pitchFamily="34" charset="-120"/>
                        </a:rPr>
                        <a:t>145</a:t>
                      </a:r>
                      <a:endParaRPr lang="en-US" sz="14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marL="0" indent="0">
                        <a:buNone/>
                      </a:pPr>
                      <a:r>
                        <a:rPr lang="en-US" sz="1400" dirty="0">
                          <a:solidFill>
                            <a:srgbClr val="26363B"/>
                          </a:solidFill>
                          <a:latin typeface="Arial" pitchFamily="34" charset="0"/>
                          <a:ea typeface="Arial" pitchFamily="34" charset="-122"/>
                          <a:cs typeface="Arial" pitchFamily="34" charset="-120"/>
                        </a:rPr>
                        <a:t>1.581.085</a:t>
                      </a:r>
                      <a:endParaRPr lang="en-US" sz="14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extLst>
                  <a:ext uri="{0D108BD9-81ED-4DB2-BD59-A6C34878D82A}">
                    <a16:rowId xmlns:a16="http://schemas.microsoft.com/office/drawing/2014/main" val="10004"/>
                  </a:ext>
                </a:extLst>
              </a:tr>
            </a:tbl>
          </a:graphicData>
        </a:graphic>
      </p:graphicFrame>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7498080" y="1810512"/>
          <a:ext cx="4114800" cy="1798320"/>
        </p:xfrm>
        <a:graphic>
          <a:graphicData uri="http://schemas.openxmlformats.org/drawingml/2006/table">
            <a:tbl>
              <a:tblPr/>
              <a:tblGrid>
                <a:gridCol w="14630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tblGrid>
              <a:tr h="594360">
                <a:tc>
                  <a:txBody>
                    <a:bodyPr/>
                    <a:lstStyle/>
                    <a:p>
                      <a:pPr marL="0" indent="0">
                        <a:buNone/>
                      </a:pPr>
                      <a:r>
                        <a:rPr lang="en-US" sz="1400" b="1" dirty="0">
                          <a:solidFill>
                            <a:srgbClr val="FFFFFF"/>
                          </a:solidFill>
                          <a:latin typeface="Arial" pitchFamily="34" charset="0"/>
                          <a:ea typeface="Arial" pitchFamily="34" charset="-122"/>
                          <a:cs typeface="Arial" pitchFamily="34" charset="-120"/>
                        </a:rPr>
                        <a:t>Criterio</a:t>
                      </a:r>
                      <a:endParaRPr lang="en-US" sz="14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76B70"/>
                    </a:solidFill>
                  </a:tcPr>
                </a:tc>
                <a:tc>
                  <a:txBody>
                    <a:bodyPr/>
                    <a:lstStyle/>
                    <a:p>
                      <a:pPr marL="0" indent="0">
                        <a:buNone/>
                      </a:pPr>
                      <a:r>
                        <a:rPr lang="en-US" sz="1400" b="1" dirty="0">
                          <a:solidFill>
                            <a:srgbClr val="FFFFFF"/>
                          </a:solidFill>
                          <a:latin typeface="Arial" pitchFamily="34" charset="0"/>
                          <a:ea typeface="Arial" pitchFamily="34" charset="-122"/>
                          <a:cs typeface="Arial" pitchFamily="34" charset="-120"/>
                        </a:rPr>
                        <a:t>Grupos</a:t>
                      </a:r>
                      <a:endParaRPr lang="en-US" sz="14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76B70"/>
                    </a:solidFill>
                  </a:tcPr>
                </a:tc>
                <a:tc>
                  <a:txBody>
                    <a:bodyPr/>
                    <a:lstStyle/>
                    <a:p>
                      <a:pPr marL="0" indent="0">
                        <a:buNone/>
                      </a:pPr>
                      <a:r>
                        <a:rPr lang="en-US" sz="1400" b="1" dirty="0">
                          <a:solidFill>
                            <a:srgbClr val="FFFFFF"/>
                          </a:solidFill>
                          <a:latin typeface="Arial" pitchFamily="34" charset="0"/>
                          <a:ea typeface="Arial" pitchFamily="34" charset="-122"/>
                          <a:cs typeface="Arial" pitchFamily="34" charset="-120"/>
                        </a:rPr>
                        <a:t>RMSE medio</a:t>
                      </a:r>
                      <a:endParaRPr lang="en-US" sz="1400" dirty="0">
                        <a:latin typeface="Arial" charset="0"/>
                        <a:ea typeface="Arial" charset="0"/>
                        <a:cs typeface="Arial" charset="0"/>
                      </a:endParaRPr>
                    </a:p>
                    <a:p>
                      <a:pPr marL="0" indent="0">
                        <a:buNone/>
                      </a:pPr>
                      <a:r>
                        <a:rPr lang="en-US" sz="1400" b="1" dirty="0">
                          <a:solidFill>
                            <a:srgbClr val="FFFFFF"/>
                          </a:solidFill>
                          <a:latin typeface="Arial" pitchFamily="34" charset="0"/>
                          <a:ea typeface="Arial" pitchFamily="34" charset="-122"/>
                          <a:cs typeface="Arial" pitchFamily="34" charset="-120"/>
                        </a:rPr>
                        <a:t>(RUB)</a:t>
                      </a:r>
                      <a:endParaRPr lang="en-US" sz="14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76B70"/>
                    </a:solidFill>
                  </a:tcPr>
                </a:tc>
                <a:extLst>
                  <a:ext uri="{0D108BD9-81ED-4DB2-BD59-A6C34878D82A}">
                    <a16:rowId xmlns:a16="http://schemas.microsoft.com/office/drawing/2014/main" val="10000"/>
                  </a:ext>
                </a:extLst>
              </a:tr>
              <a:tr h="594360">
                <a:tc>
                  <a:txBody>
                    <a:bodyPr/>
                    <a:lstStyle/>
                    <a:p>
                      <a:pPr marL="0" indent="0">
                        <a:buNone/>
                      </a:pPr>
                      <a:r>
                        <a:rPr lang="en-US" sz="1400" dirty="0">
                          <a:solidFill>
                            <a:srgbClr val="26363B"/>
                          </a:solidFill>
                          <a:latin typeface="Arial" pitchFamily="34" charset="0"/>
                          <a:ea typeface="Arial" pitchFamily="34" charset="-122"/>
                          <a:cs typeface="Arial" pitchFamily="34" charset="-120"/>
                        </a:rPr>
                        <a:t>Mínimo</a:t>
                      </a:r>
                      <a:endParaRPr lang="en-US" sz="14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400" dirty="0">
                          <a:solidFill>
                            <a:srgbClr val="26363B"/>
                          </a:solidFill>
                          <a:latin typeface="Arial" pitchFamily="34" charset="0"/>
                          <a:ea typeface="Arial" pitchFamily="34" charset="-122"/>
                          <a:cs typeface="Arial" pitchFamily="34" charset="-120"/>
                        </a:rPr>
                        <a:t>12</a:t>
                      </a:r>
                      <a:endParaRPr lang="en-US" sz="14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400" dirty="0">
                          <a:solidFill>
                            <a:srgbClr val="26363B"/>
                          </a:solidFill>
                          <a:latin typeface="Arial" pitchFamily="34" charset="0"/>
                          <a:ea typeface="Arial" pitchFamily="34" charset="-122"/>
                          <a:cs typeface="Arial" pitchFamily="34" charset="-120"/>
                        </a:rPr>
                        <a:t>2.324.850</a:t>
                      </a:r>
                      <a:endParaRPr lang="en-US" sz="14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94360">
                <a:tc>
                  <a:txBody>
                    <a:bodyPr/>
                    <a:lstStyle/>
                    <a:p>
                      <a:pPr marL="0" indent="0">
                        <a:buNone/>
                      </a:pPr>
                      <a:r>
                        <a:rPr lang="en-US" sz="1400" dirty="0">
                          <a:solidFill>
                            <a:srgbClr val="26363B"/>
                          </a:solidFill>
                          <a:latin typeface="Arial" pitchFamily="34" charset="0"/>
                          <a:ea typeface="Arial" pitchFamily="34" charset="-122"/>
                          <a:cs typeface="Arial" pitchFamily="34" charset="-120"/>
                        </a:rPr>
                        <a:t>1-SE · elegido</a:t>
                      </a:r>
                      <a:endParaRPr lang="en-US" sz="14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marL="0" indent="0">
                        <a:buNone/>
                      </a:pPr>
                      <a:r>
                        <a:rPr lang="en-US" sz="1400" dirty="0">
                          <a:solidFill>
                            <a:srgbClr val="26363B"/>
                          </a:solidFill>
                          <a:latin typeface="Arial" pitchFamily="34" charset="0"/>
                          <a:ea typeface="Arial" pitchFamily="34" charset="-122"/>
                          <a:cs typeface="Arial" pitchFamily="34" charset="-120"/>
                        </a:rPr>
                        <a:t>6</a:t>
                      </a:r>
                      <a:endParaRPr lang="en-US" sz="14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marL="0" indent="0">
                        <a:buNone/>
                      </a:pPr>
                      <a:r>
                        <a:rPr lang="en-US" sz="1400" dirty="0">
                          <a:solidFill>
                            <a:srgbClr val="26363B"/>
                          </a:solidFill>
                          <a:latin typeface="Arial" pitchFamily="34" charset="0"/>
                          <a:ea typeface="Arial" pitchFamily="34" charset="-122"/>
                          <a:cs typeface="Arial" pitchFamily="34" charset="-120"/>
                        </a:rPr>
                        <a:t>2.480.192</a:t>
                      </a:r>
                      <a:endParaRPr lang="en-US" sz="14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extLst>
                  <a:ext uri="{0D108BD9-81ED-4DB2-BD59-A6C34878D82A}">
                    <a16:rowId xmlns:a16="http://schemas.microsoft.com/office/drawing/2014/main" val="10002"/>
                  </a:ext>
                </a:extLst>
              </a:tr>
            </a:tbl>
          </a:graphicData>
        </a:graphic>
      </p:graphicFrame>
      <p:sp>
        <p:nvSpPr>
          <p:cNvPr id="10" name="Text 5"/>
          <p:cNvSpPr/>
          <p:nvPr/>
        </p:nvSpPr>
        <p:spPr>
          <a:xfrm>
            <a:off x="7589520" y="4096512"/>
            <a:ext cx="3977640" cy="502920"/>
          </a:xfrm>
          <a:prstGeom prst="rect">
            <a:avLst/>
          </a:prstGeom>
          <a:noFill/>
          <a:ln/>
        </p:spPr>
        <p:txBody>
          <a:bodyPr wrap="square" lIns="0" tIns="0" rIns="0" bIns="0" rtlCol="0" anchor="ctr"/>
          <a:lstStyle/>
          <a:p>
            <a:pPr marL="0" indent="0">
              <a:buNone/>
            </a:pPr>
            <a:r>
              <a:rPr lang="en-US" sz="1400" dirty="0">
                <a:solidFill>
                  <a:srgbClr val="176B70"/>
                </a:solidFill>
                <a:latin typeface="Arial" pitchFamily="34" charset="0"/>
                <a:ea typeface="Arial" pitchFamily="34" charset="-122"/>
                <a:cs typeface="Arial" pitchFamily="34" charset="-120"/>
              </a:rPr>
              <a:t>Entrenar en el pasado y validar después.</a:t>
            </a:r>
            <a:endParaRPr lang="en-US" sz="1400" dirty="0"/>
          </a:p>
          <a:p>
            <a:pPr marL="0" indent="0">
              <a:buNone/>
            </a:pPr>
            <a:r>
              <a:rPr lang="en-US" sz="1400" dirty="0">
                <a:solidFill>
                  <a:srgbClr val="176B70"/>
                </a:solidFill>
                <a:latin typeface="Arial" pitchFamily="34" charset="0"/>
                <a:ea typeface="Arial" pitchFamily="34" charset="-122"/>
                <a:cs typeface="Arial" pitchFamily="34" charset="-120"/>
              </a:rPr>
              <a:t>Ventanas expansivas, BSS dentro de cada fold.</a:t>
            </a:r>
            <a:endParaRPr lang="en-US" sz="1400" dirty="0"/>
          </a:p>
        </p:txBody>
      </p:sp>
      <p:sp>
        <p:nvSpPr>
          <p:cNvPr id="5" name="Text 6"/>
          <p:cNvSpPr/>
          <p:nvPr/>
        </p:nvSpPr>
        <p:spPr>
          <a:xfrm>
            <a:off x="594360" y="4709160"/>
            <a:ext cx="6172200" cy="914400"/>
          </a:xfrm>
          <a:prstGeom prst="rect">
            <a:avLst/>
          </a:prstGeom>
          <a:noFill/>
          <a:ln/>
        </p:spPr>
        <p:txBody>
          <a:bodyPr wrap="square" lIns="0" tIns="0" rIns="0" bIns="0" rtlCol="0" anchor="t"/>
          <a:lstStyle/>
          <a:p>
            <a:pPr marL="0" indent="0">
              <a:buNone/>
            </a:pPr>
            <a:r>
              <a:rPr lang="en-US" sz="1800" dirty="0">
                <a:solidFill>
                  <a:srgbClr val="26363B"/>
                </a:solidFill>
                <a:latin typeface="Arial" pitchFamily="34" charset="0"/>
                <a:ea typeface="Arial" pitchFamily="34" charset="-122"/>
                <a:cs typeface="Arial" pitchFamily="34" charset="-120"/>
              </a:rPr>
              <a:t>BSS histórico igualó a Backward. La búsqueda exhaustiva no mejoró ese subconjunto para el criterio considerado.</a:t>
            </a:r>
            <a:endParaRPr lang="en-US" sz="1800" dirty="0"/>
          </a:p>
        </p:txBody>
      </p:sp>
      <p:sp>
        <p:nvSpPr>
          <p:cNvPr id="12" name="Text 7"/>
          <p:cNvSpPr/>
          <p:nvPr/>
        </p:nvSpPr>
        <p:spPr>
          <a:xfrm>
            <a:off x="7589520" y="4709160"/>
            <a:ext cx="3931920" cy="1051560"/>
          </a:xfrm>
          <a:prstGeom prst="rect">
            <a:avLst/>
          </a:prstGeom>
          <a:noFill/>
          <a:ln/>
        </p:spPr>
        <p:txBody>
          <a:bodyPr wrap="square" lIns="0" tIns="0" rIns="0" bIns="0" rtlCol="0" anchor="t">
            <a:noAutofit/>
          </a:bodyPr>
          <a:lstStyle/>
          <a:p>
            <a:pPr>
              <a:lnSpc>
                <a:spcPct val="100000"/>
              </a:lnSpc>
              <a:spcAft>
                <a:spcPts val="0"/>
              </a:spcAft>
            </a:pPr>
            <a:r>
              <a:rPr sz="1500" dirty="0">
                <a:solidFill>
                  <a:srgbClr val="26363B"/>
                </a:solidFill>
                <a:latin typeface="Arial"/>
              </a:rPr>
              <a:t>Regla 1-SE: </a:t>
            </a:r>
            <a:r>
              <a:rPr sz="1500" dirty="0" err="1">
                <a:solidFill>
                  <a:srgbClr val="26363B"/>
                </a:solidFill>
                <a:latin typeface="Arial"/>
              </a:rPr>
              <a:t>elegir</a:t>
            </a:r>
            <a:r>
              <a:rPr sz="1500" dirty="0">
                <a:solidFill>
                  <a:srgbClr val="26363B"/>
                </a:solidFill>
                <a:latin typeface="Arial"/>
              </a:rPr>
              <a:t> el </a:t>
            </a:r>
            <a:r>
              <a:rPr sz="1500" dirty="0" err="1">
                <a:solidFill>
                  <a:srgbClr val="26363B"/>
                </a:solidFill>
                <a:latin typeface="Arial"/>
              </a:rPr>
              <a:t>modelo</a:t>
            </a:r>
            <a:r>
              <a:rPr sz="1500" dirty="0">
                <a:solidFill>
                  <a:srgbClr val="26363B"/>
                </a:solidFill>
                <a:latin typeface="Arial"/>
              </a:rPr>
              <a:t> </a:t>
            </a:r>
            <a:r>
              <a:rPr sz="1500" dirty="0" err="1">
                <a:solidFill>
                  <a:srgbClr val="26363B"/>
                </a:solidFill>
                <a:latin typeface="Arial"/>
              </a:rPr>
              <a:t>más</a:t>
            </a:r>
            <a:r>
              <a:rPr sz="1500" dirty="0">
                <a:solidFill>
                  <a:srgbClr val="26363B"/>
                </a:solidFill>
                <a:latin typeface="Arial"/>
              </a:rPr>
              <a:t> simple </a:t>
            </a:r>
            <a:r>
              <a:rPr sz="1500" dirty="0" err="1">
                <a:solidFill>
                  <a:srgbClr val="26363B"/>
                </a:solidFill>
                <a:latin typeface="Arial"/>
              </a:rPr>
              <a:t>cuyo</a:t>
            </a:r>
            <a:r>
              <a:rPr sz="1500" dirty="0">
                <a:solidFill>
                  <a:srgbClr val="26363B"/>
                </a:solidFill>
                <a:latin typeface="Arial"/>
              </a:rPr>
              <a:t> RMSE </a:t>
            </a:r>
            <a:r>
              <a:rPr sz="1500" dirty="0" err="1">
                <a:solidFill>
                  <a:srgbClr val="26363B"/>
                </a:solidFill>
                <a:latin typeface="Arial"/>
              </a:rPr>
              <a:t>quede</a:t>
            </a:r>
            <a:r>
              <a:rPr sz="1500" dirty="0">
                <a:solidFill>
                  <a:srgbClr val="26363B"/>
                </a:solidFill>
                <a:latin typeface="Arial"/>
              </a:rPr>
              <a:t> a ≤1 error </a:t>
            </a:r>
            <a:r>
              <a:rPr sz="1500" dirty="0" err="1">
                <a:solidFill>
                  <a:srgbClr val="26363B"/>
                </a:solidFill>
                <a:latin typeface="Arial"/>
              </a:rPr>
              <a:t>estándar</a:t>
            </a:r>
            <a:r>
              <a:rPr sz="1500" dirty="0">
                <a:solidFill>
                  <a:srgbClr val="26363B"/>
                </a:solidFill>
                <a:latin typeface="Arial"/>
              </a:rPr>
              <a:t> del </a:t>
            </a:r>
            <a:r>
              <a:rPr sz="1500" dirty="0" err="1">
                <a:solidFill>
                  <a:srgbClr val="26363B"/>
                </a:solidFill>
                <a:latin typeface="Arial"/>
              </a:rPr>
              <a:t>mínimo</a:t>
            </a:r>
            <a:r>
              <a:rPr sz="1500" dirty="0">
                <a:solidFill>
                  <a:srgbClr val="26363B"/>
                </a:solidFill>
                <a:latin typeface="Arial"/>
              </a:rPr>
              <a:t>.</a:t>
            </a:r>
          </a:p>
          <a:p>
            <a:pPr>
              <a:lnSpc>
                <a:spcPct val="100000"/>
              </a:lnSpc>
              <a:spcAft>
                <a:spcPts val="0"/>
              </a:spcAft>
            </a:pPr>
            <a:r>
              <a:rPr sz="1500" dirty="0">
                <a:solidFill>
                  <a:srgbClr val="26363B"/>
                </a:solidFill>
                <a:latin typeface="Arial"/>
              </a:rPr>
              <a:t>Umbral: 2.531.404 RUB; RMSE +6,68 % y 6 </a:t>
            </a:r>
            <a:r>
              <a:rPr sz="1500" dirty="0" err="1">
                <a:solidFill>
                  <a:srgbClr val="26363B"/>
                </a:solidFill>
                <a:latin typeface="Arial"/>
              </a:rPr>
              <a:t>grupos</a:t>
            </a:r>
            <a:r>
              <a:rPr sz="1500" dirty="0">
                <a:solidFill>
                  <a:srgbClr val="26363B"/>
                </a:solidFill>
                <a:latin typeface="Arial"/>
              </a:rPr>
              <a:t> </a:t>
            </a:r>
            <a:r>
              <a:rPr sz="1500" dirty="0" err="1">
                <a:solidFill>
                  <a:srgbClr val="26363B"/>
                </a:solidFill>
                <a:latin typeface="Arial"/>
              </a:rPr>
              <a:t>menos</a:t>
            </a:r>
            <a:r>
              <a:rPr sz="1500" dirty="0">
                <a:solidFill>
                  <a:srgbClr val="26363B"/>
                </a:solidFill>
                <a:latin typeface="Arial"/>
              </a:rPr>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1064240" cy="685800"/>
          </a:xfrm>
          <a:prstGeom prst="rect">
            <a:avLst/>
          </a:prstGeom>
          <a:noFill/>
          <a:ln/>
        </p:spPr>
        <p:txBody>
          <a:bodyPr wrap="square" lIns="0" tIns="0" rIns="0" bIns="0" rtlCol="0" anchor="ctr"/>
          <a:lstStyle/>
          <a:p>
            <a:pPr marL="0" indent="0">
              <a:buNone/>
            </a:pPr>
            <a:r>
              <a:rPr lang="en-US" sz="3100" b="1" dirty="0">
                <a:solidFill>
                  <a:srgbClr val="26363B"/>
                </a:solidFill>
                <a:latin typeface="Arial" pitchFamily="34" charset="0"/>
                <a:ea typeface="Arial" pitchFamily="34" charset="-122"/>
                <a:cs typeface="Arial" pitchFamily="34" charset="-120"/>
              </a:rPr>
              <a:t>En </a:t>
            </a:r>
            <a:r>
              <a:rPr lang="en-US" sz="3100" b="1" dirty="0" err="1">
                <a:solidFill>
                  <a:srgbClr val="26363B"/>
                </a:solidFill>
                <a:latin typeface="Arial" pitchFamily="34" charset="0"/>
                <a:ea typeface="Arial" pitchFamily="34" charset="-122"/>
                <a:cs typeface="Arial" pitchFamily="34" charset="-120"/>
              </a:rPr>
              <a:t>resumen</a:t>
            </a:r>
            <a:r>
              <a:rPr lang="en-US" sz="3100" b="1" dirty="0">
                <a:solidFill>
                  <a:srgbClr val="26363B"/>
                </a:solidFill>
                <a:latin typeface="Arial" pitchFamily="34" charset="0"/>
                <a:ea typeface="Arial" pitchFamily="34" charset="-122"/>
                <a:cs typeface="Arial" pitchFamily="34" charset="-120"/>
              </a:rPr>
              <a:t>: BSS + validación cruzada temporal</a:t>
            </a:r>
            <a:endParaRPr lang="en-US" sz="3100" dirty="0"/>
          </a:p>
        </p:txBody>
      </p:sp>
      <p:sp>
        <p:nvSpPr>
          <p:cNvPr id="3" name="Text 1"/>
          <p:cNvSpPr/>
          <p:nvPr/>
        </p:nvSpPr>
        <p:spPr>
          <a:xfrm>
            <a:off x="502920" y="6419088"/>
            <a:ext cx="10789920" cy="201168"/>
          </a:xfrm>
          <a:prstGeom prst="rect">
            <a:avLst/>
          </a:prstGeom>
          <a:noFill/>
          <a:ln/>
        </p:spPr>
        <p:txBody>
          <a:bodyPr wrap="square" lIns="0" tIns="0" rIns="0" bIns="0" rtlCol="0" anchor="ctr"/>
          <a:lstStyle/>
          <a:p>
            <a:pPr marL="0" indent="0">
              <a:buNone/>
            </a:pPr>
            <a:r>
              <a:rPr lang="en-US" sz="950" dirty="0">
                <a:solidFill>
                  <a:srgbClr val="667A80"/>
                </a:solidFill>
                <a:latin typeface="Arial" pitchFamily="34" charset="0"/>
                <a:ea typeface="Arial" pitchFamily="34" charset="-122"/>
                <a:cs typeface="Arial" pitchFamily="34" charset="-120"/>
              </a:rPr>
              <a:t>Fuente: resultados.json y preparador.joblib · Run BSS_07 temporal</a:t>
            </a:r>
            <a:endParaRPr lang="en-US" sz="950" dirty="0"/>
          </a:p>
        </p:txBody>
      </p:sp>
      <p:sp>
        <p:nvSpPr>
          <p:cNvPr id="4" name="Text 2"/>
          <p:cNvSpPr/>
          <p:nvPr/>
        </p:nvSpPr>
        <p:spPr>
          <a:xfrm>
            <a:off x="11292840" y="6400800"/>
            <a:ext cx="384048" cy="228600"/>
          </a:xfrm>
          <a:prstGeom prst="rect">
            <a:avLst/>
          </a:prstGeom>
          <a:noFill/>
          <a:ln/>
        </p:spPr>
        <p:txBody>
          <a:bodyPr wrap="square" lIns="0" tIns="0" rIns="0" bIns="0" rtlCol="0" anchor="ctr"/>
          <a:lstStyle/>
          <a:p>
            <a:pPr marL="0" indent="0" algn="r">
              <a:buNone/>
            </a:pPr>
            <a:r>
              <a:rPr lang="en-US" sz="1000" dirty="0">
                <a:solidFill>
                  <a:srgbClr val="667A80"/>
                </a:solidFill>
                <a:latin typeface="Arial" pitchFamily="34" charset="0"/>
                <a:ea typeface="Arial" pitchFamily="34" charset="-122"/>
                <a:cs typeface="Arial" pitchFamily="34" charset="-120"/>
              </a:rPr>
              <a:t>11</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3840480"/>
        </p:xfrm>
        <a:graphic>
          <a:graphicData uri="http://schemas.openxmlformats.org/drawingml/2006/table">
            <a:tbl>
              <a:tblPr/>
              <a:tblGrid>
                <a:gridCol w="3474720">
                  <a:extLst>
                    <a:ext uri="{9D8B030D-6E8A-4147-A177-3AD203B41FA5}">
                      <a16:colId xmlns:a16="http://schemas.microsoft.com/office/drawing/2014/main" val="20000"/>
                    </a:ext>
                  </a:extLst>
                </a:gridCol>
                <a:gridCol w="621792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548640">
                <a:tc>
                  <a:txBody>
                    <a:bodyPr/>
                    <a:lstStyle/>
                    <a:p>
                      <a:pPr marL="0" indent="0">
                        <a:buNone/>
                      </a:pPr>
                      <a:r>
                        <a:rPr lang="en-US" sz="1700" b="1" dirty="0">
                          <a:solidFill>
                            <a:srgbClr val="FFFFFF"/>
                          </a:solidFill>
                          <a:latin typeface="Arial" pitchFamily="34" charset="0"/>
                          <a:ea typeface="Arial" pitchFamily="34" charset="-122"/>
                          <a:cs typeface="Arial" pitchFamily="34" charset="-120"/>
                        </a:rPr>
                        <a:t>Característica original</a:t>
                      </a:r>
                      <a:endParaRPr lang="en-US" sz="17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76B70"/>
                    </a:solidFill>
                  </a:tcPr>
                </a:tc>
                <a:tc>
                  <a:txBody>
                    <a:bodyPr/>
                    <a:lstStyle/>
                    <a:p>
                      <a:pPr marL="0" indent="0">
                        <a:buNone/>
                      </a:pPr>
                      <a:r>
                        <a:rPr lang="en-US" sz="1700" b="1" dirty="0">
                          <a:solidFill>
                            <a:srgbClr val="FFFFFF"/>
                          </a:solidFill>
                          <a:latin typeface="Arial" pitchFamily="34" charset="0"/>
                          <a:ea typeface="Arial" pitchFamily="34" charset="-122"/>
                          <a:cs typeface="Arial" pitchFamily="34" charset="-120"/>
                        </a:rPr>
                        <a:t>Qué representa</a:t>
                      </a:r>
                      <a:endParaRPr lang="en-US" sz="17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76B70"/>
                    </a:solidFill>
                  </a:tcPr>
                </a:tc>
                <a:tc>
                  <a:txBody>
                    <a:bodyPr/>
                    <a:lstStyle/>
                    <a:p>
                      <a:pPr marL="0" indent="0">
                        <a:buNone/>
                      </a:pPr>
                      <a:r>
                        <a:rPr lang="en-US" sz="1700" b="1" dirty="0">
                          <a:solidFill>
                            <a:srgbClr val="FFFFFF"/>
                          </a:solidFill>
                          <a:latin typeface="Arial" pitchFamily="34" charset="0"/>
                          <a:ea typeface="Arial" pitchFamily="34" charset="-122"/>
                          <a:cs typeface="Arial" pitchFamily="34" charset="-120"/>
                        </a:rPr>
                        <a:t>Columnas</a:t>
                      </a:r>
                      <a:endParaRPr lang="en-US" sz="17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76B70"/>
                    </a:solidFill>
                  </a:tcPr>
                </a:tc>
                <a:extLst>
                  <a:ext uri="{0D108BD9-81ED-4DB2-BD59-A6C34878D82A}">
                    <a16:rowId xmlns:a16="http://schemas.microsoft.com/office/drawing/2014/main" val="10000"/>
                  </a:ext>
                </a:extLst>
              </a:tr>
              <a:tr h="548640">
                <a:tc>
                  <a:txBody>
                    <a:bodyPr/>
                    <a:lstStyle/>
                    <a:p>
                      <a:pPr marL="0" indent="0">
                        <a:buNone/>
                      </a:pPr>
                      <a:r>
                        <a:rPr lang="en-US" sz="1700" dirty="0">
                          <a:solidFill>
                            <a:srgbClr val="26363B"/>
                          </a:solidFill>
                          <a:latin typeface="Arial" pitchFamily="34" charset="0"/>
                          <a:ea typeface="Arial" pitchFamily="34" charset="-122"/>
                          <a:cs typeface="Arial" pitchFamily="34" charset="-120"/>
                        </a:rPr>
                        <a:t>total_area</a:t>
                      </a:r>
                      <a:endParaRPr lang="en-US" sz="17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700" dirty="0">
                          <a:solidFill>
                            <a:srgbClr val="26363B"/>
                          </a:solidFill>
                          <a:latin typeface="Arial" pitchFamily="34" charset="0"/>
                          <a:ea typeface="Arial" pitchFamily="34" charset="-122"/>
                          <a:cs typeface="Arial" pitchFamily="34" charset="-120"/>
                        </a:rPr>
                        <a:t>Superficie total en m²</a:t>
                      </a:r>
                      <a:endParaRPr lang="en-US" sz="17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700" dirty="0">
                          <a:solidFill>
                            <a:srgbClr val="26363B"/>
                          </a:solidFill>
                          <a:latin typeface="Arial" pitchFamily="34" charset="0"/>
                          <a:ea typeface="Arial" pitchFamily="34" charset="-122"/>
                          <a:cs typeface="Arial" pitchFamily="34" charset="-120"/>
                        </a:rPr>
                        <a:t>1</a:t>
                      </a:r>
                      <a:endParaRPr lang="en-US" sz="17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1700" dirty="0">
                          <a:solidFill>
                            <a:srgbClr val="26363B"/>
                          </a:solidFill>
                          <a:latin typeface="Arial" pitchFamily="34" charset="0"/>
                          <a:ea typeface="Arial" pitchFamily="34" charset="-122"/>
                          <a:cs typeface="Arial" pitchFamily="34" charset="-120"/>
                        </a:rPr>
                        <a:t>metro_distance_type</a:t>
                      </a:r>
                      <a:endParaRPr lang="en-US" sz="17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marL="0" indent="0">
                        <a:buNone/>
                      </a:pPr>
                      <a:r>
                        <a:rPr lang="en-US" sz="1700" dirty="0">
                          <a:solidFill>
                            <a:srgbClr val="26363B"/>
                          </a:solidFill>
                          <a:latin typeface="Arial" pitchFamily="34" charset="0"/>
                          <a:ea typeface="Arial" pitchFamily="34" charset="-122"/>
                          <a:cs typeface="Arial" pitchFamily="34" charset="-120"/>
                        </a:rPr>
                        <a:t>Acceso al metro: a pie o transporte</a:t>
                      </a:r>
                      <a:endParaRPr lang="en-US" sz="17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marL="0" indent="0">
                        <a:buNone/>
                      </a:pPr>
                      <a:r>
                        <a:rPr lang="en-US" sz="1700" dirty="0">
                          <a:solidFill>
                            <a:srgbClr val="26363B"/>
                          </a:solidFill>
                          <a:latin typeface="Arial" pitchFamily="34" charset="0"/>
                          <a:ea typeface="Arial" pitchFamily="34" charset="-122"/>
                          <a:cs typeface="Arial" pitchFamily="34" charset="-120"/>
                        </a:rPr>
                        <a:t>1</a:t>
                      </a:r>
                      <a:endParaRPr lang="en-US" sz="17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extLst>
                  <a:ext uri="{0D108BD9-81ED-4DB2-BD59-A6C34878D82A}">
                    <a16:rowId xmlns:a16="http://schemas.microsoft.com/office/drawing/2014/main" val="10002"/>
                  </a:ext>
                </a:extLst>
              </a:tr>
              <a:tr h="548640">
                <a:tc>
                  <a:txBody>
                    <a:bodyPr/>
                    <a:lstStyle/>
                    <a:p>
                      <a:pPr marL="0" indent="0">
                        <a:buNone/>
                      </a:pPr>
                      <a:r>
                        <a:rPr lang="en-US" sz="1700" dirty="0">
                          <a:solidFill>
                            <a:srgbClr val="26363B"/>
                          </a:solidFill>
                          <a:latin typeface="Arial" pitchFamily="34" charset="0"/>
                          <a:ea typeface="Arial" pitchFamily="34" charset="-122"/>
                          <a:cs typeface="Arial" pitchFamily="34" charset="-120"/>
                        </a:rPr>
                        <a:t>building_type</a:t>
                      </a:r>
                      <a:endParaRPr lang="en-US" sz="17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700" dirty="0">
                          <a:solidFill>
                            <a:srgbClr val="26363B"/>
                          </a:solidFill>
                          <a:latin typeface="Arial" pitchFamily="34" charset="0"/>
                          <a:ea typeface="Arial" pitchFamily="34" charset="-122"/>
                          <a:cs typeface="Arial" pitchFamily="34" charset="-120"/>
                        </a:rPr>
                        <a:t>Tipología del edificio</a:t>
                      </a:r>
                      <a:endParaRPr lang="en-US" sz="17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700" dirty="0">
                          <a:solidFill>
                            <a:srgbClr val="26363B"/>
                          </a:solidFill>
                          <a:latin typeface="Arial" pitchFamily="34" charset="0"/>
                          <a:ea typeface="Arial" pitchFamily="34" charset="-122"/>
                          <a:cs typeface="Arial" pitchFamily="34" charset="-120"/>
                        </a:rPr>
                        <a:t>5</a:t>
                      </a:r>
                      <a:endParaRPr lang="en-US" sz="17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buNone/>
                      </a:pPr>
                      <a:r>
                        <a:rPr lang="en-US" sz="1700" dirty="0">
                          <a:solidFill>
                            <a:srgbClr val="26363B"/>
                          </a:solidFill>
                          <a:latin typeface="Arial" pitchFamily="34" charset="0"/>
                          <a:ea typeface="Arial" pitchFamily="34" charset="-122"/>
                          <a:cs typeface="Arial" pitchFamily="34" charset="-120"/>
                        </a:rPr>
                        <a:t>renovation</a:t>
                      </a:r>
                      <a:endParaRPr lang="en-US" sz="17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marL="0" indent="0">
                        <a:buNone/>
                      </a:pPr>
                      <a:r>
                        <a:rPr lang="en-US" sz="1700" dirty="0">
                          <a:solidFill>
                            <a:srgbClr val="26363B"/>
                          </a:solidFill>
                          <a:latin typeface="Arial" pitchFamily="34" charset="0"/>
                          <a:ea typeface="Arial" pitchFamily="34" charset="-122"/>
                          <a:cs typeface="Arial" pitchFamily="34" charset="-120"/>
                        </a:rPr>
                        <a:t>Estado de renovación</a:t>
                      </a:r>
                      <a:endParaRPr lang="en-US" sz="17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marL="0" indent="0">
                        <a:buNone/>
                      </a:pPr>
                      <a:r>
                        <a:rPr lang="en-US" sz="1700" dirty="0">
                          <a:solidFill>
                            <a:srgbClr val="26363B"/>
                          </a:solidFill>
                          <a:latin typeface="Arial" pitchFamily="34" charset="0"/>
                          <a:ea typeface="Arial" pitchFamily="34" charset="-122"/>
                          <a:cs typeface="Arial" pitchFamily="34" charset="-120"/>
                        </a:rPr>
                        <a:t>3</a:t>
                      </a:r>
                      <a:endParaRPr lang="en-US" sz="17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extLst>
                  <a:ext uri="{0D108BD9-81ED-4DB2-BD59-A6C34878D82A}">
                    <a16:rowId xmlns:a16="http://schemas.microsoft.com/office/drawing/2014/main" val="10004"/>
                  </a:ext>
                </a:extLst>
              </a:tr>
              <a:tr h="548640">
                <a:tc>
                  <a:txBody>
                    <a:bodyPr/>
                    <a:lstStyle/>
                    <a:p>
                      <a:pPr marL="0" indent="0">
                        <a:buNone/>
                      </a:pPr>
                      <a:r>
                        <a:rPr lang="en-US" sz="1700" dirty="0">
                          <a:solidFill>
                            <a:srgbClr val="26363B"/>
                          </a:solidFill>
                          <a:latin typeface="Arial" pitchFamily="34" charset="0"/>
                          <a:ea typeface="Arial" pitchFamily="34" charset="-122"/>
                          <a:cs typeface="Arial" pitchFamily="34" charset="-120"/>
                        </a:rPr>
                        <a:t>district</a:t>
                      </a:r>
                      <a:endParaRPr lang="en-US" sz="17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700" dirty="0">
                          <a:solidFill>
                            <a:srgbClr val="26363B"/>
                          </a:solidFill>
                          <a:latin typeface="Arial" pitchFamily="34" charset="0"/>
                          <a:ea typeface="Arial" pitchFamily="34" charset="-122"/>
                          <a:cs typeface="Arial" pitchFamily="34" charset="-120"/>
                        </a:rPr>
                        <a:t>Localización por distrito</a:t>
                      </a:r>
                      <a:endParaRPr lang="en-US" sz="17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700" dirty="0">
                          <a:solidFill>
                            <a:srgbClr val="26363B"/>
                          </a:solidFill>
                          <a:latin typeface="Arial" pitchFamily="34" charset="0"/>
                          <a:ea typeface="Arial" pitchFamily="34" charset="-122"/>
                          <a:cs typeface="Arial" pitchFamily="34" charset="-120"/>
                        </a:rPr>
                        <a:t>128</a:t>
                      </a:r>
                      <a:endParaRPr lang="en-US" sz="17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640">
                <a:tc>
                  <a:txBody>
                    <a:bodyPr/>
                    <a:lstStyle/>
                    <a:p>
                      <a:pPr marL="0" indent="0">
                        <a:buNone/>
                      </a:pPr>
                      <a:r>
                        <a:rPr lang="en-US" sz="1700" dirty="0">
                          <a:solidFill>
                            <a:srgbClr val="26363B"/>
                          </a:solidFill>
                          <a:latin typeface="Arial" pitchFamily="34" charset="0"/>
                          <a:ea typeface="Arial" pitchFamily="34" charset="-122"/>
                          <a:cs typeface="Arial" pitchFamily="34" charset="-120"/>
                        </a:rPr>
                        <a:t>date_posted_dt</a:t>
                      </a:r>
                      <a:endParaRPr lang="en-US" sz="17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marL="0" indent="0">
                        <a:buNone/>
                      </a:pPr>
                      <a:r>
                        <a:rPr lang="en-US" sz="1700" dirty="0">
                          <a:solidFill>
                            <a:srgbClr val="26363B"/>
                          </a:solidFill>
                          <a:latin typeface="Arial" pitchFamily="34" charset="0"/>
                          <a:ea typeface="Arial" pitchFamily="34" charset="-122"/>
                          <a:cs typeface="Arial" pitchFamily="34" charset="-120"/>
                        </a:rPr>
                        <a:t>Tendencia: months_since_start</a:t>
                      </a:r>
                      <a:endParaRPr lang="en-US" sz="17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marL="0" indent="0">
                        <a:buNone/>
                      </a:pPr>
                      <a:r>
                        <a:rPr lang="en-US" sz="1700" dirty="0">
                          <a:solidFill>
                            <a:srgbClr val="26363B"/>
                          </a:solidFill>
                          <a:latin typeface="Arial" pitchFamily="34" charset="0"/>
                          <a:ea typeface="Arial" pitchFamily="34" charset="-122"/>
                          <a:cs typeface="Arial" pitchFamily="34" charset="-120"/>
                        </a:rPr>
                        <a:t>1</a:t>
                      </a:r>
                      <a:endParaRPr lang="en-US" sz="17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extLst>
                  <a:ext uri="{0D108BD9-81ED-4DB2-BD59-A6C34878D82A}">
                    <a16:rowId xmlns:a16="http://schemas.microsoft.com/office/drawing/2014/main" val="10006"/>
                  </a:ext>
                </a:extLst>
              </a:tr>
            </a:tbl>
          </a:graphicData>
        </a:graphic>
      </p:graphicFrame>
      <p:sp>
        <p:nvSpPr>
          <p:cNvPr id="7" name="Text 3"/>
          <p:cNvSpPr/>
          <p:nvPr/>
        </p:nvSpPr>
        <p:spPr>
          <a:xfrm>
            <a:off x="594360" y="5559552"/>
            <a:ext cx="10881360" cy="658368"/>
          </a:xfrm>
          <a:prstGeom prst="rect">
            <a:avLst/>
          </a:prstGeom>
          <a:noFill/>
          <a:ln/>
        </p:spPr>
        <p:txBody>
          <a:bodyPr wrap="square" lIns="0" tIns="0" rIns="0" bIns="0" rtlCol="0" anchor="t"/>
          <a:lstStyle/>
          <a:p>
            <a:pPr marL="0" indent="0">
              <a:buNone/>
            </a:pPr>
            <a:r>
              <a:rPr lang="en-US" sz="1800" dirty="0">
                <a:solidFill>
                  <a:srgbClr val="26363B"/>
                </a:solidFill>
                <a:latin typeface="Arial" pitchFamily="34" charset="0"/>
                <a:ea typeface="Arial" pitchFamily="34" charset="-122"/>
                <a:cs typeface="Arial" pitchFamily="34" charset="-120"/>
              </a:rPr>
              <a:t>Modelo final: 6 características, 139 columnas más intercepto.</a:t>
            </a:r>
            <a:endParaRPr lang="en-US" sz="1800" dirty="0"/>
          </a:p>
          <a:p>
            <a:pPr marL="0" indent="0">
              <a:buNone/>
            </a:pPr>
            <a:r>
              <a:rPr lang="en-US" sz="1800" dirty="0">
                <a:solidFill>
                  <a:srgbClr val="26363B"/>
                </a:solidFill>
                <a:latin typeface="Arial" pitchFamily="34" charset="0"/>
                <a:ea typeface="Arial" pitchFamily="34" charset="-122"/>
                <a:cs typeface="Arial" pitchFamily="34" charset="-120"/>
              </a:rPr>
              <a:t>RMSE temporal medio: 2.480.192 RUB. District aporta 128 columnas.</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1064240" cy="685800"/>
          </a:xfrm>
          <a:prstGeom prst="rect">
            <a:avLst/>
          </a:prstGeom>
          <a:noFill/>
          <a:ln/>
        </p:spPr>
        <p:txBody>
          <a:bodyPr wrap="square" lIns="0" tIns="0" rIns="0" bIns="0" rtlCol="0" anchor="ctr"/>
          <a:lstStyle/>
          <a:p>
            <a:pPr marL="0" indent="0">
              <a:buNone/>
            </a:pPr>
            <a:r>
              <a:rPr lang="en-US" sz="3100" b="1" dirty="0">
                <a:solidFill>
                  <a:srgbClr val="26363B"/>
                </a:solidFill>
                <a:latin typeface="Arial" pitchFamily="34" charset="0"/>
                <a:ea typeface="Arial" pitchFamily="34" charset="-122"/>
                <a:cs typeface="Arial" pitchFamily="34" charset="-120"/>
              </a:rPr>
              <a:t>Distrito y superficie concentran la importancia</a:t>
            </a:r>
            <a:endParaRPr lang="en-US" sz="3100" dirty="0"/>
          </a:p>
        </p:txBody>
      </p:sp>
      <p:sp>
        <p:nvSpPr>
          <p:cNvPr id="3" name="Text 1"/>
          <p:cNvSpPr/>
          <p:nvPr/>
        </p:nvSpPr>
        <p:spPr>
          <a:xfrm>
            <a:off x="502920" y="6419088"/>
            <a:ext cx="10789920" cy="201168"/>
          </a:xfrm>
          <a:prstGeom prst="rect">
            <a:avLst/>
          </a:prstGeom>
          <a:noFill/>
          <a:ln/>
        </p:spPr>
        <p:txBody>
          <a:bodyPr wrap="square" lIns="0" tIns="0" rIns="0" bIns="0" rtlCol="0" anchor="ctr"/>
          <a:lstStyle/>
          <a:p>
            <a:pPr marL="0" indent="0">
              <a:buNone/>
            </a:pPr>
            <a:r>
              <a:rPr lang="en-US" sz="950" dirty="0">
                <a:solidFill>
                  <a:srgbClr val="667A80"/>
                </a:solidFill>
                <a:latin typeface="Arial" pitchFamily="34" charset="0"/>
                <a:ea typeface="Arial" pitchFamily="34" charset="-122"/>
                <a:cs typeface="Arial" pitchFamily="34" charset="-120"/>
              </a:rPr>
              <a:t>Fuente: modelo BSS_07 · permutación agrupada en Train (n=39.998), 20 repeticiones</a:t>
            </a:r>
            <a:endParaRPr lang="en-US" sz="950" dirty="0"/>
          </a:p>
        </p:txBody>
      </p:sp>
      <p:sp>
        <p:nvSpPr>
          <p:cNvPr id="4" name="Text 2"/>
          <p:cNvSpPr/>
          <p:nvPr/>
        </p:nvSpPr>
        <p:spPr>
          <a:xfrm>
            <a:off x="11292840" y="6400800"/>
            <a:ext cx="384048" cy="228600"/>
          </a:xfrm>
          <a:prstGeom prst="rect">
            <a:avLst/>
          </a:prstGeom>
          <a:noFill/>
          <a:ln/>
        </p:spPr>
        <p:txBody>
          <a:bodyPr wrap="square" lIns="0" tIns="0" rIns="0" bIns="0" rtlCol="0" anchor="ctr"/>
          <a:lstStyle/>
          <a:p>
            <a:pPr marL="0" indent="0" algn="r">
              <a:buNone/>
            </a:pPr>
            <a:r>
              <a:rPr lang="en-US" sz="1000" dirty="0">
                <a:solidFill>
                  <a:srgbClr val="667A80"/>
                </a:solidFill>
                <a:latin typeface="Arial" pitchFamily="34" charset="0"/>
                <a:ea typeface="Arial" pitchFamily="34" charset="-122"/>
                <a:cs typeface="Arial" pitchFamily="34" charset="-120"/>
              </a:rPr>
              <a:t>12</a:t>
            </a:r>
            <a:endParaRPr lang="en-US" sz="1000" dirty="0"/>
          </a:p>
        </p:txBody>
      </p:sp>
      <p:graphicFrame>
        <p:nvGraphicFramePr>
          <p:cNvPr id="6" name="Chart 0"/>
          <p:cNvGraphicFramePr/>
          <p:nvPr/>
        </p:nvGraphicFramePr>
        <p:xfrm>
          <a:off x="502920" y="1417320"/>
          <a:ext cx="8321040" cy="438912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3"/>
          <p:cNvSpPr/>
          <p:nvPr/>
        </p:nvSpPr>
        <p:spPr>
          <a:xfrm>
            <a:off x="9189720" y="1645920"/>
            <a:ext cx="2286000" cy="320040"/>
          </a:xfrm>
          <a:prstGeom prst="rect">
            <a:avLst/>
          </a:prstGeom>
          <a:noFill/>
          <a:ln/>
        </p:spPr>
        <p:txBody>
          <a:bodyPr wrap="square" lIns="0" tIns="0" rIns="0" bIns="0" rtlCol="0" anchor="ctr"/>
          <a:lstStyle/>
          <a:p>
            <a:pPr marL="0" indent="0">
              <a:buNone/>
            </a:pPr>
            <a:r>
              <a:rPr lang="en-US" sz="1900" b="1" dirty="0">
                <a:solidFill>
                  <a:srgbClr val="176B70"/>
                </a:solidFill>
                <a:latin typeface="Arial" pitchFamily="34" charset="0"/>
                <a:ea typeface="Arial" pitchFamily="34" charset="-122"/>
                <a:cs typeface="Arial" pitchFamily="34" charset="-120"/>
              </a:rPr>
              <a:t>Lectura</a:t>
            </a:r>
            <a:endParaRPr lang="en-US" sz="1900" dirty="0"/>
          </a:p>
        </p:txBody>
      </p:sp>
      <p:sp>
        <p:nvSpPr>
          <p:cNvPr id="8" name="Text 4"/>
          <p:cNvSpPr/>
          <p:nvPr/>
        </p:nvSpPr>
        <p:spPr>
          <a:xfrm>
            <a:off x="9189720" y="2194560"/>
            <a:ext cx="2331720" cy="3108960"/>
          </a:xfrm>
          <a:prstGeom prst="rect">
            <a:avLst/>
          </a:prstGeom>
          <a:noFill/>
          <a:ln/>
        </p:spPr>
        <p:txBody>
          <a:bodyPr wrap="square" lIns="0" tIns="0" rIns="0" bIns="0" rtlCol="0" anchor="t"/>
          <a:lstStyle/>
          <a:p>
            <a:pPr marL="0" indent="0">
              <a:buNone/>
            </a:pPr>
            <a:r>
              <a:rPr lang="en-US" sz="1800" dirty="0">
                <a:solidFill>
                  <a:srgbClr val="26363B"/>
                </a:solidFill>
                <a:latin typeface="Arial" pitchFamily="34" charset="0"/>
                <a:ea typeface="Arial" pitchFamily="34" charset="-122"/>
                <a:cs typeface="Arial" pitchFamily="34" charset="-120"/>
              </a:rPr>
              <a:t>Permutar district aumenta el RMSE en 7,25 M RUB.</a:t>
            </a:r>
            <a:endParaRPr lang="en-US" sz="1800" dirty="0"/>
          </a:p>
          <a:p>
            <a:pPr marL="0" indent="0">
              <a:buNone/>
            </a:pPr>
            <a:endParaRPr lang="en-US" sz="1800" dirty="0"/>
          </a:p>
          <a:p>
            <a:pPr marL="0" indent="0">
              <a:buNone/>
            </a:pPr>
            <a:r>
              <a:rPr lang="en-US" sz="1800" dirty="0">
                <a:solidFill>
                  <a:srgbClr val="26363B"/>
                </a:solidFill>
                <a:latin typeface="Arial" pitchFamily="34" charset="0"/>
                <a:ea typeface="Arial" pitchFamily="34" charset="-122"/>
                <a:cs typeface="Arial" pitchFamily="34" charset="-120"/>
              </a:rPr>
              <a:t>La superficie aporta 3,76 M RUB.</a:t>
            </a:r>
            <a:endParaRPr lang="en-US" sz="1800" dirty="0"/>
          </a:p>
          <a:p>
            <a:pPr marL="0" indent="0">
              <a:buNone/>
            </a:pPr>
            <a:endParaRPr lang="en-US" sz="1800" dirty="0"/>
          </a:p>
          <a:p>
            <a:pPr marL="0" indent="0">
              <a:buNone/>
            </a:pPr>
            <a:r>
              <a:rPr lang="en-US" sz="1800" dirty="0">
                <a:solidFill>
                  <a:srgbClr val="26363B"/>
                </a:solidFill>
                <a:latin typeface="Arial" pitchFamily="34" charset="0"/>
                <a:ea typeface="Arial" pitchFamily="34" charset="-122"/>
                <a:cs typeface="Arial" pitchFamily="34" charset="-120"/>
              </a:rPr>
              <a:t>Importancia descriptiva sobre Train, sin interpretación causal.</a:t>
            </a:r>
            <a:endParaRPr lang="en-US" sz="1800" dirty="0"/>
          </a:p>
        </p:txBody>
      </p:sp>
      <p:sp>
        <p:nvSpPr>
          <p:cNvPr id="9" name="Text 5"/>
          <p:cNvSpPr/>
          <p:nvPr/>
        </p:nvSpPr>
        <p:spPr>
          <a:xfrm>
            <a:off x="2377440" y="5833872"/>
            <a:ext cx="6035040" cy="274320"/>
          </a:xfrm>
          <a:prstGeom prst="rect">
            <a:avLst/>
          </a:prstGeom>
          <a:noFill/>
          <a:ln/>
        </p:spPr>
        <p:txBody>
          <a:bodyPr wrap="square" lIns="0" tIns="0" rIns="0" bIns="0" rtlCol="0" anchor="ctr"/>
          <a:lstStyle/>
          <a:p>
            <a:pPr marL="0" indent="0" algn="ctr">
              <a:buNone/>
            </a:pPr>
            <a:r>
              <a:rPr lang="en-US" sz="1300" dirty="0">
                <a:solidFill>
                  <a:srgbClr val="667A80"/>
                </a:solidFill>
                <a:latin typeface="Arial" pitchFamily="34" charset="0"/>
                <a:ea typeface="Arial" pitchFamily="34" charset="-122"/>
                <a:cs typeface="Arial" pitchFamily="34" charset="-120"/>
              </a:rPr>
              <a:t>Aumento del RMSE (millones de RUB)</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1064240" cy="685800"/>
          </a:xfrm>
          <a:prstGeom prst="rect">
            <a:avLst/>
          </a:prstGeom>
          <a:noFill/>
          <a:ln/>
        </p:spPr>
        <p:txBody>
          <a:bodyPr wrap="square" lIns="0" tIns="0" rIns="0" bIns="0" rtlCol="0" anchor="ctr"/>
          <a:lstStyle/>
          <a:p>
            <a:pPr marL="0" indent="0">
              <a:buNone/>
            </a:pPr>
            <a:r>
              <a:rPr lang="en-US" sz="3100" b="1" dirty="0">
                <a:solidFill>
                  <a:srgbClr val="26363B"/>
                </a:solidFill>
                <a:latin typeface="Arial" pitchFamily="34" charset="0"/>
                <a:ea typeface="Arial" pitchFamily="34" charset="-122"/>
                <a:cs typeface="Arial" pitchFamily="34" charset="-120"/>
              </a:rPr>
              <a:t>Q-Q: proximidad central y desvíos en las colas</a:t>
            </a:r>
            <a:endParaRPr lang="en-US" sz="3100" dirty="0"/>
          </a:p>
        </p:txBody>
      </p:sp>
      <p:sp>
        <p:nvSpPr>
          <p:cNvPr id="3" name="Text 1"/>
          <p:cNvSpPr/>
          <p:nvPr/>
        </p:nvSpPr>
        <p:spPr>
          <a:xfrm>
            <a:off x="502920" y="6419088"/>
            <a:ext cx="10789920" cy="201168"/>
          </a:xfrm>
          <a:prstGeom prst="rect">
            <a:avLst/>
          </a:prstGeom>
          <a:noFill/>
          <a:ln/>
        </p:spPr>
        <p:txBody>
          <a:bodyPr wrap="square" lIns="0" tIns="0" rIns="0" bIns="0" rtlCol="0" anchor="ctr"/>
          <a:lstStyle/>
          <a:p>
            <a:pPr marL="0" indent="0">
              <a:buNone/>
            </a:pPr>
            <a:r>
              <a:rPr lang="en-US" sz="950" dirty="0">
                <a:solidFill>
                  <a:srgbClr val="667A80"/>
                </a:solidFill>
                <a:latin typeface="Arial" pitchFamily="34" charset="0"/>
                <a:ea typeface="Arial" pitchFamily="34" charset="-122"/>
                <a:cs typeface="Arial" pitchFamily="34" charset="-120"/>
              </a:rPr>
              <a:t>Fuente: OLS definitivo BSS_07 · residuos de Train (n=39.998), escala ln(RUB)</a:t>
            </a:r>
            <a:endParaRPr lang="en-US" sz="950" dirty="0"/>
          </a:p>
        </p:txBody>
      </p:sp>
      <p:sp>
        <p:nvSpPr>
          <p:cNvPr id="4" name="Text 2"/>
          <p:cNvSpPr/>
          <p:nvPr/>
        </p:nvSpPr>
        <p:spPr>
          <a:xfrm>
            <a:off x="11292840" y="6400800"/>
            <a:ext cx="384048" cy="228600"/>
          </a:xfrm>
          <a:prstGeom prst="rect">
            <a:avLst/>
          </a:prstGeom>
          <a:noFill/>
          <a:ln/>
        </p:spPr>
        <p:txBody>
          <a:bodyPr wrap="square" lIns="0" tIns="0" rIns="0" bIns="0" rtlCol="0" anchor="ctr"/>
          <a:lstStyle/>
          <a:p>
            <a:pPr marL="0" indent="0" algn="r">
              <a:buNone/>
            </a:pPr>
            <a:r>
              <a:rPr lang="en-US" sz="1000" dirty="0">
                <a:solidFill>
                  <a:srgbClr val="667A80"/>
                </a:solidFill>
                <a:latin typeface="Arial" pitchFamily="34" charset="0"/>
                <a:ea typeface="Arial" pitchFamily="34" charset="-122"/>
                <a:cs typeface="Arial" pitchFamily="34" charset="-120"/>
              </a:rPr>
              <a:t>13</a:t>
            </a:r>
            <a:endParaRPr lang="en-US" sz="1000" dirty="0"/>
          </a:p>
        </p:txBody>
      </p:sp>
      <p:pic>
        <p:nvPicPr>
          <p:cNvPr id="6" name="Image 0" descr="C:\Users\mglon\OneDrive\Desktop\UNIVERSIDAD\Introduccion al analisis de datos\MOSCOW DATASET\Moscow_EDA\tmp\presentacion\assets\qq.png"/>
          <p:cNvPicPr>
            <a:picLocks noChangeAspect="1"/>
          </p:cNvPicPr>
          <p:nvPr/>
        </p:nvPicPr>
        <p:blipFill>
          <a:blip r:embed="rId3"/>
          <a:stretch>
            <a:fillRect/>
          </a:stretch>
        </p:blipFill>
        <p:spPr>
          <a:xfrm>
            <a:off x="667780" y="1353312"/>
            <a:ext cx="7717001" cy="4846320"/>
          </a:xfrm>
          <a:prstGeom prst="rect">
            <a:avLst/>
          </a:prstGeom>
        </p:spPr>
      </p:pic>
      <p:sp>
        <p:nvSpPr>
          <p:cNvPr id="7" name="Text 3"/>
          <p:cNvSpPr/>
          <p:nvPr/>
        </p:nvSpPr>
        <p:spPr>
          <a:xfrm>
            <a:off x="8823960" y="1645920"/>
            <a:ext cx="2743200" cy="320040"/>
          </a:xfrm>
          <a:prstGeom prst="rect">
            <a:avLst/>
          </a:prstGeom>
          <a:noFill/>
          <a:ln/>
        </p:spPr>
        <p:txBody>
          <a:bodyPr wrap="square" lIns="0" tIns="0" rIns="0" bIns="0" rtlCol="0" anchor="ctr"/>
          <a:lstStyle/>
          <a:p>
            <a:pPr marL="0" indent="0">
              <a:buNone/>
            </a:pPr>
            <a:r>
              <a:rPr lang="en-US" sz="1900" b="1" dirty="0">
                <a:solidFill>
                  <a:srgbClr val="176B70"/>
                </a:solidFill>
                <a:latin typeface="Arial" pitchFamily="34" charset="0"/>
                <a:ea typeface="Arial" pitchFamily="34" charset="-122"/>
                <a:cs typeface="Arial" pitchFamily="34" charset="-120"/>
              </a:rPr>
              <a:t>Forma observada</a:t>
            </a:r>
            <a:endParaRPr lang="en-US" sz="1900" dirty="0"/>
          </a:p>
        </p:txBody>
      </p:sp>
      <p:sp>
        <p:nvSpPr>
          <p:cNvPr id="8" name="Text 4"/>
          <p:cNvSpPr/>
          <p:nvPr/>
        </p:nvSpPr>
        <p:spPr>
          <a:xfrm>
            <a:off x="8823960" y="2194560"/>
            <a:ext cx="2743200" cy="2194560"/>
          </a:xfrm>
          <a:prstGeom prst="rect">
            <a:avLst/>
          </a:prstGeom>
          <a:noFill/>
          <a:ln/>
        </p:spPr>
        <p:txBody>
          <a:bodyPr wrap="square" lIns="0" tIns="0" rIns="0" bIns="0" rtlCol="0" anchor="t"/>
          <a:lstStyle/>
          <a:p>
            <a:pPr marL="0" indent="0">
              <a:buNone/>
            </a:pPr>
            <a:r>
              <a:rPr lang="en-US" sz="1900" dirty="0">
                <a:solidFill>
                  <a:srgbClr val="26363B"/>
                </a:solidFill>
                <a:latin typeface="Arial" pitchFamily="34" charset="0"/>
                <a:ea typeface="Arial" pitchFamily="34" charset="-122"/>
                <a:cs typeface="Arial" pitchFamily="34" charset="-120"/>
              </a:rPr>
              <a:t>El centro sigue de cerca la recta.</a:t>
            </a:r>
            <a:endParaRPr lang="en-US" sz="1900" dirty="0"/>
          </a:p>
          <a:p>
            <a:pPr marL="0" indent="0">
              <a:buNone/>
            </a:pPr>
            <a:endParaRPr lang="en-US" sz="1900" dirty="0"/>
          </a:p>
          <a:p>
            <a:pPr marL="0" indent="0">
              <a:buNone/>
            </a:pPr>
            <a:r>
              <a:rPr lang="en-US" sz="1900" dirty="0">
                <a:solidFill>
                  <a:srgbClr val="26363B"/>
                </a:solidFill>
                <a:latin typeface="Arial" pitchFamily="34" charset="0"/>
                <a:ea typeface="Arial" pitchFamily="34" charset="-122"/>
                <a:cs typeface="Arial" pitchFamily="34" charset="-120"/>
              </a:rPr>
              <a:t>La cola inferior se aparta con mayor claridad. También hay desvíos superiores.</a:t>
            </a:r>
            <a:endParaRPr lang="en-US" sz="1900" dirty="0"/>
          </a:p>
        </p:txBody>
      </p:sp>
      <p:sp>
        <p:nvSpPr>
          <p:cNvPr id="9" name="Text 5"/>
          <p:cNvSpPr/>
          <p:nvPr/>
        </p:nvSpPr>
        <p:spPr>
          <a:xfrm>
            <a:off x="8823960" y="4709160"/>
            <a:ext cx="2743200" cy="457200"/>
          </a:xfrm>
          <a:prstGeom prst="rect">
            <a:avLst/>
          </a:prstGeom>
          <a:noFill/>
          <a:ln/>
        </p:spPr>
        <p:txBody>
          <a:bodyPr wrap="square" lIns="0" tIns="0" rIns="0" bIns="0" rtlCol="0" anchor="ctr"/>
          <a:lstStyle/>
          <a:p>
            <a:pPr marL="0" indent="0">
              <a:buNone/>
            </a:pPr>
            <a:r>
              <a:rPr lang="en-US" sz="1800" b="1" dirty="0">
                <a:solidFill>
                  <a:srgbClr val="AF3C36"/>
                </a:solidFill>
                <a:latin typeface="Arial" pitchFamily="34" charset="0"/>
                <a:ea typeface="Arial" pitchFamily="34" charset="-122"/>
                <a:cs typeface="Arial" pitchFamily="34" charset="-120"/>
              </a:rPr>
              <a:t>JB: p ≈ 1,61 × 10⁻⁷⁶</a:t>
            </a:r>
            <a:endParaRPr lang="en-US" sz="1800" dirty="0"/>
          </a:p>
        </p:txBody>
      </p:sp>
      <p:sp>
        <p:nvSpPr>
          <p:cNvPr id="10" name="Text 6"/>
          <p:cNvSpPr/>
          <p:nvPr/>
        </p:nvSpPr>
        <p:spPr>
          <a:xfrm>
            <a:off x="8823960" y="5349240"/>
            <a:ext cx="2743200" cy="777240"/>
          </a:xfrm>
          <a:prstGeom prst="rect">
            <a:avLst/>
          </a:prstGeom>
          <a:noFill/>
          <a:ln/>
        </p:spPr>
        <p:txBody>
          <a:bodyPr wrap="square" lIns="0" tIns="0" rIns="0" bIns="0" rtlCol="0" anchor="t"/>
          <a:lstStyle/>
          <a:p>
            <a:pPr marL="0" indent="0">
              <a:buNone/>
            </a:pPr>
            <a:r>
              <a:rPr lang="en-US" sz="1600" dirty="0">
                <a:solidFill>
                  <a:srgbClr val="26363B"/>
                </a:solidFill>
                <a:latin typeface="Arial" pitchFamily="34" charset="0"/>
                <a:ea typeface="Arial" pitchFamily="34" charset="-122"/>
                <a:cs typeface="Arial" pitchFamily="34" charset="-120"/>
              </a:rPr>
              <a:t>La desviación de normalidad no anula por sí sola la capacidad predictiva.</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1064240" cy="685800"/>
          </a:xfrm>
          <a:prstGeom prst="rect">
            <a:avLst/>
          </a:prstGeom>
          <a:noFill/>
          <a:ln/>
        </p:spPr>
        <p:txBody>
          <a:bodyPr wrap="square" lIns="0" tIns="0" rIns="0" bIns="0" rtlCol="0" anchor="ctr"/>
          <a:lstStyle/>
          <a:p>
            <a:pPr marL="0" indent="0">
              <a:buNone/>
            </a:pPr>
            <a:r>
              <a:rPr lang="en-US" sz="3100" b="1" dirty="0">
                <a:solidFill>
                  <a:srgbClr val="26363B"/>
                </a:solidFill>
                <a:latin typeface="Arial" pitchFamily="34" charset="0"/>
                <a:ea typeface="Arial" pitchFamily="34" charset="-122"/>
                <a:cs typeface="Arial" pitchFamily="34" charset="-120"/>
              </a:rPr>
              <a:t>Scale-Location: la dispersión aumenta en valores altos</a:t>
            </a:r>
            <a:endParaRPr lang="en-US" sz="3100" dirty="0"/>
          </a:p>
        </p:txBody>
      </p:sp>
      <p:sp>
        <p:nvSpPr>
          <p:cNvPr id="3" name="Text 1"/>
          <p:cNvSpPr/>
          <p:nvPr/>
        </p:nvSpPr>
        <p:spPr>
          <a:xfrm>
            <a:off x="502920" y="6419088"/>
            <a:ext cx="10789920" cy="201168"/>
          </a:xfrm>
          <a:prstGeom prst="rect">
            <a:avLst/>
          </a:prstGeom>
          <a:noFill/>
          <a:ln/>
        </p:spPr>
        <p:txBody>
          <a:bodyPr wrap="square" lIns="0" tIns="0" rIns="0" bIns="0" rtlCol="0" anchor="ctr"/>
          <a:lstStyle/>
          <a:p>
            <a:pPr marL="0" indent="0">
              <a:buNone/>
            </a:pPr>
            <a:r>
              <a:rPr lang="en-US" sz="950" dirty="0">
                <a:solidFill>
                  <a:srgbClr val="667A80"/>
                </a:solidFill>
                <a:latin typeface="Arial" pitchFamily="34" charset="0"/>
                <a:ea typeface="Arial" pitchFamily="34" charset="-122"/>
                <a:cs typeface="Arial" pitchFamily="34" charset="-120"/>
              </a:rPr>
              <a:t>Fuente: mismo OLS BSS_07 y mismo Train (n=39.998), escala ln(RUB)</a:t>
            </a:r>
            <a:endParaRPr lang="en-US" sz="950" dirty="0"/>
          </a:p>
        </p:txBody>
      </p:sp>
      <p:sp>
        <p:nvSpPr>
          <p:cNvPr id="4" name="Text 2"/>
          <p:cNvSpPr/>
          <p:nvPr/>
        </p:nvSpPr>
        <p:spPr>
          <a:xfrm>
            <a:off x="11292840" y="6400800"/>
            <a:ext cx="384048" cy="228600"/>
          </a:xfrm>
          <a:prstGeom prst="rect">
            <a:avLst/>
          </a:prstGeom>
          <a:noFill/>
          <a:ln/>
        </p:spPr>
        <p:txBody>
          <a:bodyPr wrap="square" lIns="0" tIns="0" rIns="0" bIns="0" rtlCol="0" anchor="ctr"/>
          <a:lstStyle/>
          <a:p>
            <a:pPr marL="0" indent="0" algn="r">
              <a:buNone/>
            </a:pPr>
            <a:r>
              <a:rPr lang="en-US" sz="1000" dirty="0">
                <a:solidFill>
                  <a:srgbClr val="667A80"/>
                </a:solidFill>
                <a:latin typeface="Arial" pitchFamily="34" charset="0"/>
                <a:ea typeface="Arial" pitchFamily="34" charset="-122"/>
                <a:cs typeface="Arial" pitchFamily="34" charset="-120"/>
              </a:rPr>
              <a:t>14</a:t>
            </a:r>
            <a:endParaRPr lang="en-US" sz="1000" dirty="0"/>
          </a:p>
        </p:txBody>
      </p:sp>
      <p:pic>
        <p:nvPicPr>
          <p:cNvPr id="6" name="Image 0" descr="C:\Users\mglon\OneDrive\Desktop\UNIVERSIDAD\Introduccion al analisis de datos\MOSCOW DATASET\Moscow_EDA\tmp\presentacion\assets\scale.png"/>
          <p:cNvPicPr>
            <a:picLocks noChangeAspect="1"/>
          </p:cNvPicPr>
          <p:nvPr/>
        </p:nvPicPr>
        <p:blipFill>
          <a:blip r:embed="rId3"/>
          <a:stretch>
            <a:fillRect/>
          </a:stretch>
        </p:blipFill>
        <p:spPr>
          <a:xfrm>
            <a:off x="712603" y="1353312"/>
            <a:ext cx="7627354" cy="4846320"/>
          </a:xfrm>
          <a:prstGeom prst="rect">
            <a:avLst/>
          </a:prstGeom>
        </p:spPr>
      </p:pic>
      <p:sp>
        <p:nvSpPr>
          <p:cNvPr id="7" name="Text 3"/>
          <p:cNvSpPr/>
          <p:nvPr/>
        </p:nvSpPr>
        <p:spPr>
          <a:xfrm>
            <a:off x="8823960" y="1645920"/>
            <a:ext cx="2743200" cy="320040"/>
          </a:xfrm>
          <a:prstGeom prst="rect">
            <a:avLst/>
          </a:prstGeom>
          <a:noFill/>
          <a:ln/>
        </p:spPr>
        <p:txBody>
          <a:bodyPr wrap="square" lIns="0" tIns="0" rIns="0" bIns="0" rtlCol="0" anchor="ctr"/>
          <a:lstStyle/>
          <a:p>
            <a:pPr marL="0" indent="0">
              <a:buNone/>
            </a:pPr>
            <a:r>
              <a:rPr lang="en-US" sz="1900" b="1" dirty="0">
                <a:solidFill>
                  <a:srgbClr val="176B70"/>
                </a:solidFill>
                <a:latin typeface="Arial" pitchFamily="34" charset="0"/>
                <a:ea typeface="Arial" pitchFamily="34" charset="-122"/>
                <a:cs typeface="Arial" pitchFamily="34" charset="-120"/>
              </a:rPr>
              <a:t>Forma observada</a:t>
            </a:r>
            <a:endParaRPr lang="en-US" sz="1900" dirty="0"/>
          </a:p>
        </p:txBody>
      </p:sp>
      <p:sp>
        <p:nvSpPr>
          <p:cNvPr id="8" name="Text 4"/>
          <p:cNvSpPr/>
          <p:nvPr/>
        </p:nvSpPr>
        <p:spPr>
          <a:xfrm>
            <a:off x="8823960" y="2194560"/>
            <a:ext cx="2743200" cy="2377440"/>
          </a:xfrm>
          <a:prstGeom prst="rect">
            <a:avLst/>
          </a:prstGeom>
          <a:noFill/>
          <a:ln/>
        </p:spPr>
        <p:txBody>
          <a:bodyPr wrap="square" lIns="0" tIns="0" rIns="0" bIns="0" rtlCol="0" anchor="t"/>
          <a:lstStyle/>
          <a:p>
            <a:pPr marL="0" indent="0">
              <a:buNone/>
            </a:pPr>
            <a:r>
              <a:rPr lang="en-US" sz="1900" dirty="0">
                <a:solidFill>
                  <a:srgbClr val="26363B"/>
                </a:solidFill>
                <a:latin typeface="Arial" pitchFamily="34" charset="0"/>
                <a:ea typeface="Arial" pitchFamily="34" charset="-122"/>
                <a:cs typeface="Arial" pitchFamily="34" charset="-120"/>
              </a:rPr>
              <a:t>La curva baja levemente al inicio y luego asciende.</a:t>
            </a:r>
            <a:endParaRPr lang="en-US" sz="1900" dirty="0"/>
          </a:p>
          <a:p>
            <a:pPr marL="0" indent="0">
              <a:buNone/>
            </a:pPr>
            <a:endParaRPr lang="en-US" sz="1900" dirty="0"/>
          </a:p>
          <a:p>
            <a:pPr marL="0" indent="0">
              <a:buNone/>
            </a:pPr>
            <a:r>
              <a:rPr lang="en-US" sz="1900" dirty="0">
                <a:solidFill>
                  <a:srgbClr val="26363B"/>
                </a:solidFill>
                <a:latin typeface="Arial" pitchFamily="34" charset="0"/>
                <a:ea typeface="Arial" pitchFamily="34" charset="-122"/>
                <a:cs typeface="Arial" pitchFamily="34" charset="-120"/>
              </a:rPr>
              <a:t>La dispersión residual no permanece constante a lo largo del ajuste.</a:t>
            </a:r>
            <a:endParaRPr lang="en-US" sz="1900" dirty="0"/>
          </a:p>
        </p:txBody>
      </p:sp>
      <p:sp>
        <p:nvSpPr>
          <p:cNvPr id="9" name="Text 5"/>
          <p:cNvSpPr/>
          <p:nvPr/>
        </p:nvSpPr>
        <p:spPr>
          <a:xfrm>
            <a:off x="8823960" y="4754880"/>
            <a:ext cx="2743200" cy="457200"/>
          </a:xfrm>
          <a:prstGeom prst="rect">
            <a:avLst/>
          </a:prstGeom>
          <a:noFill/>
          <a:ln/>
        </p:spPr>
        <p:txBody>
          <a:bodyPr wrap="square" lIns="0" tIns="0" rIns="0" bIns="0" rtlCol="0" anchor="ctr"/>
          <a:lstStyle/>
          <a:p>
            <a:pPr marL="0" indent="0">
              <a:buNone/>
            </a:pPr>
            <a:r>
              <a:rPr lang="en-US" sz="1800" b="1" dirty="0">
                <a:solidFill>
                  <a:srgbClr val="AF3C36"/>
                </a:solidFill>
                <a:latin typeface="Arial" pitchFamily="34" charset="0"/>
                <a:ea typeface="Arial" pitchFamily="34" charset="-122"/>
                <a:cs typeface="Arial" pitchFamily="34" charset="-120"/>
              </a:rPr>
              <a:t>BP: p ≈ 2,00 × 10⁻²²⁹</a:t>
            </a:r>
            <a:endParaRPr lang="en-US" sz="1800" dirty="0"/>
          </a:p>
        </p:txBody>
      </p:sp>
      <p:sp>
        <p:nvSpPr>
          <p:cNvPr id="10" name="Text 6"/>
          <p:cNvSpPr/>
          <p:nvPr/>
        </p:nvSpPr>
        <p:spPr>
          <a:xfrm>
            <a:off x="8823960" y="5349240"/>
            <a:ext cx="2743200" cy="777240"/>
          </a:xfrm>
          <a:prstGeom prst="rect">
            <a:avLst/>
          </a:prstGeom>
          <a:noFill/>
          <a:ln/>
        </p:spPr>
        <p:txBody>
          <a:bodyPr wrap="square" lIns="0" tIns="0" rIns="0" bIns="0" rtlCol="0" anchor="t"/>
          <a:lstStyle/>
          <a:p>
            <a:pPr marL="0" indent="0">
              <a:buNone/>
            </a:pPr>
            <a:r>
              <a:rPr lang="en-US" sz="1600" dirty="0">
                <a:solidFill>
                  <a:srgbClr val="26363B"/>
                </a:solidFill>
                <a:latin typeface="Arial" pitchFamily="34" charset="0"/>
                <a:ea typeface="Arial" pitchFamily="34" charset="-122"/>
                <a:cs typeface="Arial" pitchFamily="34" charset="-120"/>
              </a:rPr>
              <a:t>Heterocedasticidad: cautela al usar la inferencia clásica de OLS.</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1064240" cy="685800"/>
          </a:xfrm>
          <a:prstGeom prst="rect">
            <a:avLst/>
          </a:prstGeom>
          <a:noFill/>
          <a:ln/>
        </p:spPr>
        <p:txBody>
          <a:bodyPr wrap="square" lIns="0" tIns="0" rIns="0" bIns="0" rtlCol="0" anchor="ctr"/>
          <a:lstStyle/>
          <a:p>
            <a:r>
              <a:rPr sz="3000" b="1">
                <a:solidFill>
                  <a:srgbClr val="26363B"/>
                </a:solidFill>
                <a:latin typeface="Arial"/>
              </a:rPr>
              <a:t>Conclusión: precisión frente a parsimonia</a:t>
            </a:r>
          </a:p>
        </p:txBody>
      </p:sp>
      <p:sp>
        <p:nvSpPr>
          <p:cNvPr id="3" name="Text 1"/>
          <p:cNvSpPr/>
          <p:nvPr/>
        </p:nvSpPr>
        <p:spPr>
          <a:xfrm>
            <a:off x="502920" y="6419088"/>
            <a:ext cx="10789920" cy="201168"/>
          </a:xfrm>
          <a:prstGeom prst="rect">
            <a:avLst/>
          </a:prstGeom>
          <a:noFill/>
          <a:ln/>
        </p:spPr>
        <p:txBody>
          <a:bodyPr wrap="square" lIns="0" tIns="0" rIns="0" bIns="0" rtlCol="0" anchor="ctr"/>
          <a:lstStyle/>
          <a:p>
            <a:pPr marL="0" indent="0">
              <a:buNone/>
            </a:pPr>
            <a:r>
              <a:rPr lang="en-US" sz="950" dirty="0">
                <a:solidFill>
                  <a:srgbClr val="667A80"/>
                </a:solidFill>
                <a:latin typeface="Arial" pitchFamily="34" charset="0"/>
                <a:ea typeface="Arial" pitchFamily="34" charset="-122"/>
                <a:cs typeface="Arial" pitchFamily="34" charset="-120"/>
              </a:rPr>
              <a:t>Fuente: notebooks 1–4; Run BSS_07 temporal · Test sin evaluar</a:t>
            </a:r>
            <a:endParaRPr lang="en-US" sz="950" dirty="0"/>
          </a:p>
        </p:txBody>
      </p:sp>
      <p:sp>
        <p:nvSpPr>
          <p:cNvPr id="4" name="Text 2"/>
          <p:cNvSpPr/>
          <p:nvPr/>
        </p:nvSpPr>
        <p:spPr>
          <a:xfrm>
            <a:off x="11292840" y="6400800"/>
            <a:ext cx="384048" cy="228600"/>
          </a:xfrm>
          <a:prstGeom prst="rect">
            <a:avLst/>
          </a:prstGeom>
          <a:noFill/>
          <a:ln/>
        </p:spPr>
        <p:txBody>
          <a:bodyPr wrap="square" lIns="0" tIns="0" rIns="0" bIns="0" rtlCol="0" anchor="ctr"/>
          <a:lstStyle/>
          <a:p>
            <a:r>
              <a:t>16</a:t>
            </a:r>
          </a:p>
        </p:txBody>
      </p:sp>
      <p:sp>
        <p:nvSpPr>
          <p:cNvPr id="5" name="Tesis cierre"/>
          <p:cNvSpPr txBox="1"/>
          <p:nvPr/>
        </p:nvSpPr>
        <p:spPr>
          <a:xfrm>
            <a:off x="621792" y="1188720"/>
            <a:ext cx="10972800" cy="329184"/>
          </a:xfrm>
          <a:prstGeom prst="rect">
            <a:avLst/>
          </a:prstGeom>
          <a:noFill/>
        </p:spPr>
        <p:txBody>
          <a:bodyPr wrap="square" lIns="0" tIns="0" rIns="0" bIns="0">
            <a:noAutofit/>
          </a:bodyPr>
          <a:lstStyle/>
          <a:p>
            <a:pPr algn="l">
              <a:lnSpc>
                <a:spcPct val="100000"/>
              </a:lnSpc>
              <a:spcBef>
                <a:spcPts val="0"/>
              </a:spcBef>
              <a:spcAft>
                <a:spcPts val="0"/>
              </a:spcAft>
            </a:pPr>
            <a:r>
              <a:rPr sz="1800" b="0">
                <a:solidFill>
                  <a:srgbClr val="26363B"/>
                </a:solidFill>
                <a:latin typeface="Arial"/>
              </a:rPr>
              <a:t>La validación temporal no demostró que reducir variables mejore la precisión.</a:t>
            </a:r>
          </a:p>
        </p:txBody>
      </p:sp>
      <p:sp>
        <p:nvSpPr>
          <p:cNvPr id="6" name="Rounded Rectangle 5"/>
          <p:cNvSpPr/>
          <p:nvPr/>
        </p:nvSpPr>
        <p:spPr>
          <a:xfrm>
            <a:off x="621792" y="1728216"/>
            <a:ext cx="5394960" cy="1554480"/>
          </a:xfrm>
          <a:prstGeom prst="roundRect">
            <a:avLst>
              <a:gd name="adj" fmla="val 7000"/>
            </a:avLst>
          </a:prstGeom>
          <a:solidFill>
            <a:srgbClr val="F1F7F7"/>
          </a:solidFill>
          <a:ln w="11430">
            <a:solidFill>
              <a:srgbClr val="DBE7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190488" y="1728216"/>
            <a:ext cx="5394960" cy="1554480"/>
          </a:xfrm>
          <a:prstGeom prst="roundRect">
            <a:avLst>
              <a:gd name="adj" fmla="val 7000"/>
            </a:avLst>
          </a:prstGeom>
          <a:solidFill>
            <a:srgbClr val="FBF6F5"/>
          </a:solidFill>
          <a:ln w="11430">
            <a:solidFill>
              <a:srgbClr val="DBE7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riterio RMSE"/>
          <p:cNvSpPr txBox="1"/>
          <p:nvPr/>
        </p:nvSpPr>
        <p:spPr>
          <a:xfrm>
            <a:off x="859536" y="1892807"/>
            <a:ext cx="4892040" cy="256032"/>
          </a:xfrm>
          <a:prstGeom prst="rect">
            <a:avLst/>
          </a:prstGeom>
          <a:noFill/>
        </p:spPr>
        <p:txBody>
          <a:bodyPr wrap="square" lIns="0" tIns="0" rIns="0" bIns="0">
            <a:noAutofit/>
          </a:bodyPr>
          <a:lstStyle/>
          <a:p>
            <a:pPr algn="l">
              <a:lnSpc>
                <a:spcPct val="100000"/>
              </a:lnSpc>
              <a:spcBef>
                <a:spcPts val="0"/>
              </a:spcBef>
              <a:spcAft>
                <a:spcPts val="0"/>
              </a:spcAft>
            </a:pPr>
            <a:r>
              <a:rPr sz="1400" b="1">
                <a:solidFill>
                  <a:srgbClr val="176B70"/>
                </a:solidFill>
                <a:latin typeface="Arial"/>
              </a:rPr>
              <a:t>MENOR RMSE TEMPORAL</a:t>
            </a:r>
          </a:p>
        </p:txBody>
      </p:sp>
      <p:sp>
        <p:nvSpPr>
          <p:cNvPr id="9" name="Doce características"/>
          <p:cNvSpPr txBox="1"/>
          <p:nvPr/>
        </p:nvSpPr>
        <p:spPr>
          <a:xfrm>
            <a:off x="859536" y="2194560"/>
            <a:ext cx="4846320" cy="466344"/>
          </a:xfrm>
          <a:prstGeom prst="rect">
            <a:avLst/>
          </a:prstGeom>
          <a:noFill/>
        </p:spPr>
        <p:txBody>
          <a:bodyPr wrap="square" lIns="0" tIns="0" rIns="0" bIns="0">
            <a:noAutofit/>
          </a:bodyPr>
          <a:lstStyle/>
          <a:p>
            <a:pPr algn="l">
              <a:lnSpc>
                <a:spcPct val="100000"/>
              </a:lnSpc>
              <a:spcBef>
                <a:spcPts val="0"/>
              </a:spcBef>
              <a:spcAft>
                <a:spcPts val="0"/>
              </a:spcAft>
            </a:pPr>
            <a:r>
              <a:rPr sz="2700" b="1">
                <a:solidFill>
                  <a:srgbClr val="176B70"/>
                </a:solidFill>
                <a:latin typeface="Arial"/>
              </a:rPr>
              <a:t>12 características</a:t>
            </a:r>
          </a:p>
        </p:txBody>
      </p:sp>
      <p:sp>
        <p:nvSpPr>
          <p:cNvPr id="10" name="RMSE 12"/>
          <p:cNvSpPr txBox="1"/>
          <p:nvPr/>
        </p:nvSpPr>
        <p:spPr>
          <a:xfrm>
            <a:off x="859536" y="2734056"/>
            <a:ext cx="4846320" cy="320040"/>
          </a:xfrm>
          <a:prstGeom prst="rect">
            <a:avLst/>
          </a:prstGeom>
          <a:noFill/>
        </p:spPr>
        <p:txBody>
          <a:bodyPr wrap="square" lIns="0" tIns="0" rIns="0" bIns="0">
            <a:noAutofit/>
          </a:bodyPr>
          <a:lstStyle/>
          <a:p>
            <a:pPr algn="l">
              <a:lnSpc>
                <a:spcPct val="100000"/>
              </a:lnSpc>
              <a:spcBef>
                <a:spcPts val="0"/>
              </a:spcBef>
              <a:spcAft>
                <a:spcPts val="0"/>
              </a:spcAft>
            </a:pPr>
            <a:r>
              <a:rPr sz="1800" b="0">
                <a:solidFill>
                  <a:srgbClr val="26363B"/>
                </a:solidFill>
                <a:latin typeface="Arial"/>
              </a:rPr>
              <a:t>RMSE medio: 2.324.850 RUB</a:t>
            </a:r>
          </a:p>
        </p:txBody>
      </p:sp>
      <p:sp>
        <p:nvSpPr>
          <p:cNvPr id="11" name="Criterio 1SE"/>
          <p:cNvSpPr txBox="1"/>
          <p:nvPr/>
        </p:nvSpPr>
        <p:spPr>
          <a:xfrm>
            <a:off x="6419088" y="1892807"/>
            <a:ext cx="4846320" cy="256032"/>
          </a:xfrm>
          <a:prstGeom prst="rect">
            <a:avLst/>
          </a:prstGeom>
          <a:noFill/>
        </p:spPr>
        <p:txBody>
          <a:bodyPr wrap="square" lIns="0" tIns="0" rIns="0" bIns="0">
            <a:noAutofit/>
          </a:bodyPr>
          <a:lstStyle/>
          <a:p>
            <a:pPr algn="l">
              <a:lnSpc>
                <a:spcPct val="100000"/>
              </a:lnSpc>
              <a:spcBef>
                <a:spcPts val="0"/>
              </a:spcBef>
              <a:spcAft>
                <a:spcPts val="0"/>
              </a:spcAft>
            </a:pPr>
            <a:r>
              <a:rPr sz="1400" b="1">
                <a:solidFill>
                  <a:srgbClr val="AF3C36"/>
                </a:solidFill>
                <a:latin typeface="Arial"/>
              </a:rPr>
              <a:t>ELEGIDO POR REGLA 1-SE</a:t>
            </a:r>
          </a:p>
        </p:txBody>
      </p:sp>
      <p:sp>
        <p:nvSpPr>
          <p:cNvPr id="12" name="Seis características"/>
          <p:cNvSpPr txBox="1"/>
          <p:nvPr/>
        </p:nvSpPr>
        <p:spPr>
          <a:xfrm>
            <a:off x="6419088" y="2194560"/>
            <a:ext cx="4846320" cy="466344"/>
          </a:xfrm>
          <a:prstGeom prst="rect">
            <a:avLst/>
          </a:prstGeom>
          <a:noFill/>
        </p:spPr>
        <p:txBody>
          <a:bodyPr wrap="square" lIns="0" tIns="0" rIns="0" bIns="0">
            <a:noAutofit/>
          </a:bodyPr>
          <a:lstStyle/>
          <a:p>
            <a:pPr algn="l">
              <a:lnSpc>
                <a:spcPct val="100000"/>
              </a:lnSpc>
              <a:spcBef>
                <a:spcPts val="0"/>
              </a:spcBef>
              <a:spcAft>
                <a:spcPts val="0"/>
              </a:spcAft>
            </a:pPr>
            <a:r>
              <a:rPr sz="2700" b="1">
                <a:solidFill>
                  <a:srgbClr val="AF3C36"/>
                </a:solidFill>
                <a:latin typeface="Arial"/>
              </a:rPr>
              <a:t>6 características</a:t>
            </a:r>
          </a:p>
        </p:txBody>
      </p:sp>
      <p:sp>
        <p:nvSpPr>
          <p:cNvPr id="13" name="RMSE 6"/>
          <p:cNvSpPr txBox="1"/>
          <p:nvPr/>
        </p:nvSpPr>
        <p:spPr>
          <a:xfrm>
            <a:off x="6419088" y="2734056"/>
            <a:ext cx="4846320" cy="320040"/>
          </a:xfrm>
          <a:prstGeom prst="rect">
            <a:avLst/>
          </a:prstGeom>
          <a:noFill/>
        </p:spPr>
        <p:txBody>
          <a:bodyPr wrap="square" lIns="0" tIns="0" rIns="0" bIns="0">
            <a:noAutofit/>
          </a:bodyPr>
          <a:lstStyle/>
          <a:p>
            <a:pPr algn="l">
              <a:lnSpc>
                <a:spcPct val="100000"/>
              </a:lnSpc>
              <a:spcBef>
                <a:spcPts val="0"/>
              </a:spcBef>
              <a:spcAft>
                <a:spcPts val="0"/>
              </a:spcAft>
            </a:pPr>
            <a:r>
              <a:rPr sz="1800" b="0">
                <a:solidFill>
                  <a:srgbClr val="26363B"/>
                </a:solidFill>
                <a:latin typeface="Arial"/>
              </a:rPr>
              <a:t>RMSE medio: 2.480.192 RUB</a:t>
            </a:r>
          </a:p>
        </p:txBody>
      </p:sp>
      <p:sp>
        <p:nvSpPr>
          <p:cNvPr id="14" name="Diferencia de error"/>
          <p:cNvSpPr txBox="1"/>
          <p:nvPr/>
        </p:nvSpPr>
        <p:spPr>
          <a:xfrm>
            <a:off x="676656" y="3502152"/>
            <a:ext cx="10881360" cy="384048"/>
          </a:xfrm>
          <a:prstGeom prst="rect">
            <a:avLst/>
          </a:prstGeom>
          <a:noFill/>
        </p:spPr>
        <p:txBody>
          <a:bodyPr wrap="square" lIns="0" tIns="0" rIns="0" bIns="0">
            <a:noAutofit/>
          </a:bodyPr>
          <a:lstStyle/>
          <a:p>
            <a:pPr algn="l">
              <a:lnSpc>
                <a:spcPct val="100000"/>
              </a:lnSpc>
              <a:spcBef>
                <a:spcPts val="0"/>
              </a:spcBef>
              <a:spcAft>
                <a:spcPts val="0"/>
              </a:spcAft>
            </a:pPr>
            <a:r>
              <a:rPr sz="2100" b="1">
                <a:solidFill>
                  <a:srgbClr val="AF3C36"/>
                </a:solidFill>
                <a:latin typeface="Arial"/>
              </a:rPr>
              <a:t>El modelo de 6 tiene un RMSE temporal 6,68 % mayor que el de 12.</a:t>
            </a:r>
          </a:p>
        </p:txBody>
      </p:sp>
      <p:sp>
        <p:nvSpPr>
          <p:cNvPr id="15" name="Definición corta 1SE"/>
          <p:cNvSpPr txBox="1"/>
          <p:nvPr/>
        </p:nvSpPr>
        <p:spPr>
          <a:xfrm>
            <a:off x="676656" y="3995928"/>
            <a:ext cx="10881360" cy="576072"/>
          </a:xfrm>
          <a:prstGeom prst="rect">
            <a:avLst/>
          </a:prstGeom>
          <a:noFill/>
        </p:spPr>
        <p:txBody>
          <a:bodyPr wrap="square" lIns="0" tIns="0" rIns="0" bIns="0">
            <a:noAutofit/>
          </a:bodyPr>
          <a:lstStyle/>
          <a:p>
            <a:pPr algn="l">
              <a:lnSpc>
                <a:spcPct val="100000"/>
              </a:lnSpc>
              <a:spcBef>
                <a:spcPts val="0"/>
              </a:spcBef>
              <a:spcAft>
                <a:spcPts val="0"/>
              </a:spcAft>
            </a:pPr>
            <a:r>
              <a:rPr sz="1700" b="0">
                <a:solidFill>
                  <a:srgbClr val="176B70"/>
                </a:solidFill>
                <a:latin typeface="Arial"/>
              </a:rPr>
              <a:t>Regla 1-SE: elegir el modelo más simple cuyo RMSE quede dentro de un error estándar del mínimo.</a:t>
            </a:r>
          </a:p>
        </p:txBody>
      </p:sp>
      <p:sp>
        <p:nvSpPr>
          <p:cNvPr id="16" name="Interpretación y overfitting"/>
          <p:cNvSpPr txBox="1"/>
          <p:nvPr/>
        </p:nvSpPr>
        <p:spPr>
          <a:xfrm>
            <a:off x="676656" y="4617720"/>
            <a:ext cx="10927080" cy="694944"/>
          </a:xfrm>
          <a:prstGeom prst="rect">
            <a:avLst/>
          </a:prstGeom>
          <a:noFill/>
        </p:spPr>
        <p:txBody>
          <a:bodyPr wrap="square" lIns="0" tIns="0" rIns="0" bIns="0">
            <a:noAutofit/>
          </a:bodyPr>
          <a:lstStyle/>
          <a:p>
            <a:pPr algn="l">
              <a:lnSpc>
                <a:spcPct val="108000"/>
              </a:lnSpc>
              <a:spcBef>
                <a:spcPts val="0"/>
              </a:spcBef>
              <a:spcAft>
                <a:spcPts val="0"/>
              </a:spcAft>
            </a:pPr>
            <a:r>
              <a:rPr sz="1800" b="0">
                <a:solidFill>
                  <a:srgbClr val="26363B"/>
                </a:solidFill>
                <a:latin typeface="Arial"/>
              </a:rPr>
              <a:t>Se eligieron 6 características por simplicidad, no porque predigan mejor.</a:t>
            </a:r>
          </a:p>
          <a:p>
            <a:pPr algn="l">
              <a:lnSpc>
                <a:spcPct val="108000"/>
              </a:lnSpc>
              <a:spcBef>
                <a:spcPts val="0"/>
              </a:spcBef>
              <a:spcAft>
                <a:spcPts val="0"/>
              </a:spcAft>
            </a:pPr>
            <a:r>
              <a:rPr sz="1800" b="0">
                <a:solidFill>
                  <a:srgbClr val="26363B"/>
                </a:solidFill>
                <a:latin typeface="Arial"/>
              </a:rPr>
              <a:t>Tampoco se demostró que el modelo de 12 presente overfitting.</a:t>
            </a:r>
          </a:p>
        </p:txBody>
      </p:sp>
      <p:sp>
        <p:nvSpPr>
          <p:cNvPr id="17" name="Limitaciones"/>
          <p:cNvSpPr txBox="1"/>
          <p:nvPr/>
        </p:nvSpPr>
        <p:spPr>
          <a:xfrm>
            <a:off x="676656" y="5513832"/>
            <a:ext cx="10908792" cy="274320"/>
          </a:xfrm>
          <a:prstGeom prst="rect">
            <a:avLst/>
          </a:prstGeom>
          <a:noFill/>
        </p:spPr>
        <p:txBody>
          <a:bodyPr wrap="square" lIns="0" tIns="0" rIns="0" bIns="0">
            <a:noAutofit/>
          </a:bodyPr>
          <a:lstStyle/>
          <a:p>
            <a:pPr algn="l">
              <a:lnSpc>
                <a:spcPct val="100000"/>
              </a:lnSpc>
              <a:spcBef>
                <a:spcPts val="0"/>
              </a:spcBef>
              <a:spcAft>
                <a:spcPts val="0"/>
              </a:spcAft>
            </a:pPr>
            <a:r>
              <a:rPr sz="1500" b="0">
                <a:solidFill>
                  <a:srgbClr val="667A80"/>
                </a:solidFill>
                <a:latin typeface="Arial"/>
              </a:rPr>
              <a:t>Límites: 3 folds · grupos preseleccionados · anuncios sintéticos · Test sin evaluar.</a:t>
            </a:r>
          </a:p>
        </p:txBody>
      </p:sp>
      <p:sp>
        <p:nvSpPr>
          <p:cNvPr id="18" name="Mensaje final"/>
          <p:cNvSpPr txBox="1"/>
          <p:nvPr/>
        </p:nvSpPr>
        <p:spPr>
          <a:xfrm>
            <a:off x="676656" y="5952744"/>
            <a:ext cx="10881360" cy="310896"/>
          </a:xfrm>
          <a:prstGeom prst="rect">
            <a:avLst/>
          </a:prstGeom>
          <a:noFill/>
        </p:spPr>
        <p:txBody>
          <a:bodyPr wrap="square" lIns="0" tIns="0" rIns="0" bIns="0">
            <a:noAutofit/>
          </a:bodyPr>
          <a:lstStyle/>
          <a:p>
            <a:pPr algn="l">
              <a:lnSpc>
                <a:spcPct val="100000"/>
              </a:lnSpc>
              <a:spcBef>
                <a:spcPts val="0"/>
              </a:spcBef>
              <a:spcAft>
                <a:spcPts val="0"/>
              </a:spcAft>
            </a:pPr>
            <a:r>
              <a:rPr sz="1800" b="1">
                <a:solidFill>
                  <a:srgbClr val="176B70"/>
                </a:solidFill>
                <a:latin typeface="Arial"/>
              </a:rPr>
              <a:t>Si priorizamos precisión, 12; si priorizamos parsimonia, 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64</TotalTime>
  <Words>4155</Words>
  <Application>Microsoft Office PowerPoint</Application>
  <PresentationFormat>Panorámica</PresentationFormat>
  <Paragraphs>464</Paragraphs>
  <Slides>16</Slides>
  <Notes>16</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16</vt:i4>
      </vt:variant>
    </vt:vector>
  </HeadingPairs>
  <TitlesOfParts>
    <vt:vector size="19" baseType="lpstr">
      <vt:lpstr>Arial</vt:lpstr>
      <vt:lpstr>Segoe UI Symbol</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Introducción al análisis de datos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Predicción de precios inmobiliarios en Moscú</dc:title>
  <dc:subject>Propiedades usadas de Moscú: EDA, OLS y selección temporal</dc:subject>
  <dc:creator>Matias Longhino y Tomas Montilla</dc:creator>
  <cp:lastModifiedBy>Gaston Longhino</cp:lastModifiedBy>
  <cp:revision>2</cp:revision>
  <dcterms:created xsi:type="dcterms:W3CDTF">2026-10-27T18:21:12Z</dcterms:created>
  <dcterms:modified xsi:type="dcterms:W3CDTF">2026-10-27T21:00:44Z</dcterms:modified>
</cp:coreProperties>
</file>